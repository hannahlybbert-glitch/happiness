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5"/>
  </p:notesMasterIdLst>
  <p:handoutMasterIdLst>
    <p:handoutMasterId r:id="rId116"/>
  </p:handoutMasterIdLst>
  <p:sldIdLst>
    <p:sldId id="507" r:id="rId2"/>
    <p:sldId id="629" r:id="rId3"/>
    <p:sldId id="756" r:id="rId4"/>
    <p:sldId id="778" r:id="rId5"/>
    <p:sldId id="738" r:id="rId6"/>
    <p:sldId id="740" r:id="rId7"/>
    <p:sldId id="758" r:id="rId8"/>
    <p:sldId id="746" r:id="rId9"/>
    <p:sldId id="760" r:id="rId10"/>
    <p:sldId id="761" r:id="rId11"/>
    <p:sldId id="747" r:id="rId12"/>
    <p:sldId id="759" r:id="rId13"/>
    <p:sldId id="762" r:id="rId14"/>
    <p:sldId id="763" r:id="rId15"/>
    <p:sldId id="838" r:id="rId16"/>
    <p:sldId id="839" r:id="rId17"/>
    <p:sldId id="840" r:id="rId18"/>
    <p:sldId id="766" r:id="rId19"/>
    <p:sldId id="797" r:id="rId20"/>
    <p:sldId id="767" r:id="rId21"/>
    <p:sldId id="808" r:id="rId22"/>
    <p:sldId id="749" r:id="rId23"/>
    <p:sldId id="750" r:id="rId24"/>
    <p:sldId id="821" r:id="rId25"/>
    <p:sldId id="798" r:id="rId26"/>
    <p:sldId id="784" r:id="rId27"/>
    <p:sldId id="785" r:id="rId28"/>
    <p:sldId id="841" r:id="rId29"/>
    <p:sldId id="842" r:id="rId30"/>
    <p:sldId id="752" r:id="rId31"/>
    <p:sldId id="799" r:id="rId32"/>
    <p:sldId id="786" r:id="rId33"/>
    <p:sldId id="788" r:id="rId34"/>
    <p:sldId id="789" r:id="rId35"/>
    <p:sldId id="790" r:id="rId36"/>
    <p:sldId id="753" r:id="rId37"/>
    <p:sldId id="791" r:id="rId38"/>
    <p:sldId id="792" r:id="rId39"/>
    <p:sldId id="800" r:id="rId40"/>
    <p:sldId id="832" r:id="rId41"/>
    <p:sldId id="803" r:id="rId42"/>
    <p:sldId id="831" r:id="rId43"/>
    <p:sldId id="810" r:id="rId44"/>
    <p:sldId id="813" r:id="rId45"/>
    <p:sldId id="812" r:id="rId46"/>
    <p:sldId id="811" r:id="rId47"/>
    <p:sldId id="819" r:id="rId48"/>
    <p:sldId id="825" r:id="rId49"/>
    <p:sldId id="795" r:id="rId50"/>
    <p:sldId id="868" r:id="rId51"/>
    <p:sldId id="258" r:id="rId52"/>
    <p:sldId id="876" r:id="rId53"/>
    <p:sldId id="860" r:id="rId54"/>
    <p:sldId id="877" r:id="rId55"/>
    <p:sldId id="870" r:id="rId56"/>
    <p:sldId id="871" r:id="rId57"/>
    <p:sldId id="872" r:id="rId58"/>
    <p:sldId id="873" r:id="rId59"/>
    <p:sldId id="874" r:id="rId60"/>
    <p:sldId id="861" r:id="rId61"/>
    <p:sldId id="875" r:id="rId62"/>
    <p:sldId id="862" r:id="rId63"/>
    <p:sldId id="863" r:id="rId64"/>
    <p:sldId id="864" r:id="rId65"/>
    <p:sldId id="865" r:id="rId66"/>
    <p:sldId id="866" r:id="rId67"/>
    <p:sldId id="867" r:id="rId68"/>
    <p:sldId id="879" r:id="rId69"/>
    <p:sldId id="878" r:id="rId70"/>
    <p:sldId id="880" r:id="rId71"/>
    <p:sldId id="881" r:id="rId72"/>
    <p:sldId id="883" r:id="rId73"/>
    <p:sldId id="884" r:id="rId74"/>
    <p:sldId id="844" r:id="rId75"/>
    <p:sldId id="907" r:id="rId76"/>
    <p:sldId id="882" r:id="rId77"/>
    <p:sldId id="886" r:id="rId78"/>
    <p:sldId id="887" r:id="rId79"/>
    <p:sldId id="906" r:id="rId80"/>
    <p:sldId id="896" r:id="rId81"/>
    <p:sldId id="897" r:id="rId82"/>
    <p:sldId id="898" r:id="rId83"/>
    <p:sldId id="899" r:id="rId84"/>
    <p:sldId id="900" r:id="rId85"/>
    <p:sldId id="901" r:id="rId86"/>
    <p:sldId id="905" r:id="rId87"/>
    <p:sldId id="902" r:id="rId88"/>
    <p:sldId id="903" r:id="rId89"/>
    <p:sldId id="904" r:id="rId90"/>
    <p:sldId id="908" r:id="rId91"/>
    <p:sldId id="888" r:id="rId92"/>
    <p:sldId id="889" r:id="rId93"/>
    <p:sldId id="890" r:id="rId94"/>
    <p:sldId id="891" r:id="rId95"/>
    <p:sldId id="893" r:id="rId96"/>
    <p:sldId id="894" r:id="rId97"/>
    <p:sldId id="895" r:id="rId98"/>
    <p:sldId id="885" r:id="rId99"/>
    <p:sldId id="843" r:id="rId100"/>
    <p:sldId id="854" r:id="rId101"/>
    <p:sldId id="845" r:id="rId102"/>
    <p:sldId id="846" r:id="rId103"/>
    <p:sldId id="856" r:id="rId104"/>
    <p:sldId id="847" r:id="rId105"/>
    <p:sldId id="848" r:id="rId106"/>
    <p:sldId id="849" r:id="rId107"/>
    <p:sldId id="850" r:id="rId108"/>
    <p:sldId id="851" r:id="rId109"/>
    <p:sldId id="857" r:id="rId110"/>
    <p:sldId id="853" r:id="rId111"/>
    <p:sldId id="858" r:id="rId112"/>
    <p:sldId id="859" r:id="rId113"/>
    <p:sldId id="292" r:id="rId114"/>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ybbert, Hannah" initials="LH" lastIdx="3" clrIdx="0">
    <p:extLst>
      <p:ext uri="{19B8F6BF-5375-455C-9EA6-DF929625EA0E}">
        <p15:presenceInfo xmlns:p15="http://schemas.microsoft.com/office/powerpoint/2012/main" userId="S::Hannah.Lybbert@chicagobooth.edu::787ff45e-1666-49f5-bb17-bedd87ef78c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00"/>
    <a:srgbClr val="990033"/>
    <a:srgbClr val="6C216B"/>
    <a:srgbClr val="9B6C9C"/>
    <a:srgbClr val="5D1E5A"/>
    <a:srgbClr val="E19247"/>
    <a:srgbClr val="000000"/>
    <a:srgbClr val="003366"/>
    <a:srgbClr val="660066"/>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308" autoAdjust="0"/>
    <p:restoredTop sz="82562" autoAdjust="0"/>
  </p:normalViewPr>
  <p:slideViewPr>
    <p:cSldViewPr>
      <p:cViewPr>
        <p:scale>
          <a:sx n="50" d="100"/>
          <a:sy n="50" d="100"/>
        </p:scale>
        <p:origin x="1636" y="280"/>
      </p:cViewPr>
      <p:guideLst>
        <p:guide orient="horz" pos="2160"/>
        <p:guide pos="2880"/>
      </p:guideLst>
    </p:cSldViewPr>
  </p:slideViewPr>
  <p:notesTextViewPr>
    <p:cViewPr>
      <p:scale>
        <a:sx n="100" d="100"/>
        <a:sy n="100" d="100"/>
      </p:scale>
      <p:origin x="0" y="0"/>
    </p:cViewPr>
  </p:notesTextViewPr>
  <p:notesViewPr>
    <p:cSldViewPr>
      <p:cViewPr varScale="1">
        <p:scale>
          <a:sx n="86" d="100"/>
          <a:sy n="86" d="100"/>
        </p:scale>
        <p:origin x="-192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nah Lybbert" userId="779b83d2-6690-4391-9b63-9fdf5eeb0b34" providerId="ADAL" clId="{8FB8B295-48C7-4C78-BCBD-DD15BA7C010A}"/>
    <pc:docChg chg="undo redo custSel addSld delSld modSld sldOrd">
      <pc:chgData name="Hannah Lybbert" userId="779b83d2-6690-4391-9b63-9fdf5eeb0b34" providerId="ADAL" clId="{8FB8B295-48C7-4C78-BCBD-DD15BA7C010A}" dt="2026-09-16T18:36:17.331" v="5865" actId="478"/>
      <pc:docMkLst>
        <pc:docMk/>
      </pc:docMkLst>
      <pc:sldChg chg="addSp delSp modSp add mod modAnim modNotesTx">
        <pc:chgData name="Hannah Lybbert" userId="779b83d2-6690-4391-9b63-9fdf5eeb0b34" providerId="ADAL" clId="{8FB8B295-48C7-4C78-BCBD-DD15BA7C010A}" dt="2026-09-14T21:45:31.278" v="5798"/>
        <pc:sldMkLst>
          <pc:docMk/>
          <pc:sldMk cId="3718475914" sldId="258"/>
        </pc:sldMkLst>
        <pc:picChg chg="del">
          <ac:chgData name="Hannah Lybbert" userId="779b83d2-6690-4391-9b63-9fdf5eeb0b34" providerId="ADAL" clId="{8FB8B295-48C7-4C78-BCBD-DD15BA7C010A}" dt="2026-09-14T17:04:59.255" v="5" actId="478"/>
          <ac:picMkLst>
            <pc:docMk/>
            <pc:sldMk cId="3718475914" sldId="258"/>
            <ac:picMk id="2" creationId="{32336B63-12C0-8AD8-97D0-06918EDB5C3A}"/>
          </ac:picMkLst>
        </pc:picChg>
        <pc:picChg chg="del">
          <ac:chgData name="Hannah Lybbert" userId="779b83d2-6690-4391-9b63-9fdf5eeb0b34" providerId="ADAL" clId="{8FB8B295-48C7-4C78-BCBD-DD15BA7C010A}" dt="2026-09-14T17:04:59.255" v="5" actId="478"/>
          <ac:picMkLst>
            <pc:docMk/>
            <pc:sldMk cId="3718475914" sldId="258"/>
            <ac:picMk id="3" creationId="{ADEE9FD0-45B3-7CF6-AD53-B84C4FBF4C13}"/>
          </ac:picMkLst>
        </pc:picChg>
        <pc:picChg chg="add mod">
          <ac:chgData name="Hannah Lybbert" userId="779b83d2-6690-4391-9b63-9fdf5eeb0b34" providerId="ADAL" clId="{8FB8B295-48C7-4C78-BCBD-DD15BA7C010A}" dt="2026-09-14T17:09:08.392" v="95" actId="1035"/>
          <ac:picMkLst>
            <pc:docMk/>
            <pc:sldMk cId="3718475914" sldId="258"/>
            <ac:picMk id="4" creationId="{7B727590-E7A2-9F49-C90F-C376E3F4CDE9}"/>
          </ac:picMkLst>
        </pc:picChg>
        <pc:picChg chg="del">
          <ac:chgData name="Hannah Lybbert" userId="779b83d2-6690-4391-9b63-9fdf5eeb0b34" providerId="ADAL" clId="{8FB8B295-48C7-4C78-BCBD-DD15BA7C010A}" dt="2026-09-14T17:04:59.255" v="5" actId="478"/>
          <ac:picMkLst>
            <pc:docMk/>
            <pc:sldMk cId="3718475914" sldId="258"/>
            <ac:picMk id="5" creationId="{958F7065-F7BE-95F9-08BD-3ECC18BD8E20}"/>
          </ac:picMkLst>
        </pc:picChg>
        <pc:picChg chg="del">
          <ac:chgData name="Hannah Lybbert" userId="779b83d2-6690-4391-9b63-9fdf5eeb0b34" providerId="ADAL" clId="{8FB8B295-48C7-4C78-BCBD-DD15BA7C010A}" dt="2026-09-14T17:04:59.255" v="5" actId="478"/>
          <ac:picMkLst>
            <pc:docMk/>
            <pc:sldMk cId="3718475914" sldId="258"/>
            <ac:picMk id="6" creationId="{682CF0B5-CBBD-6B50-4EA5-03D10A87B5D5}"/>
          </ac:picMkLst>
        </pc:picChg>
        <pc:picChg chg="add mod">
          <ac:chgData name="Hannah Lybbert" userId="779b83d2-6690-4391-9b63-9fdf5eeb0b34" providerId="ADAL" clId="{8FB8B295-48C7-4C78-BCBD-DD15BA7C010A}" dt="2026-09-14T17:09:04.977" v="91" actId="1035"/>
          <ac:picMkLst>
            <pc:docMk/>
            <pc:sldMk cId="3718475914" sldId="258"/>
            <ac:picMk id="7" creationId="{FADB0613-DEE8-52D9-403C-B9135C16C0DB}"/>
          </ac:picMkLst>
        </pc:picChg>
        <pc:picChg chg="add mod">
          <ac:chgData name="Hannah Lybbert" userId="779b83d2-6690-4391-9b63-9fdf5eeb0b34" providerId="ADAL" clId="{8FB8B295-48C7-4C78-BCBD-DD15BA7C010A}" dt="2026-09-14T17:09:10.120" v="97" actId="1035"/>
          <ac:picMkLst>
            <pc:docMk/>
            <pc:sldMk cId="3718475914" sldId="258"/>
            <ac:picMk id="8" creationId="{D9E319FE-77E9-91F7-5C14-881EEFF8AB78}"/>
          </ac:picMkLst>
        </pc:picChg>
        <pc:picChg chg="add mod">
          <ac:chgData name="Hannah Lybbert" userId="779b83d2-6690-4391-9b63-9fdf5eeb0b34" providerId="ADAL" clId="{8FB8B295-48C7-4C78-BCBD-DD15BA7C010A}" dt="2026-09-14T17:09:13.984" v="98" actId="14100"/>
          <ac:picMkLst>
            <pc:docMk/>
            <pc:sldMk cId="3718475914" sldId="258"/>
            <ac:picMk id="9" creationId="{37D88065-626D-9126-34FF-8B25216182ED}"/>
          </ac:picMkLst>
        </pc:picChg>
        <pc:picChg chg="mod">
          <ac:chgData name="Hannah Lybbert" userId="779b83d2-6690-4391-9b63-9fdf5eeb0b34" providerId="ADAL" clId="{8FB8B295-48C7-4C78-BCBD-DD15BA7C010A}" dt="2026-09-14T19:35:18.600" v="5101" actId="1038"/>
          <ac:picMkLst>
            <pc:docMk/>
            <pc:sldMk cId="3718475914" sldId="258"/>
            <ac:picMk id="1026" creationId="{2EF4B600-AA0B-22DA-2A64-4060B5EDA6A3}"/>
          </ac:picMkLst>
        </pc:picChg>
        <pc:picChg chg="mod">
          <ac:chgData name="Hannah Lybbert" userId="779b83d2-6690-4391-9b63-9fdf5eeb0b34" providerId="ADAL" clId="{8FB8B295-48C7-4C78-BCBD-DD15BA7C010A}" dt="2026-09-14T17:06:54.065" v="57" actId="1076"/>
          <ac:picMkLst>
            <pc:docMk/>
            <pc:sldMk cId="3718475914" sldId="258"/>
            <ac:picMk id="1028" creationId="{A3E2DC0A-3827-AE32-46D9-6D2BAC4DF604}"/>
          </ac:picMkLst>
        </pc:picChg>
        <pc:picChg chg="mod">
          <ac:chgData name="Hannah Lybbert" userId="779b83d2-6690-4391-9b63-9fdf5eeb0b34" providerId="ADAL" clId="{8FB8B295-48C7-4C78-BCBD-DD15BA7C010A}" dt="2026-09-14T19:35:12.454" v="5099" actId="732"/>
          <ac:picMkLst>
            <pc:docMk/>
            <pc:sldMk cId="3718475914" sldId="258"/>
            <ac:picMk id="1030" creationId="{B9BB80DA-1B35-A58D-37E0-2FAED3639DF9}"/>
          </ac:picMkLst>
        </pc:picChg>
        <pc:picChg chg="mod">
          <ac:chgData name="Hannah Lybbert" userId="779b83d2-6690-4391-9b63-9fdf5eeb0b34" providerId="ADAL" clId="{8FB8B295-48C7-4C78-BCBD-DD15BA7C010A}" dt="2026-09-14T17:08:02.912" v="76" actId="1037"/>
          <ac:picMkLst>
            <pc:docMk/>
            <pc:sldMk cId="3718475914" sldId="258"/>
            <ac:picMk id="1032" creationId="{DCCBDAA6-D36F-4F76-D507-B51E8E724AC6}"/>
          </ac:picMkLst>
        </pc:picChg>
        <pc:picChg chg="mod">
          <ac:chgData name="Hannah Lybbert" userId="779b83d2-6690-4391-9b63-9fdf5eeb0b34" providerId="ADAL" clId="{8FB8B295-48C7-4C78-BCBD-DD15BA7C010A}" dt="2026-09-14T17:07:44.160" v="67" actId="1076"/>
          <ac:picMkLst>
            <pc:docMk/>
            <pc:sldMk cId="3718475914" sldId="258"/>
            <ac:picMk id="1034" creationId="{0C10932D-33FF-1F9F-B1B8-06529306AFAE}"/>
          </ac:picMkLst>
        </pc:picChg>
        <pc:picChg chg="mod">
          <ac:chgData name="Hannah Lybbert" userId="779b83d2-6690-4391-9b63-9fdf5eeb0b34" providerId="ADAL" clId="{8FB8B295-48C7-4C78-BCBD-DD15BA7C010A}" dt="2026-09-14T17:08:21.511" v="79" actId="1037"/>
          <ac:picMkLst>
            <pc:docMk/>
            <pc:sldMk cId="3718475914" sldId="258"/>
            <ac:picMk id="1036" creationId="{92285B3F-74C3-0DEB-3CB1-39617FD93136}"/>
          </ac:picMkLst>
        </pc:picChg>
        <pc:picChg chg="mod">
          <ac:chgData name="Hannah Lybbert" userId="779b83d2-6690-4391-9b63-9fdf5eeb0b34" providerId="ADAL" clId="{8FB8B295-48C7-4C78-BCBD-DD15BA7C010A}" dt="2026-09-14T19:35:33.548" v="5103" actId="18131"/>
          <ac:picMkLst>
            <pc:docMk/>
            <pc:sldMk cId="3718475914" sldId="258"/>
            <ac:picMk id="1038" creationId="{96C24311-4F35-138A-67EA-53C01DB56DF5}"/>
          </ac:picMkLst>
        </pc:picChg>
        <pc:picChg chg="mod">
          <ac:chgData name="Hannah Lybbert" userId="779b83d2-6690-4391-9b63-9fdf5eeb0b34" providerId="ADAL" clId="{8FB8B295-48C7-4C78-BCBD-DD15BA7C010A}" dt="2026-09-14T19:35:36.441" v="5104" actId="1037"/>
          <ac:picMkLst>
            <pc:docMk/>
            <pc:sldMk cId="3718475914" sldId="258"/>
            <ac:picMk id="1040" creationId="{D9F881B2-995E-3402-7FEE-3EB3E8F6C7B4}"/>
          </ac:picMkLst>
        </pc:picChg>
        <pc:picChg chg="mod">
          <ac:chgData name="Hannah Lybbert" userId="779b83d2-6690-4391-9b63-9fdf5eeb0b34" providerId="ADAL" clId="{8FB8B295-48C7-4C78-BCBD-DD15BA7C010A}" dt="2026-09-14T17:06:35.816" v="38" actId="14100"/>
          <ac:picMkLst>
            <pc:docMk/>
            <pc:sldMk cId="3718475914" sldId="258"/>
            <ac:picMk id="1042" creationId="{F9A48A87-B025-216D-D2EF-DFD0A159F678}"/>
          </ac:picMkLst>
        </pc:picChg>
        <pc:picChg chg="mod">
          <ac:chgData name="Hannah Lybbert" userId="779b83d2-6690-4391-9b63-9fdf5eeb0b34" providerId="ADAL" clId="{8FB8B295-48C7-4C78-BCBD-DD15BA7C010A}" dt="2026-09-14T17:07:04.450" v="59" actId="14100"/>
          <ac:picMkLst>
            <pc:docMk/>
            <pc:sldMk cId="3718475914" sldId="258"/>
            <ac:picMk id="1044" creationId="{FE9EC780-C28E-02CA-976C-42F56EB3923D}"/>
          </ac:picMkLst>
        </pc:picChg>
        <pc:picChg chg="mod">
          <ac:chgData name="Hannah Lybbert" userId="779b83d2-6690-4391-9b63-9fdf5eeb0b34" providerId="ADAL" clId="{8FB8B295-48C7-4C78-BCBD-DD15BA7C010A}" dt="2026-09-14T17:06:50.310" v="56" actId="1076"/>
          <ac:picMkLst>
            <pc:docMk/>
            <pc:sldMk cId="3718475914" sldId="258"/>
            <ac:picMk id="1046" creationId="{F20EE44E-6DCB-A0AC-5CC9-3D5AB2A7847F}"/>
          </ac:picMkLst>
        </pc:picChg>
      </pc:sldChg>
      <pc:sldChg chg="addSp delSp modSp mod ord delAnim">
        <pc:chgData name="Hannah Lybbert" userId="779b83d2-6690-4391-9b63-9fdf5eeb0b34" providerId="ADAL" clId="{8FB8B295-48C7-4C78-BCBD-DD15BA7C010A}" dt="2026-09-14T19:28:52.563" v="5073" actId="478"/>
        <pc:sldMkLst>
          <pc:docMk/>
          <pc:sldMk cId="1241454523" sldId="844"/>
        </pc:sldMkLst>
        <pc:spChg chg="del mod">
          <ac:chgData name="Hannah Lybbert" userId="779b83d2-6690-4391-9b63-9fdf5eeb0b34" providerId="ADAL" clId="{8FB8B295-48C7-4C78-BCBD-DD15BA7C010A}" dt="2026-09-14T19:28:08.819" v="5067" actId="478"/>
          <ac:spMkLst>
            <pc:docMk/>
            <pc:sldMk cId="1241454523" sldId="844"/>
            <ac:spMk id="9" creationId="{00000000-0000-0000-0000-000000000000}"/>
          </ac:spMkLst>
        </pc:spChg>
        <pc:spChg chg="mod">
          <ac:chgData name="Hannah Lybbert" userId="779b83d2-6690-4391-9b63-9fdf5eeb0b34" providerId="ADAL" clId="{8FB8B295-48C7-4C78-BCBD-DD15BA7C010A}" dt="2026-09-14T19:28:02.932" v="5065" actId="20577"/>
          <ac:spMkLst>
            <pc:docMk/>
            <pc:sldMk cId="1241454523" sldId="844"/>
            <ac:spMk id="20482" creationId="{00000000-0000-0000-0000-000000000000}"/>
          </ac:spMkLst>
        </pc:spChg>
        <pc:picChg chg="add del mod">
          <ac:chgData name="Hannah Lybbert" userId="779b83d2-6690-4391-9b63-9fdf5eeb0b34" providerId="ADAL" clId="{8FB8B295-48C7-4C78-BCBD-DD15BA7C010A}" dt="2026-09-14T19:28:52.563" v="5073" actId="478"/>
          <ac:picMkLst>
            <pc:docMk/>
            <pc:sldMk cId="1241454523" sldId="844"/>
            <ac:picMk id="3" creationId="{0990411E-D0EE-4FA3-FA15-168749396865}"/>
          </ac:picMkLst>
        </pc:picChg>
      </pc:sldChg>
      <pc:sldChg chg="addSp delSp modSp mod ord modAnim modNotesTx">
        <pc:chgData name="Hannah Lybbert" userId="779b83d2-6690-4391-9b63-9fdf5eeb0b34" providerId="ADAL" clId="{8FB8B295-48C7-4C78-BCBD-DD15BA7C010A}" dt="2026-09-14T19:48:27.635" v="5140"/>
        <pc:sldMkLst>
          <pc:docMk/>
          <pc:sldMk cId="2338169325" sldId="860"/>
        </pc:sldMkLst>
        <pc:spChg chg="add del mod">
          <ac:chgData name="Hannah Lybbert" userId="779b83d2-6690-4391-9b63-9fdf5eeb0b34" providerId="ADAL" clId="{8FB8B295-48C7-4C78-BCBD-DD15BA7C010A}" dt="2026-09-14T17:31:09.721" v="384" actId="478"/>
          <ac:spMkLst>
            <pc:docMk/>
            <pc:sldMk cId="2338169325" sldId="860"/>
            <ac:spMk id="2" creationId="{D55A91E6-4DF0-765E-087F-7897791CD05B}"/>
          </ac:spMkLst>
        </pc:spChg>
        <pc:spChg chg="add mod">
          <ac:chgData name="Hannah Lybbert" userId="779b83d2-6690-4391-9b63-9fdf5eeb0b34" providerId="ADAL" clId="{8FB8B295-48C7-4C78-BCBD-DD15BA7C010A}" dt="2026-09-14T17:33:39.578" v="820" actId="1076"/>
          <ac:spMkLst>
            <pc:docMk/>
            <pc:sldMk cId="2338169325" sldId="860"/>
            <ac:spMk id="4" creationId="{BF31394B-84BC-6218-0A0B-FB338929E9A6}"/>
          </ac:spMkLst>
        </pc:spChg>
        <pc:spChg chg="mod">
          <ac:chgData name="Hannah Lybbert" userId="779b83d2-6690-4391-9b63-9fdf5eeb0b34" providerId="ADAL" clId="{8FB8B295-48C7-4C78-BCBD-DD15BA7C010A}" dt="2026-09-14T17:33:24.715" v="814" actId="21"/>
          <ac:spMkLst>
            <pc:docMk/>
            <pc:sldMk cId="2338169325" sldId="860"/>
            <ac:spMk id="9" creationId="{00000000-0000-0000-0000-000000000000}"/>
          </ac:spMkLst>
        </pc:spChg>
      </pc:sldChg>
      <pc:sldChg chg="addSp delSp modSp mod">
        <pc:chgData name="Hannah Lybbert" userId="779b83d2-6690-4391-9b63-9fdf5eeb0b34" providerId="ADAL" clId="{8FB8B295-48C7-4C78-BCBD-DD15BA7C010A}" dt="2026-09-14T21:47:16.072" v="5808" actId="1076"/>
        <pc:sldMkLst>
          <pc:docMk/>
          <pc:sldMk cId="1540977547" sldId="861"/>
        </pc:sldMkLst>
        <pc:spChg chg="add mod">
          <ac:chgData name="Hannah Lybbert" userId="779b83d2-6690-4391-9b63-9fdf5eeb0b34" providerId="ADAL" clId="{8FB8B295-48C7-4C78-BCBD-DD15BA7C010A}" dt="2026-09-14T21:47:16.072" v="5808" actId="1076"/>
          <ac:spMkLst>
            <pc:docMk/>
            <pc:sldMk cId="1540977547" sldId="861"/>
            <ac:spMk id="2" creationId="{D355BBE6-307B-4CC9-2000-3C1F50F21A7D}"/>
          </ac:spMkLst>
        </pc:spChg>
        <pc:picChg chg="add mod">
          <ac:chgData name="Hannah Lybbert" userId="779b83d2-6690-4391-9b63-9fdf5eeb0b34" providerId="ADAL" clId="{8FB8B295-48C7-4C78-BCBD-DD15BA7C010A}" dt="2026-09-14T18:43:52.274" v="2716" actId="931"/>
          <ac:picMkLst>
            <pc:docMk/>
            <pc:sldMk cId="1540977547" sldId="861"/>
            <ac:picMk id="3" creationId="{9522A654-684F-2BBC-3B41-7554DD151719}"/>
          </ac:picMkLst>
        </pc:picChg>
        <pc:picChg chg="add del mod">
          <ac:chgData name="Hannah Lybbert" userId="779b83d2-6690-4391-9b63-9fdf5eeb0b34" providerId="ADAL" clId="{8FB8B295-48C7-4C78-BCBD-DD15BA7C010A}" dt="2026-09-14T18:43:56.029" v="2717" actId="21"/>
          <ac:picMkLst>
            <pc:docMk/>
            <pc:sldMk cId="1540977547" sldId="861"/>
            <ac:picMk id="5" creationId="{6024589C-3D97-828F-6BEF-840DA60E8A7B}"/>
          </ac:picMkLst>
        </pc:picChg>
        <pc:picChg chg="add del mod">
          <ac:chgData name="Hannah Lybbert" userId="779b83d2-6690-4391-9b63-9fdf5eeb0b34" providerId="ADAL" clId="{8FB8B295-48C7-4C78-BCBD-DD15BA7C010A}" dt="2026-09-14T18:43:56.029" v="2717" actId="21"/>
          <ac:picMkLst>
            <pc:docMk/>
            <pc:sldMk cId="1540977547" sldId="861"/>
            <ac:picMk id="7" creationId="{AD6E3403-0699-B7E3-7FFF-A828E988F342}"/>
          </ac:picMkLst>
        </pc:picChg>
      </pc:sldChg>
      <pc:sldChg chg="addSp modSp mod">
        <pc:chgData name="Hannah Lybbert" userId="779b83d2-6690-4391-9b63-9fdf5eeb0b34" providerId="ADAL" clId="{8FB8B295-48C7-4C78-BCBD-DD15BA7C010A}" dt="2026-09-14T18:44:17.326" v="2722" actId="1076"/>
        <pc:sldMkLst>
          <pc:docMk/>
          <pc:sldMk cId="373993818" sldId="862"/>
        </pc:sldMkLst>
        <pc:picChg chg="add mod">
          <ac:chgData name="Hannah Lybbert" userId="779b83d2-6690-4391-9b63-9fdf5eeb0b34" providerId="ADAL" clId="{8FB8B295-48C7-4C78-BCBD-DD15BA7C010A}" dt="2026-09-14T18:44:17.326" v="2722" actId="1076"/>
          <ac:picMkLst>
            <pc:docMk/>
            <pc:sldMk cId="373993818" sldId="862"/>
            <ac:picMk id="7" creationId="{AD6E3403-0699-B7E3-7FFF-A828E988F342}"/>
          </ac:picMkLst>
        </pc:picChg>
      </pc:sldChg>
      <pc:sldChg chg="addSp delSp modSp mod">
        <pc:chgData name="Hannah Lybbert" userId="779b83d2-6690-4391-9b63-9fdf5eeb0b34" providerId="ADAL" clId="{8FB8B295-48C7-4C78-BCBD-DD15BA7C010A}" dt="2026-09-14T18:47:54.262" v="2724" actId="21"/>
        <pc:sldMkLst>
          <pc:docMk/>
          <pc:sldMk cId="1693851954" sldId="863"/>
        </pc:sldMkLst>
        <pc:picChg chg="add mod">
          <ac:chgData name="Hannah Lybbert" userId="779b83d2-6690-4391-9b63-9fdf5eeb0b34" providerId="ADAL" clId="{8FB8B295-48C7-4C78-BCBD-DD15BA7C010A}" dt="2026-09-14T18:47:51.172" v="2723" actId="931"/>
          <ac:picMkLst>
            <pc:docMk/>
            <pc:sldMk cId="1693851954" sldId="863"/>
            <ac:picMk id="3" creationId="{6A34569F-1465-22AC-3A2F-4E29156FD694}"/>
          </ac:picMkLst>
        </pc:picChg>
        <pc:picChg chg="add del mod">
          <ac:chgData name="Hannah Lybbert" userId="779b83d2-6690-4391-9b63-9fdf5eeb0b34" providerId="ADAL" clId="{8FB8B295-48C7-4C78-BCBD-DD15BA7C010A}" dt="2026-09-14T18:47:54.262" v="2724" actId="21"/>
          <ac:picMkLst>
            <pc:docMk/>
            <pc:sldMk cId="1693851954" sldId="863"/>
            <ac:picMk id="5" creationId="{225565DD-97CB-2387-7D5C-836CFCE1F065}"/>
          </ac:picMkLst>
        </pc:picChg>
        <pc:picChg chg="add del mod">
          <ac:chgData name="Hannah Lybbert" userId="779b83d2-6690-4391-9b63-9fdf5eeb0b34" providerId="ADAL" clId="{8FB8B295-48C7-4C78-BCBD-DD15BA7C010A}" dt="2026-09-14T18:47:54.262" v="2724" actId="21"/>
          <ac:picMkLst>
            <pc:docMk/>
            <pc:sldMk cId="1693851954" sldId="863"/>
            <ac:picMk id="7" creationId="{C7F475C3-640E-B268-4E49-F80491B50A03}"/>
          </ac:picMkLst>
        </pc:picChg>
      </pc:sldChg>
      <pc:sldChg chg="addSp delSp modSp mod">
        <pc:chgData name="Hannah Lybbert" userId="779b83d2-6690-4391-9b63-9fdf5eeb0b34" providerId="ADAL" clId="{8FB8B295-48C7-4C78-BCBD-DD15BA7C010A}" dt="2026-09-14T18:48:09.428" v="2728" actId="1076"/>
        <pc:sldMkLst>
          <pc:docMk/>
          <pc:sldMk cId="1262550759" sldId="864"/>
        </pc:sldMkLst>
        <pc:picChg chg="add mod">
          <ac:chgData name="Hannah Lybbert" userId="779b83d2-6690-4391-9b63-9fdf5eeb0b34" providerId="ADAL" clId="{8FB8B295-48C7-4C78-BCBD-DD15BA7C010A}" dt="2026-09-14T18:48:09.428" v="2728" actId="1076"/>
          <ac:picMkLst>
            <pc:docMk/>
            <pc:sldMk cId="1262550759" sldId="864"/>
            <ac:picMk id="5" creationId="{225565DD-97CB-2387-7D5C-836CFCE1F065}"/>
          </ac:picMkLst>
        </pc:picChg>
        <pc:picChg chg="add del mod">
          <ac:chgData name="Hannah Lybbert" userId="779b83d2-6690-4391-9b63-9fdf5eeb0b34" providerId="ADAL" clId="{8FB8B295-48C7-4C78-BCBD-DD15BA7C010A}" dt="2026-09-14T18:47:59.174" v="2726" actId="21"/>
          <ac:picMkLst>
            <pc:docMk/>
            <pc:sldMk cId="1262550759" sldId="864"/>
            <ac:picMk id="7" creationId="{C7F475C3-640E-B268-4E49-F80491B50A03}"/>
          </ac:picMkLst>
        </pc:picChg>
      </pc:sldChg>
      <pc:sldChg chg="addSp modSp mod">
        <pc:chgData name="Hannah Lybbert" userId="779b83d2-6690-4391-9b63-9fdf5eeb0b34" providerId="ADAL" clId="{8FB8B295-48C7-4C78-BCBD-DD15BA7C010A}" dt="2026-09-14T18:48:16.040" v="2729" actId="1076"/>
        <pc:sldMkLst>
          <pc:docMk/>
          <pc:sldMk cId="3230392135" sldId="865"/>
        </pc:sldMkLst>
        <pc:picChg chg="add mod">
          <ac:chgData name="Hannah Lybbert" userId="779b83d2-6690-4391-9b63-9fdf5eeb0b34" providerId="ADAL" clId="{8FB8B295-48C7-4C78-BCBD-DD15BA7C010A}" dt="2026-09-14T18:48:16.040" v="2729" actId="1076"/>
          <ac:picMkLst>
            <pc:docMk/>
            <pc:sldMk cId="3230392135" sldId="865"/>
            <ac:picMk id="7" creationId="{C7F475C3-640E-B268-4E49-F80491B50A03}"/>
          </ac:picMkLst>
        </pc:picChg>
      </pc:sldChg>
      <pc:sldChg chg="addSp modSp">
        <pc:chgData name="Hannah Lybbert" userId="779b83d2-6690-4391-9b63-9fdf5eeb0b34" providerId="ADAL" clId="{8FB8B295-48C7-4C78-BCBD-DD15BA7C010A}" dt="2026-09-14T18:58:51.611" v="2731"/>
        <pc:sldMkLst>
          <pc:docMk/>
          <pc:sldMk cId="3730558153" sldId="866"/>
        </pc:sldMkLst>
        <pc:picChg chg="add mod">
          <ac:chgData name="Hannah Lybbert" userId="779b83d2-6690-4391-9b63-9fdf5eeb0b34" providerId="ADAL" clId="{8FB8B295-48C7-4C78-BCBD-DD15BA7C010A}" dt="2026-09-14T18:58:39.044" v="2730" actId="931"/>
          <ac:picMkLst>
            <pc:docMk/>
            <pc:sldMk cId="3730558153" sldId="866"/>
            <ac:picMk id="3" creationId="{C68D18E8-5D98-CB00-3B4A-A8A98B6A610C}"/>
          </ac:picMkLst>
        </pc:picChg>
        <pc:picChg chg="add mod">
          <ac:chgData name="Hannah Lybbert" userId="779b83d2-6690-4391-9b63-9fdf5eeb0b34" providerId="ADAL" clId="{8FB8B295-48C7-4C78-BCBD-DD15BA7C010A}" dt="2026-09-14T18:58:39.044" v="2730" actId="931"/>
          <ac:picMkLst>
            <pc:docMk/>
            <pc:sldMk cId="3730558153" sldId="866"/>
            <ac:picMk id="5" creationId="{9B2453C6-C488-50E9-4748-28D7EA3D2FB4}"/>
          </ac:picMkLst>
        </pc:picChg>
        <pc:picChg chg="add mod">
          <ac:chgData name="Hannah Lybbert" userId="779b83d2-6690-4391-9b63-9fdf5eeb0b34" providerId="ADAL" clId="{8FB8B295-48C7-4C78-BCBD-DD15BA7C010A}" dt="2026-09-14T18:58:39.044" v="2730" actId="931"/>
          <ac:picMkLst>
            <pc:docMk/>
            <pc:sldMk cId="3730558153" sldId="866"/>
            <ac:picMk id="7" creationId="{71C7E728-8178-413C-1D7B-C61EA8FAE831}"/>
          </ac:picMkLst>
        </pc:picChg>
        <pc:picChg chg="add mod">
          <ac:chgData name="Hannah Lybbert" userId="779b83d2-6690-4391-9b63-9fdf5eeb0b34" providerId="ADAL" clId="{8FB8B295-48C7-4C78-BCBD-DD15BA7C010A}" dt="2026-09-14T18:58:39.044" v="2730" actId="931"/>
          <ac:picMkLst>
            <pc:docMk/>
            <pc:sldMk cId="3730558153" sldId="866"/>
            <ac:picMk id="9" creationId="{303DB963-1B9B-2CB5-CCBE-2D5106929A9B}"/>
          </ac:picMkLst>
        </pc:picChg>
        <pc:picChg chg="add mod">
          <ac:chgData name="Hannah Lybbert" userId="779b83d2-6690-4391-9b63-9fdf5eeb0b34" providerId="ADAL" clId="{8FB8B295-48C7-4C78-BCBD-DD15BA7C010A}" dt="2026-09-14T18:58:39.044" v="2730" actId="931"/>
          <ac:picMkLst>
            <pc:docMk/>
            <pc:sldMk cId="3730558153" sldId="866"/>
            <ac:picMk id="11" creationId="{2E7D897E-A8A6-F428-4712-1F3F3DFB2C75}"/>
          </ac:picMkLst>
        </pc:picChg>
        <pc:picChg chg="add mod">
          <ac:chgData name="Hannah Lybbert" userId="779b83d2-6690-4391-9b63-9fdf5eeb0b34" providerId="ADAL" clId="{8FB8B295-48C7-4C78-BCBD-DD15BA7C010A}" dt="2026-09-14T18:58:39.044" v="2730" actId="931"/>
          <ac:picMkLst>
            <pc:docMk/>
            <pc:sldMk cId="3730558153" sldId="866"/>
            <ac:picMk id="13" creationId="{772EC491-D8C6-DF96-5DF1-26E20323E18B}"/>
          </ac:picMkLst>
        </pc:picChg>
        <pc:picChg chg="add mod">
          <ac:chgData name="Hannah Lybbert" userId="779b83d2-6690-4391-9b63-9fdf5eeb0b34" providerId="ADAL" clId="{8FB8B295-48C7-4C78-BCBD-DD15BA7C010A}" dt="2026-09-14T18:58:51.611" v="2731"/>
          <ac:picMkLst>
            <pc:docMk/>
            <pc:sldMk cId="3730558153" sldId="866"/>
            <ac:picMk id="15" creationId="{C2DDC1EF-5156-93D3-F1A8-BB522E43C4A9}"/>
          </ac:picMkLst>
        </pc:picChg>
      </pc:sldChg>
      <pc:sldChg chg="addSp modSp">
        <pc:chgData name="Hannah Lybbert" userId="779b83d2-6690-4391-9b63-9fdf5eeb0b34" providerId="ADAL" clId="{8FB8B295-48C7-4C78-BCBD-DD15BA7C010A}" dt="2026-09-14T18:59:02.333" v="2737"/>
        <pc:sldMkLst>
          <pc:docMk/>
          <pc:sldMk cId="4064879481" sldId="867"/>
        </pc:sldMkLst>
        <pc:picChg chg="add mod">
          <ac:chgData name="Hannah Lybbert" userId="779b83d2-6690-4391-9b63-9fdf5eeb0b34" providerId="ADAL" clId="{8FB8B295-48C7-4C78-BCBD-DD15BA7C010A}" dt="2026-09-14T18:59:02.333" v="2737"/>
          <ac:picMkLst>
            <pc:docMk/>
            <pc:sldMk cId="4064879481" sldId="867"/>
            <ac:picMk id="3" creationId="{E9F01C9B-27F9-D7D4-2A6C-C12B514D0417}"/>
          </ac:picMkLst>
        </pc:picChg>
      </pc:sldChg>
      <pc:sldChg chg="addSp delSp modSp mod">
        <pc:chgData name="Hannah Lybbert" userId="779b83d2-6690-4391-9b63-9fdf5eeb0b34" providerId="ADAL" clId="{8FB8B295-48C7-4C78-BCBD-DD15BA7C010A}" dt="2026-09-16T18:36:17.331" v="5865" actId="478"/>
        <pc:sldMkLst>
          <pc:docMk/>
          <pc:sldMk cId="2719309070" sldId="868"/>
        </pc:sldMkLst>
        <pc:picChg chg="add del mod">
          <ac:chgData name="Hannah Lybbert" userId="779b83d2-6690-4391-9b63-9fdf5eeb0b34" providerId="ADAL" clId="{8FB8B295-48C7-4C78-BCBD-DD15BA7C010A}" dt="2026-09-16T18:36:16.339" v="5863" actId="478"/>
          <ac:picMkLst>
            <pc:docMk/>
            <pc:sldMk cId="2719309070" sldId="868"/>
            <ac:picMk id="3" creationId="{D14F7438-B3A8-6DCE-E9ED-6999A9A50C9D}"/>
          </ac:picMkLst>
        </pc:picChg>
        <pc:picChg chg="add del mod">
          <ac:chgData name="Hannah Lybbert" userId="779b83d2-6690-4391-9b63-9fdf5eeb0b34" providerId="ADAL" clId="{8FB8B295-48C7-4C78-BCBD-DD15BA7C010A}" dt="2026-09-16T18:36:16.795" v="5864" actId="478"/>
          <ac:picMkLst>
            <pc:docMk/>
            <pc:sldMk cId="2719309070" sldId="868"/>
            <ac:picMk id="5" creationId="{4165810C-D2E3-E5BA-C26D-A94DE5C944B6}"/>
          </ac:picMkLst>
        </pc:picChg>
        <pc:picChg chg="add del mod">
          <ac:chgData name="Hannah Lybbert" userId="779b83d2-6690-4391-9b63-9fdf5eeb0b34" providerId="ADAL" clId="{8FB8B295-48C7-4C78-BCBD-DD15BA7C010A}" dt="2026-09-16T18:36:15.615" v="5862" actId="478"/>
          <ac:picMkLst>
            <pc:docMk/>
            <pc:sldMk cId="2719309070" sldId="868"/>
            <ac:picMk id="7" creationId="{3A243078-0FC8-5A9D-0A8E-E7125731F642}"/>
          </ac:picMkLst>
        </pc:picChg>
        <pc:picChg chg="add del mod">
          <ac:chgData name="Hannah Lybbert" userId="779b83d2-6690-4391-9b63-9fdf5eeb0b34" providerId="ADAL" clId="{8FB8B295-48C7-4C78-BCBD-DD15BA7C010A}" dt="2026-09-16T18:36:17.331" v="5865" actId="478"/>
          <ac:picMkLst>
            <pc:docMk/>
            <pc:sldMk cId="2719309070" sldId="868"/>
            <ac:picMk id="9" creationId="{E09A6AC0-FF2D-BFDE-DB58-3FA09F8B4EF0}"/>
          </ac:picMkLst>
        </pc:picChg>
        <pc:picChg chg="add del mod">
          <ac:chgData name="Hannah Lybbert" userId="779b83d2-6690-4391-9b63-9fdf5eeb0b34" providerId="ADAL" clId="{8FB8B295-48C7-4C78-BCBD-DD15BA7C010A}" dt="2026-09-16T18:36:14.450" v="5861" actId="478"/>
          <ac:picMkLst>
            <pc:docMk/>
            <pc:sldMk cId="2719309070" sldId="868"/>
            <ac:picMk id="11" creationId="{8296830F-62DF-0F74-D6B0-E707D3CEDB13}"/>
          </ac:picMkLst>
        </pc:picChg>
        <pc:picChg chg="add del mod">
          <ac:chgData name="Hannah Lybbert" userId="779b83d2-6690-4391-9b63-9fdf5eeb0b34" providerId="ADAL" clId="{8FB8B295-48C7-4C78-BCBD-DD15BA7C010A}" dt="2026-09-16T18:36:14.450" v="5861" actId="478"/>
          <ac:picMkLst>
            <pc:docMk/>
            <pc:sldMk cId="2719309070" sldId="868"/>
            <ac:picMk id="13" creationId="{96F6A13D-14D7-BDEA-A1A1-84EFAB64F1D6}"/>
          </ac:picMkLst>
        </pc:picChg>
      </pc:sldChg>
      <pc:sldChg chg="addSp delSp modSp del mod modAnim">
        <pc:chgData name="Hannah Lybbert" userId="779b83d2-6690-4391-9b63-9fdf5eeb0b34" providerId="ADAL" clId="{8FB8B295-48C7-4C78-BCBD-DD15BA7C010A}" dt="2026-09-14T18:11:31.565" v="1733" actId="47"/>
        <pc:sldMkLst>
          <pc:docMk/>
          <pc:sldMk cId="1932516586" sldId="869"/>
        </pc:sldMkLst>
        <pc:spChg chg="add del mod">
          <ac:chgData name="Hannah Lybbert" userId="779b83d2-6690-4391-9b63-9fdf5eeb0b34" providerId="ADAL" clId="{8FB8B295-48C7-4C78-BCBD-DD15BA7C010A}" dt="2026-09-14T17:34:58.160" v="841"/>
          <ac:spMkLst>
            <pc:docMk/>
            <pc:sldMk cId="1932516586" sldId="869"/>
            <ac:spMk id="3" creationId="{33231079-5DAC-294B-D01D-BBE1228ED1F0}"/>
          </ac:spMkLst>
        </pc:spChg>
        <pc:spChg chg="mod">
          <ac:chgData name="Hannah Lybbert" userId="779b83d2-6690-4391-9b63-9fdf5eeb0b34" providerId="ADAL" clId="{8FB8B295-48C7-4C78-BCBD-DD15BA7C010A}" dt="2026-09-14T17:35:12.198" v="846" actId="20577"/>
          <ac:spMkLst>
            <pc:docMk/>
            <pc:sldMk cId="1932516586" sldId="869"/>
            <ac:spMk id="9" creationId="{00000000-0000-0000-0000-000000000000}"/>
          </ac:spMkLst>
        </pc:spChg>
      </pc:sldChg>
      <pc:sldChg chg="addSp delSp modSp mod addAnim delAnim modAnim modNotesTx">
        <pc:chgData name="Hannah Lybbert" userId="779b83d2-6690-4391-9b63-9fdf5eeb0b34" providerId="ADAL" clId="{8FB8B295-48C7-4C78-BCBD-DD15BA7C010A}" dt="2026-09-14T19:48:06.889" v="5107" actId="20577"/>
        <pc:sldMkLst>
          <pc:docMk/>
          <pc:sldMk cId="234934632" sldId="870"/>
        </pc:sldMkLst>
        <pc:spChg chg="add del mod">
          <ac:chgData name="Hannah Lybbert" userId="779b83d2-6690-4391-9b63-9fdf5eeb0b34" providerId="ADAL" clId="{8FB8B295-48C7-4C78-BCBD-DD15BA7C010A}" dt="2026-09-14T18:06:51.134" v="1678" actId="478"/>
          <ac:spMkLst>
            <pc:docMk/>
            <pc:sldMk cId="234934632" sldId="870"/>
            <ac:spMk id="2" creationId="{4A1F3380-F956-0CEC-508A-18A8BA5945EB}"/>
          </ac:spMkLst>
        </pc:spChg>
        <pc:spChg chg="add mod">
          <ac:chgData name="Hannah Lybbert" userId="779b83d2-6690-4391-9b63-9fdf5eeb0b34" providerId="ADAL" clId="{8FB8B295-48C7-4C78-BCBD-DD15BA7C010A}" dt="2026-09-14T18:11:18.425" v="1732" actId="164"/>
          <ac:spMkLst>
            <pc:docMk/>
            <pc:sldMk cId="234934632" sldId="870"/>
            <ac:spMk id="3" creationId="{6793B9A6-0DB2-3A23-A9D6-65114916C980}"/>
          </ac:spMkLst>
        </pc:spChg>
        <pc:spChg chg="add mod">
          <ac:chgData name="Hannah Lybbert" userId="779b83d2-6690-4391-9b63-9fdf5eeb0b34" providerId="ADAL" clId="{8FB8B295-48C7-4C78-BCBD-DD15BA7C010A}" dt="2026-09-14T18:11:18.425" v="1732" actId="164"/>
          <ac:spMkLst>
            <pc:docMk/>
            <pc:sldMk cId="234934632" sldId="870"/>
            <ac:spMk id="6" creationId="{FDD627B2-1B4E-FC83-6EA2-369A35238B64}"/>
          </ac:spMkLst>
        </pc:spChg>
        <pc:spChg chg="add mod">
          <ac:chgData name="Hannah Lybbert" userId="779b83d2-6690-4391-9b63-9fdf5eeb0b34" providerId="ADAL" clId="{8FB8B295-48C7-4C78-BCBD-DD15BA7C010A}" dt="2026-09-14T18:11:18.425" v="1732" actId="164"/>
          <ac:spMkLst>
            <pc:docMk/>
            <pc:sldMk cId="234934632" sldId="870"/>
            <ac:spMk id="8" creationId="{5B220F29-DA8F-422A-5773-98A11CD1F4D6}"/>
          </ac:spMkLst>
        </pc:spChg>
        <pc:spChg chg="mod">
          <ac:chgData name="Hannah Lybbert" userId="779b83d2-6690-4391-9b63-9fdf5eeb0b34" providerId="ADAL" clId="{8FB8B295-48C7-4C78-BCBD-DD15BA7C010A}" dt="2026-09-14T18:27:22.977" v="2705" actId="20577"/>
          <ac:spMkLst>
            <pc:docMk/>
            <pc:sldMk cId="234934632" sldId="870"/>
            <ac:spMk id="9" creationId="{00000000-0000-0000-0000-000000000000}"/>
          </ac:spMkLst>
        </pc:spChg>
        <pc:grpChg chg="add mod">
          <ac:chgData name="Hannah Lybbert" userId="779b83d2-6690-4391-9b63-9fdf5eeb0b34" providerId="ADAL" clId="{8FB8B295-48C7-4C78-BCBD-DD15BA7C010A}" dt="2026-09-14T18:20:02.146" v="2310" actId="1035"/>
          <ac:grpSpMkLst>
            <pc:docMk/>
            <pc:sldMk cId="234934632" sldId="870"/>
            <ac:grpSpMk id="10" creationId="{2E4DFBAD-45B6-CD56-C95D-9AE7DE3D4243}"/>
          </ac:grpSpMkLst>
        </pc:grpChg>
      </pc:sldChg>
      <pc:sldChg chg="modSp mod modAnim modNotesTx">
        <pc:chgData name="Hannah Lybbert" userId="779b83d2-6690-4391-9b63-9fdf5eeb0b34" providerId="ADAL" clId="{8FB8B295-48C7-4C78-BCBD-DD15BA7C010A}" dt="2026-09-14T21:30:27.979" v="5593" actId="5793"/>
        <pc:sldMkLst>
          <pc:docMk/>
          <pc:sldMk cId="4232820875" sldId="871"/>
        </pc:sldMkLst>
        <pc:spChg chg="mod">
          <ac:chgData name="Hannah Lybbert" userId="779b83d2-6690-4391-9b63-9fdf5eeb0b34" providerId="ADAL" clId="{8FB8B295-48C7-4C78-BCBD-DD15BA7C010A}" dt="2026-09-14T21:29:47.443" v="5583" actId="20577"/>
          <ac:spMkLst>
            <pc:docMk/>
            <pc:sldMk cId="4232820875" sldId="871"/>
            <ac:spMk id="9" creationId="{00000000-0000-0000-0000-000000000000}"/>
          </ac:spMkLst>
        </pc:spChg>
      </pc:sldChg>
      <pc:sldChg chg="addSp delSp modSp">
        <pc:chgData name="Hannah Lybbert" userId="779b83d2-6690-4391-9b63-9fdf5eeb0b34" providerId="ADAL" clId="{8FB8B295-48C7-4C78-BCBD-DD15BA7C010A}" dt="2026-09-14T18:34:58.377" v="2709"/>
        <pc:sldMkLst>
          <pc:docMk/>
          <pc:sldMk cId="2063500637" sldId="872"/>
        </pc:sldMkLst>
        <pc:spChg chg="del">
          <ac:chgData name="Hannah Lybbert" userId="779b83d2-6690-4391-9b63-9fdf5eeb0b34" providerId="ADAL" clId="{8FB8B295-48C7-4C78-BCBD-DD15BA7C010A}" dt="2026-09-14T18:34:54.054" v="2706" actId="478"/>
          <ac:spMkLst>
            <pc:docMk/>
            <pc:sldMk cId="2063500637" sldId="872"/>
            <ac:spMk id="2" creationId="{11F66824-6E9E-42FD-82A4-55CB299149C3}"/>
          </ac:spMkLst>
        </pc:spChg>
        <pc:spChg chg="del">
          <ac:chgData name="Hannah Lybbert" userId="779b83d2-6690-4391-9b63-9fdf5eeb0b34" providerId="ADAL" clId="{8FB8B295-48C7-4C78-BCBD-DD15BA7C010A}" dt="2026-09-14T18:34:56.066" v="2707" actId="478"/>
          <ac:spMkLst>
            <pc:docMk/>
            <pc:sldMk cId="2063500637" sldId="872"/>
            <ac:spMk id="3" creationId="{1555A373-AD71-4B41-8C89-98843789F155}"/>
          </ac:spMkLst>
        </pc:spChg>
        <pc:spChg chg="add del mod">
          <ac:chgData name="Hannah Lybbert" userId="779b83d2-6690-4391-9b63-9fdf5eeb0b34" providerId="ADAL" clId="{8FB8B295-48C7-4C78-BCBD-DD15BA7C010A}" dt="2026-09-14T18:34:57.660" v="2708" actId="478"/>
          <ac:spMkLst>
            <pc:docMk/>
            <pc:sldMk cId="2063500637" sldId="872"/>
            <ac:spMk id="4" creationId="{BADF89C0-D552-987F-5CEF-553E117B8B87}"/>
          </ac:spMkLst>
        </pc:spChg>
        <pc:picChg chg="add">
          <ac:chgData name="Hannah Lybbert" userId="779b83d2-6690-4391-9b63-9fdf5eeb0b34" providerId="ADAL" clId="{8FB8B295-48C7-4C78-BCBD-DD15BA7C010A}" dt="2026-09-14T18:34:58.377" v="2709"/>
          <ac:picMkLst>
            <pc:docMk/>
            <pc:sldMk cId="2063500637" sldId="872"/>
            <ac:picMk id="5" creationId="{65FFDE59-3EF9-D335-BBE8-5835746553CF}"/>
          </ac:picMkLst>
        </pc:picChg>
      </pc:sldChg>
      <pc:sldChg chg="addSp delSp modSp">
        <pc:chgData name="Hannah Lybbert" userId="779b83d2-6690-4391-9b63-9fdf5eeb0b34" providerId="ADAL" clId="{8FB8B295-48C7-4C78-BCBD-DD15BA7C010A}" dt="2026-09-14T18:35:53.559" v="2715"/>
        <pc:sldMkLst>
          <pc:docMk/>
          <pc:sldMk cId="310608218" sldId="873"/>
        </pc:sldMkLst>
        <pc:spChg chg="del">
          <ac:chgData name="Hannah Lybbert" userId="779b83d2-6690-4391-9b63-9fdf5eeb0b34" providerId="ADAL" clId="{8FB8B295-48C7-4C78-BCBD-DD15BA7C010A}" dt="2026-09-14T18:35:38.317" v="2713" actId="478"/>
          <ac:spMkLst>
            <pc:docMk/>
            <pc:sldMk cId="310608218" sldId="873"/>
            <ac:spMk id="2" creationId="{11F66824-6E9E-42FD-82A4-55CB299149C3}"/>
          </ac:spMkLst>
        </pc:spChg>
        <pc:spChg chg="del">
          <ac:chgData name="Hannah Lybbert" userId="779b83d2-6690-4391-9b63-9fdf5eeb0b34" providerId="ADAL" clId="{8FB8B295-48C7-4C78-BCBD-DD15BA7C010A}" dt="2026-09-14T18:35:38.317" v="2713" actId="478"/>
          <ac:spMkLst>
            <pc:docMk/>
            <pc:sldMk cId="310608218" sldId="873"/>
            <ac:spMk id="3" creationId="{1555A373-AD71-4B41-8C89-98843789F155}"/>
          </ac:spMkLst>
        </pc:spChg>
        <pc:spChg chg="add del mod">
          <ac:chgData name="Hannah Lybbert" userId="779b83d2-6690-4391-9b63-9fdf5eeb0b34" providerId="ADAL" clId="{8FB8B295-48C7-4C78-BCBD-DD15BA7C010A}" dt="2026-09-14T18:35:42.034" v="2714" actId="478"/>
          <ac:spMkLst>
            <pc:docMk/>
            <pc:sldMk cId="310608218" sldId="873"/>
            <ac:spMk id="4" creationId="{D05178D3-010A-B8D8-E2EB-76F99B042458}"/>
          </ac:spMkLst>
        </pc:spChg>
        <pc:picChg chg="add">
          <ac:chgData name="Hannah Lybbert" userId="779b83d2-6690-4391-9b63-9fdf5eeb0b34" providerId="ADAL" clId="{8FB8B295-48C7-4C78-BCBD-DD15BA7C010A}" dt="2026-09-14T18:35:53.559" v="2715"/>
          <ac:picMkLst>
            <pc:docMk/>
            <pc:sldMk cId="310608218" sldId="873"/>
            <ac:picMk id="5" creationId="{A0F82115-1DEC-F6C1-E948-FA57777A478A}"/>
          </ac:picMkLst>
        </pc:picChg>
      </pc:sldChg>
      <pc:sldChg chg="addSp delSp modSp">
        <pc:chgData name="Hannah Lybbert" userId="779b83d2-6690-4391-9b63-9fdf5eeb0b34" providerId="ADAL" clId="{8FB8B295-48C7-4C78-BCBD-DD15BA7C010A}" dt="2026-09-14T18:35:32.408" v="2712"/>
        <pc:sldMkLst>
          <pc:docMk/>
          <pc:sldMk cId="594604920" sldId="874"/>
        </pc:sldMkLst>
        <pc:spChg chg="del">
          <ac:chgData name="Hannah Lybbert" userId="779b83d2-6690-4391-9b63-9fdf5eeb0b34" providerId="ADAL" clId="{8FB8B295-48C7-4C78-BCBD-DD15BA7C010A}" dt="2026-09-14T18:35:30.010" v="2710" actId="478"/>
          <ac:spMkLst>
            <pc:docMk/>
            <pc:sldMk cId="594604920" sldId="874"/>
            <ac:spMk id="2" creationId="{11F66824-6E9E-42FD-82A4-55CB299149C3}"/>
          </ac:spMkLst>
        </pc:spChg>
        <pc:spChg chg="del">
          <ac:chgData name="Hannah Lybbert" userId="779b83d2-6690-4391-9b63-9fdf5eeb0b34" providerId="ADAL" clId="{8FB8B295-48C7-4C78-BCBD-DD15BA7C010A}" dt="2026-09-14T18:35:30.010" v="2710" actId="478"/>
          <ac:spMkLst>
            <pc:docMk/>
            <pc:sldMk cId="594604920" sldId="874"/>
            <ac:spMk id="3" creationId="{1555A373-AD71-4B41-8C89-98843789F155}"/>
          </ac:spMkLst>
        </pc:spChg>
        <pc:spChg chg="add del mod">
          <ac:chgData name="Hannah Lybbert" userId="779b83d2-6690-4391-9b63-9fdf5eeb0b34" providerId="ADAL" clId="{8FB8B295-48C7-4C78-BCBD-DD15BA7C010A}" dt="2026-09-14T18:35:31.458" v="2711" actId="478"/>
          <ac:spMkLst>
            <pc:docMk/>
            <pc:sldMk cId="594604920" sldId="874"/>
            <ac:spMk id="4" creationId="{AAC21190-3144-633C-F889-BA42F478102A}"/>
          </ac:spMkLst>
        </pc:spChg>
        <pc:picChg chg="add">
          <ac:chgData name="Hannah Lybbert" userId="779b83d2-6690-4391-9b63-9fdf5eeb0b34" providerId="ADAL" clId="{8FB8B295-48C7-4C78-BCBD-DD15BA7C010A}" dt="2026-09-14T18:35:32.408" v="2712"/>
          <ac:picMkLst>
            <pc:docMk/>
            <pc:sldMk cId="594604920" sldId="874"/>
            <ac:picMk id="5" creationId="{3FE5C5E5-76D0-024B-EEA5-23DB0194C891}"/>
          </ac:picMkLst>
        </pc:picChg>
      </pc:sldChg>
      <pc:sldChg chg="addSp delSp modSp mod">
        <pc:chgData name="Hannah Lybbert" userId="779b83d2-6690-4391-9b63-9fdf5eeb0b34" providerId="ADAL" clId="{8FB8B295-48C7-4C78-BCBD-DD15BA7C010A}" dt="2026-09-14T21:48:10.365" v="5818" actId="1036"/>
        <pc:sldMkLst>
          <pc:docMk/>
          <pc:sldMk cId="826347952" sldId="875"/>
        </pc:sldMkLst>
        <pc:spChg chg="add mod">
          <ac:chgData name="Hannah Lybbert" userId="779b83d2-6690-4391-9b63-9fdf5eeb0b34" providerId="ADAL" clId="{8FB8B295-48C7-4C78-BCBD-DD15BA7C010A}" dt="2026-09-14T21:48:10.365" v="5818" actId="1036"/>
          <ac:spMkLst>
            <pc:docMk/>
            <pc:sldMk cId="826347952" sldId="875"/>
            <ac:spMk id="4" creationId="{E181E13A-228D-48BD-1FD0-F785B5BF8745}"/>
          </ac:spMkLst>
        </pc:spChg>
        <pc:spChg chg="add mod">
          <ac:chgData name="Hannah Lybbert" userId="779b83d2-6690-4391-9b63-9fdf5eeb0b34" providerId="ADAL" clId="{8FB8B295-48C7-4C78-BCBD-DD15BA7C010A}" dt="2026-09-14T21:47:45.585" v="5815" actId="1036"/>
          <ac:spMkLst>
            <pc:docMk/>
            <pc:sldMk cId="826347952" sldId="875"/>
            <ac:spMk id="6" creationId="{F293A61A-6629-FAF1-FA43-1407481C0573}"/>
          </ac:spMkLst>
        </pc:spChg>
        <pc:picChg chg="add mod">
          <ac:chgData name="Hannah Lybbert" userId="779b83d2-6690-4391-9b63-9fdf5eeb0b34" providerId="ADAL" clId="{8FB8B295-48C7-4C78-BCBD-DD15BA7C010A}" dt="2026-09-14T18:44:12.144" v="2721" actId="1076"/>
          <ac:picMkLst>
            <pc:docMk/>
            <pc:sldMk cId="826347952" sldId="875"/>
            <ac:picMk id="5" creationId="{6024589C-3D97-828F-6BEF-840DA60E8A7B}"/>
          </ac:picMkLst>
        </pc:picChg>
        <pc:picChg chg="add del mod">
          <ac:chgData name="Hannah Lybbert" userId="779b83d2-6690-4391-9b63-9fdf5eeb0b34" providerId="ADAL" clId="{8FB8B295-48C7-4C78-BCBD-DD15BA7C010A}" dt="2026-09-14T18:44:00.238" v="2719" actId="21"/>
          <ac:picMkLst>
            <pc:docMk/>
            <pc:sldMk cId="826347952" sldId="875"/>
            <ac:picMk id="7" creationId="{AD6E3403-0699-B7E3-7FFF-A828E988F342}"/>
          </ac:picMkLst>
        </pc:picChg>
      </pc:sldChg>
      <pc:sldChg chg="add del">
        <pc:chgData name="Hannah Lybbert" userId="779b83d2-6690-4391-9b63-9fdf5eeb0b34" providerId="ADAL" clId="{8FB8B295-48C7-4C78-BCBD-DD15BA7C010A}" dt="2026-09-14T17:11:14.741" v="112" actId="47"/>
        <pc:sldMkLst>
          <pc:docMk/>
          <pc:sldMk cId="1211565869" sldId="876"/>
        </pc:sldMkLst>
      </pc:sldChg>
      <pc:sldChg chg="modSp add mod modAnim modNotesTx">
        <pc:chgData name="Hannah Lybbert" userId="779b83d2-6690-4391-9b63-9fdf5eeb0b34" providerId="ADAL" clId="{8FB8B295-48C7-4C78-BCBD-DD15BA7C010A}" dt="2026-09-14T19:48:38.065" v="5191" actId="20577"/>
        <pc:sldMkLst>
          <pc:docMk/>
          <pc:sldMk cId="1924567322" sldId="876"/>
        </pc:sldMkLst>
        <pc:picChg chg="mod">
          <ac:chgData name="Hannah Lybbert" userId="779b83d2-6690-4391-9b63-9fdf5eeb0b34" providerId="ADAL" clId="{8FB8B295-48C7-4C78-BCBD-DD15BA7C010A}" dt="2026-09-14T19:33:48.849" v="5094" actId="1076"/>
          <ac:picMkLst>
            <pc:docMk/>
            <pc:sldMk cId="1924567322" sldId="876"/>
            <ac:picMk id="7" creationId="{FADB0613-DEE8-52D9-403C-B9135C16C0DB}"/>
          </ac:picMkLst>
        </pc:picChg>
        <pc:picChg chg="mod">
          <ac:chgData name="Hannah Lybbert" userId="779b83d2-6690-4391-9b63-9fdf5eeb0b34" providerId="ADAL" clId="{8FB8B295-48C7-4C78-BCBD-DD15BA7C010A}" dt="2026-09-14T19:33:32.050" v="5092" actId="167"/>
          <ac:picMkLst>
            <pc:docMk/>
            <pc:sldMk cId="1924567322" sldId="876"/>
            <ac:picMk id="1026" creationId="{2EF4B600-AA0B-22DA-2A64-4060B5EDA6A3}"/>
          </ac:picMkLst>
        </pc:picChg>
        <pc:picChg chg="mod">
          <ac:chgData name="Hannah Lybbert" userId="779b83d2-6690-4391-9b63-9fdf5eeb0b34" providerId="ADAL" clId="{8FB8B295-48C7-4C78-BCBD-DD15BA7C010A}" dt="2026-09-14T19:33:52.730" v="5095" actId="1037"/>
          <ac:picMkLst>
            <pc:docMk/>
            <pc:sldMk cId="1924567322" sldId="876"/>
            <ac:picMk id="1040" creationId="{D9F881B2-995E-3402-7FEE-3EB3E8F6C7B4}"/>
          </ac:picMkLst>
        </pc:picChg>
      </pc:sldChg>
      <pc:sldChg chg="delSp modSp add mod modAnim modNotesTx">
        <pc:chgData name="Hannah Lybbert" userId="779b83d2-6690-4391-9b63-9fdf5eeb0b34" providerId="ADAL" clId="{8FB8B295-48C7-4C78-BCBD-DD15BA7C010A}" dt="2026-09-14T19:48:12.822" v="5108" actId="20577"/>
        <pc:sldMkLst>
          <pc:docMk/>
          <pc:sldMk cId="2493585335" sldId="877"/>
        </pc:sldMkLst>
        <pc:spChg chg="del">
          <ac:chgData name="Hannah Lybbert" userId="779b83d2-6690-4391-9b63-9fdf5eeb0b34" providerId="ADAL" clId="{8FB8B295-48C7-4C78-BCBD-DD15BA7C010A}" dt="2026-09-14T17:39:21.790" v="966" actId="478"/>
          <ac:spMkLst>
            <pc:docMk/>
            <pc:sldMk cId="2493585335" sldId="877"/>
            <ac:spMk id="4" creationId="{BF31394B-84BC-6218-0A0B-FB338929E9A6}"/>
          </ac:spMkLst>
        </pc:spChg>
        <pc:spChg chg="mod">
          <ac:chgData name="Hannah Lybbert" userId="779b83d2-6690-4391-9b63-9fdf5eeb0b34" providerId="ADAL" clId="{8FB8B295-48C7-4C78-BCBD-DD15BA7C010A}" dt="2026-09-14T18:26:59.521" v="2703" actId="20577"/>
          <ac:spMkLst>
            <pc:docMk/>
            <pc:sldMk cId="2493585335" sldId="877"/>
            <ac:spMk id="9" creationId="{00000000-0000-0000-0000-000000000000}"/>
          </ac:spMkLst>
        </pc:spChg>
        <pc:spChg chg="mod">
          <ac:chgData name="Hannah Lybbert" userId="779b83d2-6690-4391-9b63-9fdf5eeb0b34" providerId="ADAL" clId="{8FB8B295-48C7-4C78-BCBD-DD15BA7C010A}" dt="2026-09-14T17:35:32.726" v="861" actId="20577"/>
          <ac:spMkLst>
            <pc:docMk/>
            <pc:sldMk cId="2493585335" sldId="877"/>
            <ac:spMk id="20482" creationId="{00000000-0000-0000-0000-000000000000}"/>
          </ac:spMkLst>
        </pc:spChg>
      </pc:sldChg>
      <pc:sldChg chg="new add del">
        <pc:chgData name="Hannah Lybbert" userId="779b83d2-6690-4391-9b63-9fdf5eeb0b34" providerId="ADAL" clId="{8FB8B295-48C7-4C78-BCBD-DD15BA7C010A}" dt="2026-09-14T17:34:56.256" v="837" actId="680"/>
        <pc:sldMkLst>
          <pc:docMk/>
          <pc:sldMk cId="3385477415" sldId="877"/>
        </pc:sldMkLst>
      </pc:sldChg>
      <pc:sldChg chg="addSp modSp add mod modNotesTx">
        <pc:chgData name="Hannah Lybbert" userId="779b83d2-6690-4391-9b63-9fdf5eeb0b34" providerId="ADAL" clId="{8FB8B295-48C7-4C78-BCBD-DD15BA7C010A}" dt="2026-09-14T19:05:46.726" v="3089" actId="20577"/>
        <pc:sldMkLst>
          <pc:docMk/>
          <pc:sldMk cId="334306245" sldId="878"/>
        </pc:sldMkLst>
        <pc:picChg chg="add mod">
          <ac:chgData name="Hannah Lybbert" userId="779b83d2-6690-4391-9b63-9fdf5eeb0b34" providerId="ADAL" clId="{8FB8B295-48C7-4C78-BCBD-DD15BA7C010A}" dt="2026-09-14T19:03:38.233" v="2775" actId="1076"/>
          <ac:picMkLst>
            <pc:docMk/>
            <pc:sldMk cId="334306245" sldId="878"/>
            <ac:picMk id="3" creationId="{5360287A-2956-BFDB-CEC9-B6E76C6675BF}"/>
          </ac:picMkLst>
        </pc:picChg>
      </pc:sldChg>
      <pc:sldChg chg="addSp modSp add ord modNotesTx">
        <pc:chgData name="Hannah Lybbert" userId="779b83d2-6690-4391-9b63-9fdf5eeb0b34" providerId="ADAL" clId="{8FB8B295-48C7-4C78-BCBD-DD15BA7C010A}" dt="2026-09-14T19:05:04.349" v="2939" actId="20577"/>
        <pc:sldMkLst>
          <pc:docMk/>
          <pc:sldMk cId="3722669808" sldId="879"/>
        </pc:sldMkLst>
        <pc:picChg chg="add mod">
          <ac:chgData name="Hannah Lybbert" userId="779b83d2-6690-4391-9b63-9fdf5eeb0b34" providerId="ADAL" clId="{8FB8B295-48C7-4C78-BCBD-DD15BA7C010A}" dt="2026-09-14T18:59:12.343" v="2739"/>
          <ac:picMkLst>
            <pc:docMk/>
            <pc:sldMk cId="3722669808" sldId="879"/>
            <ac:picMk id="3" creationId="{1446DFCE-1C00-1DB7-FE93-05FF45CEB7B7}"/>
          </ac:picMkLst>
        </pc:picChg>
      </pc:sldChg>
      <pc:sldChg chg="addSp modSp add modNotesTx">
        <pc:chgData name="Hannah Lybbert" userId="779b83d2-6690-4391-9b63-9fdf5eeb0b34" providerId="ADAL" clId="{8FB8B295-48C7-4C78-BCBD-DD15BA7C010A}" dt="2026-09-14T19:06:26.270" v="3238" actId="20577"/>
        <pc:sldMkLst>
          <pc:docMk/>
          <pc:sldMk cId="2128811048" sldId="880"/>
        </pc:sldMkLst>
        <pc:picChg chg="add mod">
          <ac:chgData name="Hannah Lybbert" userId="779b83d2-6690-4391-9b63-9fdf5eeb0b34" providerId="ADAL" clId="{8FB8B295-48C7-4C78-BCBD-DD15BA7C010A}" dt="2026-09-14T18:59:18.961" v="2742"/>
          <ac:picMkLst>
            <pc:docMk/>
            <pc:sldMk cId="2128811048" sldId="880"/>
            <ac:picMk id="3" creationId="{1AF7EA53-A104-4F77-E730-C3E275A45BFB}"/>
          </ac:picMkLst>
        </pc:picChg>
      </pc:sldChg>
      <pc:sldChg chg="addSp modSp add modNotesTx">
        <pc:chgData name="Hannah Lybbert" userId="779b83d2-6690-4391-9b63-9fdf5eeb0b34" providerId="ADAL" clId="{8FB8B295-48C7-4C78-BCBD-DD15BA7C010A}" dt="2026-09-14T19:06:52.910" v="3355" actId="20577"/>
        <pc:sldMkLst>
          <pc:docMk/>
          <pc:sldMk cId="2828704125" sldId="881"/>
        </pc:sldMkLst>
        <pc:picChg chg="add mod">
          <ac:chgData name="Hannah Lybbert" userId="779b83d2-6690-4391-9b63-9fdf5eeb0b34" providerId="ADAL" clId="{8FB8B295-48C7-4C78-BCBD-DD15BA7C010A}" dt="2026-09-14T18:59:23.531" v="2743"/>
          <ac:picMkLst>
            <pc:docMk/>
            <pc:sldMk cId="2828704125" sldId="881"/>
            <ac:picMk id="3" creationId="{AE7A22DE-A721-04C3-49A4-A94D577F60ED}"/>
          </ac:picMkLst>
        </pc:picChg>
      </pc:sldChg>
      <pc:sldChg chg="addSp modSp add">
        <pc:chgData name="Hannah Lybbert" userId="779b83d2-6690-4391-9b63-9fdf5eeb0b34" providerId="ADAL" clId="{8FB8B295-48C7-4C78-BCBD-DD15BA7C010A}" dt="2026-09-14T19:28:44.134" v="5070"/>
        <pc:sldMkLst>
          <pc:docMk/>
          <pc:sldMk cId="1355105899" sldId="882"/>
        </pc:sldMkLst>
        <pc:picChg chg="add mod">
          <ac:chgData name="Hannah Lybbert" userId="779b83d2-6690-4391-9b63-9fdf5eeb0b34" providerId="ADAL" clId="{8FB8B295-48C7-4C78-BCBD-DD15BA7C010A}" dt="2026-09-14T19:28:42.319" v="5069"/>
          <ac:picMkLst>
            <pc:docMk/>
            <pc:sldMk cId="1355105899" sldId="882"/>
            <ac:picMk id="2" creationId="{F993347B-A8FA-C02B-7A93-1FAC747CF45C}"/>
          </ac:picMkLst>
        </pc:picChg>
        <pc:picChg chg="add mod">
          <ac:chgData name="Hannah Lybbert" userId="779b83d2-6690-4391-9b63-9fdf5eeb0b34" providerId="ADAL" clId="{8FB8B295-48C7-4C78-BCBD-DD15BA7C010A}" dt="2026-09-14T19:28:44.134" v="5070"/>
          <ac:picMkLst>
            <pc:docMk/>
            <pc:sldMk cId="1355105899" sldId="882"/>
            <ac:picMk id="3" creationId="{78FD2A6C-8933-DA10-AD14-6F64AEFA5EBB}"/>
          </ac:picMkLst>
        </pc:picChg>
      </pc:sldChg>
      <pc:sldChg chg="addSp delSp modSp add mod delAnim modAnim modNotesTx">
        <pc:chgData name="Hannah Lybbert" userId="779b83d2-6690-4391-9b63-9fdf5eeb0b34" providerId="ADAL" clId="{8FB8B295-48C7-4C78-BCBD-DD15BA7C010A}" dt="2026-09-14T19:32:33.424" v="5081"/>
        <pc:sldMkLst>
          <pc:docMk/>
          <pc:sldMk cId="3636136424" sldId="883"/>
        </pc:sldMkLst>
        <pc:spChg chg="add mod">
          <ac:chgData name="Hannah Lybbert" userId="779b83d2-6690-4391-9b63-9fdf5eeb0b34" providerId="ADAL" clId="{8FB8B295-48C7-4C78-BCBD-DD15BA7C010A}" dt="2026-09-14T19:19:28.827" v="5042" actId="20577"/>
          <ac:spMkLst>
            <pc:docMk/>
            <pc:sldMk cId="3636136424" sldId="883"/>
            <ac:spMk id="2" creationId="{51C41EC1-5E5B-4DDD-5A52-F8BBB434C608}"/>
          </ac:spMkLst>
        </pc:spChg>
        <pc:spChg chg="del mod">
          <ac:chgData name="Hannah Lybbert" userId="779b83d2-6690-4391-9b63-9fdf5eeb0b34" providerId="ADAL" clId="{8FB8B295-48C7-4C78-BCBD-DD15BA7C010A}" dt="2026-09-14T19:00:16.673" v="2757"/>
          <ac:spMkLst>
            <pc:docMk/>
            <pc:sldMk cId="3636136424" sldId="883"/>
            <ac:spMk id="9" creationId="{00000000-0000-0000-0000-000000000000}"/>
          </ac:spMkLst>
        </pc:spChg>
        <pc:spChg chg="mod">
          <ac:chgData name="Hannah Lybbert" userId="779b83d2-6690-4391-9b63-9fdf5eeb0b34" providerId="ADAL" clId="{8FB8B295-48C7-4C78-BCBD-DD15BA7C010A}" dt="2026-09-14T18:59:56.188" v="2754" actId="20577"/>
          <ac:spMkLst>
            <pc:docMk/>
            <pc:sldMk cId="3636136424" sldId="883"/>
            <ac:spMk id="20482" creationId="{00000000-0000-0000-0000-000000000000}"/>
          </ac:spMkLst>
        </pc:spChg>
      </pc:sldChg>
      <pc:sldChg chg="add">
        <pc:chgData name="Hannah Lybbert" userId="779b83d2-6690-4391-9b63-9fdf5eeb0b34" providerId="ADAL" clId="{8FB8B295-48C7-4C78-BCBD-DD15BA7C010A}" dt="2026-09-14T19:10:47.882" v="3837"/>
        <pc:sldMkLst>
          <pc:docMk/>
          <pc:sldMk cId="290013197" sldId="884"/>
        </pc:sldMkLst>
      </pc:sldChg>
      <pc:sldChg chg="add">
        <pc:chgData name="Hannah Lybbert" userId="779b83d2-6690-4391-9b63-9fdf5eeb0b34" providerId="ADAL" clId="{8FB8B295-48C7-4C78-BCBD-DD15BA7C010A}" dt="2026-09-14T19:27:55.472" v="5043"/>
        <pc:sldMkLst>
          <pc:docMk/>
          <pc:sldMk cId="3113801335" sldId="885"/>
        </pc:sldMkLst>
      </pc:sldChg>
      <pc:sldChg chg="addSp delSp modSp add mod">
        <pc:chgData name="Hannah Lybbert" userId="779b83d2-6690-4391-9b63-9fdf5eeb0b34" providerId="ADAL" clId="{8FB8B295-48C7-4C78-BCBD-DD15BA7C010A}" dt="2026-09-14T19:28:59.712" v="5078"/>
        <pc:sldMkLst>
          <pc:docMk/>
          <pc:sldMk cId="1364714872" sldId="886"/>
        </pc:sldMkLst>
        <pc:picChg chg="del">
          <ac:chgData name="Hannah Lybbert" userId="779b83d2-6690-4391-9b63-9fdf5eeb0b34" providerId="ADAL" clId="{8FB8B295-48C7-4C78-BCBD-DD15BA7C010A}" dt="2026-09-14T19:28:49.657" v="5072" actId="478"/>
          <ac:picMkLst>
            <pc:docMk/>
            <pc:sldMk cId="1364714872" sldId="886"/>
            <ac:picMk id="2" creationId="{F993347B-A8FA-C02B-7A93-1FAC747CF45C}"/>
          </ac:picMkLst>
        </pc:picChg>
        <pc:picChg chg="add mod">
          <ac:chgData name="Hannah Lybbert" userId="779b83d2-6690-4391-9b63-9fdf5eeb0b34" providerId="ADAL" clId="{8FB8B295-48C7-4C78-BCBD-DD15BA7C010A}" dt="2026-09-14T19:28:59.712" v="5078"/>
          <ac:picMkLst>
            <pc:docMk/>
            <pc:sldMk cId="1364714872" sldId="886"/>
            <ac:picMk id="4" creationId="{8801C8FB-993C-7699-3FD4-674C1F31FE59}"/>
          </ac:picMkLst>
        </pc:picChg>
      </pc:sldChg>
      <pc:sldChg chg="addSp modSp add">
        <pc:chgData name="Hannah Lybbert" userId="779b83d2-6690-4391-9b63-9fdf5eeb0b34" providerId="ADAL" clId="{8FB8B295-48C7-4C78-BCBD-DD15BA7C010A}" dt="2026-09-14T19:29:03.011" v="5079"/>
        <pc:sldMkLst>
          <pc:docMk/>
          <pc:sldMk cId="1649692543" sldId="887"/>
        </pc:sldMkLst>
        <pc:picChg chg="add mod">
          <ac:chgData name="Hannah Lybbert" userId="779b83d2-6690-4391-9b63-9fdf5eeb0b34" providerId="ADAL" clId="{8FB8B295-48C7-4C78-BCBD-DD15BA7C010A}" dt="2026-09-14T19:29:03.011" v="5079"/>
          <ac:picMkLst>
            <pc:docMk/>
            <pc:sldMk cId="1649692543" sldId="887"/>
            <ac:picMk id="3" creationId="{D1A297B9-11D1-F9C5-66D9-BE7EDFD469F9}"/>
          </ac:picMkLst>
        </pc:picChg>
      </pc:sldChg>
      <pc:sldChg chg="addSp modSp add mod">
        <pc:chgData name="Hannah Lybbert" userId="779b83d2-6690-4391-9b63-9fdf5eeb0b34" providerId="ADAL" clId="{8FB8B295-48C7-4C78-BCBD-DD15BA7C010A}" dt="2026-09-14T19:59:28.878" v="5249" actId="1076"/>
        <pc:sldMkLst>
          <pc:docMk/>
          <pc:sldMk cId="393729481" sldId="888"/>
        </pc:sldMkLst>
        <pc:picChg chg="add mod">
          <ac:chgData name="Hannah Lybbert" userId="779b83d2-6690-4391-9b63-9fdf5eeb0b34" providerId="ADAL" clId="{8FB8B295-48C7-4C78-BCBD-DD15BA7C010A}" dt="2026-09-14T19:59:28.878" v="5249" actId="1076"/>
          <ac:picMkLst>
            <pc:docMk/>
            <pc:sldMk cId="393729481" sldId="888"/>
            <ac:picMk id="3" creationId="{7716ABC7-494A-C162-DA1D-F821BFA995AE}"/>
          </ac:picMkLst>
        </pc:picChg>
      </pc:sldChg>
      <pc:sldChg chg="addSp modSp add mod">
        <pc:chgData name="Hannah Lybbert" userId="779b83d2-6690-4391-9b63-9fdf5eeb0b34" providerId="ADAL" clId="{8FB8B295-48C7-4C78-BCBD-DD15BA7C010A}" dt="2026-09-14T19:59:57.639" v="5260" actId="1076"/>
        <pc:sldMkLst>
          <pc:docMk/>
          <pc:sldMk cId="4025570245" sldId="889"/>
        </pc:sldMkLst>
        <pc:picChg chg="add mod modCrop">
          <ac:chgData name="Hannah Lybbert" userId="779b83d2-6690-4391-9b63-9fdf5eeb0b34" providerId="ADAL" clId="{8FB8B295-48C7-4C78-BCBD-DD15BA7C010A}" dt="2026-09-14T19:59:57.639" v="5260" actId="1076"/>
          <ac:picMkLst>
            <pc:docMk/>
            <pc:sldMk cId="4025570245" sldId="889"/>
            <ac:picMk id="3" creationId="{B94C07E0-55E6-FFD6-AA01-4057A9B616EB}"/>
          </ac:picMkLst>
        </pc:picChg>
      </pc:sldChg>
      <pc:sldChg chg="addSp modSp add mod">
        <pc:chgData name="Hannah Lybbert" userId="779b83d2-6690-4391-9b63-9fdf5eeb0b34" providerId="ADAL" clId="{8FB8B295-48C7-4C78-BCBD-DD15BA7C010A}" dt="2026-09-14T20:04:57.547" v="5274" actId="1076"/>
        <pc:sldMkLst>
          <pc:docMk/>
          <pc:sldMk cId="2932915512" sldId="890"/>
        </pc:sldMkLst>
        <pc:picChg chg="add mod modCrop">
          <ac:chgData name="Hannah Lybbert" userId="779b83d2-6690-4391-9b63-9fdf5eeb0b34" providerId="ADAL" clId="{8FB8B295-48C7-4C78-BCBD-DD15BA7C010A}" dt="2026-09-14T20:04:57.547" v="5274" actId="1076"/>
          <ac:picMkLst>
            <pc:docMk/>
            <pc:sldMk cId="2932915512" sldId="890"/>
            <ac:picMk id="3" creationId="{E7CB6E9C-3363-7367-662D-7A9B62510176}"/>
          </ac:picMkLst>
        </pc:picChg>
        <pc:picChg chg="add mod">
          <ac:chgData name="Hannah Lybbert" userId="779b83d2-6690-4391-9b63-9fdf5eeb0b34" providerId="ADAL" clId="{8FB8B295-48C7-4C78-BCBD-DD15BA7C010A}" dt="2026-09-14T20:04:49.758" v="5267"/>
          <ac:picMkLst>
            <pc:docMk/>
            <pc:sldMk cId="2932915512" sldId="890"/>
            <ac:picMk id="4" creationId="{C86D3479-119C-E0DC-4065-4EF36DB58563}"/>
          </ac:picMkLst>
        </pc:picChg>
        <pc:picChg chg="add mod">
          <ac:chgData name="Hannah Lybbert" userId="779b83d2-6690-4391-9b63-9fdf5eeb0b34" providerId="ADAL" clId="{8FB8B295-48C7-4C78-BCBD-DD15BA7C010A}" dt="2026-09-14T20:04:49.948" v="5268"/>
          <ac:picMkLst>
            <pc:docMk/>
            <pc:sldMk cId="2932915512" sldId="890"/>
            <ac:picMk id="5" creationId="{53592A54-92E8-EF06-6216-B92372397E40}"/>
          </ac:picMkLst>
        </pc:picChg>
        <pc:picChg chg="add mod">
          <ac:chgData name="Hannah Lybbert" userId="779b83d2-6690-4391-9b63-9fdf5eeb0b34" providerId="ADAL" clId="{8FB8B295-48C7-4C78-BCBD-DD15BA7C010A}" dt="2026-09-14T20:04:50.133" v="5269"/>
          <ac:picMkLst>
            <pc:docMk/>
            <pc:sldMk cId="2932915512" sldId="890"/>
            <ac:picMk id="6" creationId="{C7918862-B065-0B35-6F61-164922173513}"/>
          </ac:picMkLst>
        </pc:picChg>
        <pc:picChg chg="add mod">
          <ac:chgData name="Hannah Lybbert" userId="779b83d2-6690-4391-9b63-9fdf5eeb0b34" providerId="ADAL" clId="{8FB8B295-48C7-4C78-BCBD-DD15BA7C010A}" dt="2026-09-14T20:04:50.333" v="5270"/>
          <ac:picMkLst>
            <pc:docMk/>
            <pc:sldMk cId="2932915512" sldId="890"/>
            <ac:picMk id="7" creationId="{8BC674FC-404F-936D-E587-992CDB33C571}"/>
          </ac:picMkLst>
        </pc:picChg>
      </pc:sldChg>
      <pc:sldChg chg="addSp delSp modSp add mod">
        <pc:chgData name="Hannah Lybbert" userId="779b83d2-6690-4391-9b63-9fdf5eeb0b34" providerId="ADAL" clId="{8FB8B295-48C7-4C78-BCBD-DD15BA7C010A}" dt="2026-09-14T20:05:16.285" v="5284" actId="1076"/>
        <pc:sldMkLst>
          <pc:docMk/>
          <pc:sldMk cId="644328014" sldId="891"/>
        </pc:sldMkLst>
        <pc:picChg chg="del">
          <ac:chgData name="Hannah Lybbert" userId="779b83d2-6690-4391-9b63-9fdf5eeb0b34" providerId="ADAL" clId="{8FB8B295-48C7-4C78-BCBD-DD15BA7C010A}" dt="2026-09-14T20:05:02.084" v="5276" actId="478"/>
          <ac:picMkLst>
            <pc:docMk/>
            <pc:sldMk cId="644328014" sldId="891"/>
            <ac:picMk id="3" creationId="{E7CB6E9C-3363-7367-662D-7A9B62510176}"/>
          </ac:picMkLst>
        </pc:picChg>
        <pc:picChg chg="add mod">
          <ac:chgData name="Hannah Lybbert" userId="779b83d2-6690-4391-9b63-9fdf5eeb0b34" providerId="ADAL" clId="{8FB8B295-48C7-4C78-BCBD-DD15BA7C010A}" dt="2026-09-14T20:05:16.285" v="5284" actId="1076"/>
          <ac:picMkLst>
            <pc:docMk/>
            <pc:sldMk cId="644328014" sldId="891"/>
            <ac:picMk id="4" creationId="{32789941-95F0-9CE6-4336-78D266CAC90E}"/>
          </ac:picMkLst>
        </pc:picChg>
      </pc:sldChg>
      <pc:sldChg chg="add del">
        <pc:chgData name="Hannah Lybbert" userId="779b83d2-6690-4391-9b63-9fdf5eeb0b34" providerId="ADAL" clId="{8FB8B295-48C7-4C78-BCBD-DD15BA7C010A}" dt="2026-09-14T21:45:01.847" v="5797" actId="47"/>
        <pc:sldMkLst>
          <pc:docMk/>
          <pc:sldMk cId="2675554864" sldId="892"/>
        </pc:sldMkLst>
      </pc:sldChg>
      <pc:sldChg chg="add">
        <pc:chgData name="Hannah Lybbert" userId="779b83d2-6690-4391-9b63-9fdf5eeb0b34" providerId="ADAL" clId="{8FB8B295-48C7-4C78-BCBD-DD15BA7C010A}" dt="2026-09-14T20:05:04.557" v="5278"/>
        <pc:sldMkLst>
          <pc:docMk/>
          <pc:sldMk cId="3922880836" sldId="893"/>
        </pc:sldMkLst>
      </pc:sldChg>
      <pc:sldChg chg="add">
        <pc:chgData name="Hannah Lybbert" userId="779b83d2-6690-4391-9b63-9fdf5eeb0b34" providerId="ADAL" clId="{8FB8B295-48C7-4C78-BCBD-DD15BA7C010A}" dt="2026-09-14T20:05:04.731" v="5279"/>
        <pc:sldMkLst>
          <pc:docMk/>
          <pc:sldMk cId="2324865938" sldId="894"/>
        </pc:sldMkLst>
      </pc:sldChg>
      <pc:sldChg chg="add">
        <pc:chgData name="Hannah Lybbert" userId="779b83d2-6690-4391-9b63-9fdf5eeb0b34" providerId="ADAL" clId="{8FB8B295-48C7-4C78-BCBD-DD15BA7C010A}" dt="2026-09-14T20:05:04.862" v="5280"/>
        <pc:sldMkLst>
          <pc:docMk/>
          <pc:sldMk cId="2888980669" sldId="895"/>
        </pc:sldMkLst>
      </pc:sldChg>
      <pc:sldChg chg="addSp modSp new">
        <pc:chgData name="Hannah Lybbert" userId="779b83d2-6690-4391-9b63-9fdf5eeb0b34" providerId="ADAL" clId="{8FB8B295-48C7-4C78-BCBD-DD15BA7C010A}" dt="2026-09-14T21:37:39.172" v="5600"/>
        <pc:sldMkLst>
          <pc:docMk/>
          <pc:sldMk cId="177789413" sldId="896"/>
        </pc:sldMkLst>
        <pc:picChg chg="add mod">
          <ac:chgData name="Hannah Lybbert" userId="779b83d2-6690-4391-9b63-9fdf5eeb0b34" providerId="ADAL" clId="{8FB8B295-48C7-4C78-BCBD-DD15BA7C010A}" dt="2026-09-14T21:37:39.172" v="5600"/>
          <ac:picMkLst>
            <pc:docMk/>
            <pc:sldMk cId="177789413" sldId="896"/>
            <ac:picMk id="3" creationId="{28104077-8CC8-09FF-8D6F-A5CE855D9390}"/>
          </ac:picMkLst>
        </pc:picChg>
      </pc:sldChg>
      <pc:sldChg chg="addSp modSp add">
        <pc:chgData name="Hannah Lybbert" userId="779b83d2-6690-4391-9b63-9fdf5eeb0b34" providerId="ADAL" clId="{8FB8B295-48C7-4C78-BCBD-DD15BA7C010A}" dt="2026-09-14T21:37:46.001" v="5601"/>
        <pc:sldMkLst>
          <pc:docMk/>
          <pc:sldMk cId="2452013179" sldId="897"/>
        </pc:sldMkLst>
        <pc:picChg chg="add mod">
          <ac:chgData name="Hannah Lybbert" userId="779b83d2-6690-4391-9b63-9fdf5eeb0b34" providerId="ADAL" clId="{8FB8B295-48C7-4C78-BCBD-DD15BA7C010A}" dt="2026-09-14T21:37:46.001" v="5601"/>
          <ac:picMkLst>
            <pc:docMk/>
            <pc:sldMk cId="2452013179" sldId="897"/>
            <ac:picMk id="3" creationId="{D4B028BB-CEE9-A75C-20B0-CE81C6A6BB7E}"/>
          </ac:picMkLst>
        </pc:picChg>
      </pc:sldChg>
      <pc:sldChg chg="addSp modSp add">
        <pc:chgData name="Hannah Lybbert" userId="779b83d2-6690-4391-9b63-9fdf5eeb0b34" providerId="ADAL" clId="{8FB8B295-48C7-4C78-BCBD-DD15BA7C010A}" dt="2026-09-14T21:37:54.933" v="5602"/>
        <pc:sldMkLst>
          <pc:docMk/>
          <pc:sldMk cId="604675280" sldId="898"/>
        </pc:sldMkLst>
        <pc:picChg chg="add mod">
          <ac:chgData name="Hannah Lybbert" userId="779b83d2-6690-4391-9b63-9fdf5eeb0b34" providerId="ADAL" clId="{8FB8B295-48C7-4C78-BCBD-DD15BA7C010A}" dt="2026-09-14T21:37:54.933" v="5602"/>
          <ac:picMkLst>
            <pc:docMk/>
            <pc:sldMk cId="604675280" sldId="898"/>
            <ac:picMk id="3" creationId="{8CD9997C-30A6-F4D0-0CA6-E12473FAABB7}"/>
          </ac:picMkLst>
        </pc:picChg>
      </pc:sldChg>
      <pc:sldChg chg="addSp modSp add">
        <pc:chgData name="Hannah Lybbert" userId="779b83d2-6690-4391-9b63-9fdf5eeb0b34" providerId="ADAL" clId="{8FB8B295-48C7-4C78-BCBD-DD15BA7C010A}" dt="2026-09-14T21:38:01.668" v="5603"/>
        <pc:sldMkLst>
          <pc:docMk/>
          <pc:sldMk cId="859678500" sldId="899"/>
        </pc:sldMkLst>
        <pc:picChg chg="add mod">
          <ac:chgData name="Hannah Lybbert" userId="779b83d2-6690-4391-9b63-9fdf5eeb0b34" providerId="ADAL" clId="{8FB8B295-48C7-4C78-BCBD-DD15BA7C010A}" dt="2026-09-14T21:38:01.668" v="5603"/>
          <ac:picMkLst>
            <pc:docMk/>
            <pc:sldMk cId="859678500" sldId="899"/>
            <ac:picMk id="3" creationId="{6B4FDE8F-542C-C114-184E-2AB5A504DB22}"/>
          </ac:picMkLst>
        </pc:picChg>
      </pc:sldChg>
      <pc:sldChg chg="addSp modSp add">
        <pc:chgData name="Hannah Lybbert" userId="779b83d2-6690-4391-9b63-9fdf5eeb0b34" providerId="ADAL" clId="{8FB8B295-48C7-4C78-BCBD-DD15BA7C010A}" dt="2026-09-14T21:38:05.790" v="5604"/>
        <pc:sldMkLst>
          <pc:docMk/>
          <pc:sldMk cId="3898689026" sldId="900"/>
        </pc:sldMkLst>
        <pc:picChg chg="add mod">
          <ac:chgData name="Hannah Lybbert" userId="779b83d2-6690-4391-9b63-9fdf5eeb0b34" providerId="ADAL" clId="{8FB8B295-48C7-4C78-BCBD-DD15BA7C010A}" dt="2026-09-14T21:38:05.790" v="5604"/>
          <ac:picMkLst>
            <pc:docMk/>
            <pc:sldMk cId="3898689026" sldId="900"/>
            <ac:picMk id="3" creationId="{96654E33-8C4E-4040-B969-9EF6198F2299}"/>
          </ac:picMkLst>
        </pc:picChg>
      </pc:sldChg>
      <pc:sldChg chg="addSp modSp add">
        <pc:chgData name="Hannah Lybbert" userId="779b83d2-6690-4391-9b63-9fdf5eeb0b34" providerId="ADAL" clId="{8FB8B295-48C7-4C78-BCBD-DD15BA7C010A}" dt="2026-09-14T21:38:11.721" v="5605"/>
        <pc:sldMkLst>
          <pc:docMk/>
          <pc:sldMk cId="4211311748" sldId="901"/>
        </pc:sldMkLst>
        <pc:picChg chg="add mod">
          <ac:chgData name="Hannah Lybbert" userId="779b83d2-6690-4391-9b63-9fdf5eeb0b34" providerId="ADAL" clId="{8FB8B295-48C7-4C78-BCBD-DD15BA7C010A}" dt="2026-09-14T21:38:11.721" v="5605"/>
          <ac:picMkLst>
            <pc:docMk/>
            <pc:sldMk cId="4211311748" sldId="901"/>
            <ac:picMk id="3" creationId="{5D4BDE19-D751-1317-4733-D2C71CC87EF7}"/>
          </ac:picMkLst>
        </pc:picChg>
      </pc:sldChg>
      <pc:sldChg chg="addSp modSp new">
        <pc:chgData name="Hannah Lybbert" userId="779b83d2-6690-4391-9b63-9fdf5eeb0b34" providerId="ADAL" clId="{8FB8B295-48C7-4C78-BCBD-DD15BA7C010A}" dt="2026-09-14T21:43:30.569" v="5607"/>
        <pc:sldMkLst>
          <pc:docMk/>
          <pc:sldMk cId="2075722490" sldId="902"/>
        </pc:sldMkLst>
        <pc:picChg chg="add mod">
          <ac:chgData name="Hannah Lybbert" userId="779b83d2-6690-4391-9b63-9fdf5eeb0b34" providerId="ADAL" clId="{8FB8B295-48C7-4C78-BCBD-DD15BA7C010A}" dt="2026-09-14T21:43:30.569" v="5607"/>
          <ac:picMkLst>
            <pc:docMk/>
            <pc:sldMk cId="2075722490" sldId="902"/>
            <ac:picMk id="3" creationId="{DDFDD50E-2B35-6D21-33D7-0A67F11A943F}"/>
          </ac:picMkLst>
        </pc:picChg>
      </pc:sldChg>
      <pc:sldChg chg="addSp modSp new">
        <pc:chgData name="Hannah Lybbert" userId="779b83d2-6690-4391-9b63-9fdf5eeb0b34" providerId="ADAL" clId="{8FB8B295-48C7-4C78-BCBD-DD15BA7C010A}" dt="2026-09-14T21:43:39.810" v="5610"/>
        <pc:sldMkLst>
          <pc:docMk/>
          <pc:sldMk cId="4085414934" sldId="903"/>
        </pc:sldMkLst>
        <pc:picChg chg="add mod">
          <ac:chgData name="Hannah Lybbert" userId="779b83d2-6690-4391-9b63-9fdf5eeb0b34" providerId="ADAL" clId="{8FB8B295-48C7-4C78-BCBD-DD15BA7C010A}" dt="2026-09-14T21:43:39.810" v="5610"/>
          <ac:picMkLst>
            <pc:docMk/>
            <pc:sldMk cId="4085414934" sldId="903"/>
            <ac:picMk id="3" creationId="{6292E831-142C-C159-3420-08A638889E0C}"/>
          </ac:picMkLst>
        </pc:picChg>
      </pc:sldChg>
      <pc:sldChg chg="addSp modSp add">
        <pc:chgData name="Hannah Lybbert" userId="779b83d2-6690-4391-9b63-9fdf5eeb0b34" providerId="ADAL" clId="{8FB8B295-48C7-4C78-BCBD-DD15BA7C010A}" dt="2026-09-14T21:43:43.069" v="5611"/>
        <pc:sldMkLst>
          <pc:docMk/>
          <pc:sldMk cId="1916791117" sldId="904"/>
        </pc:sldMkLst>
        <pc:picChg chg="add mod">
          <ac:chgData name="Hannah Lybbert" userId="779b83d2-6690-4391-9b63-9fdf5eeb0b34" providerId="ADAL" clId="{8FB8B295-48C7-4C78-BCBD-DD15BA7C010A}" dt="2026-09-14T21:43:43.069" v="5611"/>
          <ac:picMkLst>
            <pc:docMk/>
            <pc:sldMk cId="1916791117" sldId="904"/>
            <ac:picMk id="3" creationId="{39A760E1-6897-D0AF-52A8-3A816403DDFF}"/>
          </ac:picMkLst>
        </pc:picChg>
      </pc:sldChg>
      <pc:sldChg chg="modSp new mod">
        <pc:chgData name="Hannah Lybbert" userId="779b83d2-6690-4391-9b63-9fdf5eeb0b34" providerId="ADAL" clId="{8FB8B295-48C7-4C78-BCBD-DD15BA7C010A}" dt="2026-09-14T21:43:58.568" v="5657" actId="20577"/>
        <pc:sldMkLst>
          <pc:docMk/>
          <pc:sldMk cId="3330951594" sldId="905"/>
        </pc:sldMkLst>
        <pc:spChg chg="mod">
          <ac:chgData name="Hannah Lybbert" userId="779b83d2-6690-4391-9b63-9fdf5eeb0b34" providerId="ADAL" clId="{8FB8B295-48C7-4C78-BCBD-DD15BA7C010A}" dt="2026-09-14T21:43:58.568" v="5657" actId="20577"/>
          <ac:spMkLst>
            <pc:docMk/>
            <pc:sldMk cId="3330951594" sldId="905"/>
            <ac:spMk id="2" creationId="{9597B3CC-E702-805D-3537-CA0F62750CD6}"/>
          </ac:spMkLst>
        </pc:spChg>
      </pc:sldChg>
      <pc:sldChg chg="modSp new mod">
        <pc:chgData name="Hannah Lybbert" userId="779b83d2-6690-4391-9b63-9fdf5eeb0b34" providerId="ADAL" clId="{8FB8B295-48C7-4C78-BCBD-DD15BA7C010A}" dt="2026-09-14T21:44:12.919" v="5686" actId="20577"/>
        <pc:sldMkLst>
          <pc:docMk/>
          <pc:sldMk cId="59298848" sldId="906"/>
        </pc:sldMkLst>
        <pc:spChg chg="mod">
          <ac:chgData name="Hannah Lybbert" userId="779b83d2-6690-4391-9b63-9fdf5eeb0b34" providerId="ADAL" clId="{8FB8B295-48C7-4C78-BCBD-DD15BA7C010A}" dt="2026-09-14T21:44:12.919" v="5686" actId="20577"/>
          <ac:spMkLst>
            <pc:docMk/>
            <pc:sldMk cId="59298848" sldId="906"/>
            <ac:spMk id="2" creationId="{57BFDB8E-A1AC-1E43-B128-9C688EE279E7}"/>
          </ac:spMkLst>
        </pc:spChg>
      </pc:sldChg>
      <pc:sldChg chg="modSp new mod">
        <pc:chgData name="Hannah Lybbert" userId="779b83d2-6690-4391-9b63-9fdf5eeb0b34" providerId="ADAL" clId="{8FB8B295-48C7-4C78-BCBD-DD15BA7C010A}" dt="2026-09-14T21:44:24.032" v="5697" actId="20577"/>
        <pc:sldMkLst>
          <pc:docMk/>
          <pc:sldMk cId="494917782" sldId="907"/>
        </pc:sldMkLst>
        <pc:spChg chg="mod">
          <ac:chgData name="Hannah Lybbert" userId="779b83d2-6690-4391-9b63-9fdf5eeb0b34" providerId="ADAL" clId="{8FB8B295-48C7-4C78-BCBD-DD15BA7C010A}" dt="2026-09-14T21:44:24.032" v="5697" actId="20577"/>
          <ac:spMkLst>
            <pc:docMk/>
            <pc:sldMk cId="494917782" sldId="907"/>
            <ac:spMk id="2" creationId="{3F355086-96E4-B9C1-C9F8-903E80E85A30}"/>
          </ac:spMkLst>
        </pc:spChg>
      </pc:sldChg>
      <pc:sldChg chg="modSp new mod">
        <pc:chgData name="Hannah Lybbert" userId="779b83d2-6690-4391-9b63-9fdf5eeb0b34" providerId="ADAL" clId="{8FB8B295-48C7-4C78-BCBD-DD15BA7C010A}" dt="2026-09-14T21:44:56.249" v="5796" actId="255"/>
        <pc:sldMkLst>
          <pc:docMk/>
          <pc:sldMk cId="538106873" sldId="908"/>
        </pc:sldMkLst>
        <pc:spChg chg="mod">
          <ac:chgData name="Hannah Lybbert" userId="779b83d2-6690-4391-9b63-9fdf5eeb0b34" providerId="ADAL" clId="{8FB8B295-48C7-4C78-BCBD-DD15BA7C010A}" dt="2026-09-14T21:44:56.249" v="5796" actId="255"/>
          <ac:spMkLst>
            <pc:docMk/>
            <pc:sldMk cId="538106873" sldId="908"/>
            <ac:spMk id="2" creationId="{2FF694C6-F165-22A0-B1A4-3C180A8BB56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ea typeface="+mn-ea"/>
              </a:defRPr>
            </a:lvl1pPr>
          </a:lstStyle>
          <a:p>
            <a:pPr>
              <a:defRPr/>
            </a:pPr>
            <a:endParaRPr lang="en-US"/>
          </a:p>
        </p:txBody>
      </p:sp>
      <p:sp>
        <p:nvSpPr>
          <p:cNvPr id="13414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ea typeface="+mn-ea"/>
              </a:defRPr>
            </a:lvl1pPr>
          </a:lstStyle>
          <a:p>
            <a:pPr>
              <a:defRPr/>
            </a:pPr>
            <a:endParaRPr lang="en-US"/>
          </a:p>
        </p:txBody>
      </p:sp>
      <p:sp>
        <p:nvSpPr>
          <p:cNvPr id="13414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ea typeface="+mn-ea"/>
              </a:defRPr>
            </a:lvl1pPr>
          </a:lstStyle>
          <a:p>
            <a:pPr>
              <a:defRPr/>
            </a:pPr>
            <a:endParaRPr lang="en-US"/>
          </a:p>
        </p:txBody>
      </p:sp>
      <p:sp>
        <p:nvSpPr>
          <p:cNvPr id="13414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4BD4B50F-6D6C-4153-96B4-599D6A22D603}"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ea typeface="+mn-ea"/>
              </a:defRPr>
            </a:lvl1pPr>
          </a:lstStyle>
          <a:p>
            <a:pPr>
              <a:defRPr/>
            </a:pPr>
            <a:endParaRPr lang="en-US"/>
          </a:p>
        </p:txBody>
      </p:sp>
      <p:sp>
        <p:nvSpPr>
          <p:cNvPr id="2457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ea typeface="+mn-ea"/>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58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ea typeface="+mn-ea"/>
              </a:defRPr>
            </a:lvl1pPr>
          </a:lstStyle>
          <a:p>
            <a:pPr>
              <a:defRPr/>
            </a:pPr>
            <a:endParaRPr lang="en-US"/>
          </a:p>
        </p:txBody>
      </p:sp>
      <p:sp>
        <p:nvSpPr>
          <p:cNvPr id="2458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508C09A8-6B70-4B1D-B4C0-DB8CBBA15DDB}"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www.aeaweb.org/articles?id=10.1257/0002828054825493" TargetMode="External"/><Relationship Id="rId2" Type="http://schemas.openxmlformats.org/officeDocument/2006/relationships/slide" Target="../slides/slide53.xml"/><Relationship Id="rId1" Type="http://schemas.openxmlformats.org/officeDocument/2006/relationships/notesMaster" Target="../notesMasters/notesMaster1.xml"/><Relationship Id="rId6" Type="http://schemas.openxmlformats.org/officeDocument/2006/relationships/hyperlink" Target="https://www.annualreviews.org/content/journals/10.1146/annurev-economics-051520-023322" TargetMode="External"/><Relationship Id="rId5" Type="http://schemas.openxmlformats.org/officeDocument/2006/relationships/hyperlink" Target="https://www.aeaweb.org/articles?id=10.1257/jep.30.3.141" TargetMode="External"/><Relationship Id="rId4" Type="http://schemas.openxmlformats.org/officeDocument/2006/relationships/hyperlink" Target="https://academic.oup.com/qje/article/131/4/1753/2468882" TargetMode="Externa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a:latin typeface="AGaramon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69622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784048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Other options: </a:t>
            </a:r>
          </a:p>
          <a:p>
            <a:pPr eaLnBrk="1" hangingPunct="1"/>
            <a:r>
              <a:rPr lang="en-US" altLang="en-US" dirty="0"/>
              <a:t>Psychology:</a:t>
            </a:r>
          </a:p>
          <a:p>
            <a:pPr marL="171450" marR="0" lvl="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Blekesaune</a:t>
            </a:r>
            <a:r>
              <a:rPr lang="en-US" sz="1800" dirty="0">
                <a:effectLst/>
                <a:latin typeface="Calibri" panose="020F0502020204030204" pitchFamily="34" charset="0"/>
                <a:ea typeface="Calibri" panose="020F0502020204030204" pitchFamily="34" charset="0"/>
                <a:cs typeface="Times New Roman" panose="02020603050405020304" pitchFamily="18" charset="0"/>
              </a:rPr>
              <a:t> et al. (2022) - Religiosity increases when people become parents</a:t>
            </a:r>
            <a:endParaRPr lang="en-US" altLang="en-US" dirty="0"/>
          </a:p>
          <a:p>
            <a:pPr marL="0" indent="0" eaLnBrk="1" hangingPunct="1">
              <a:buFont typeface="Arial" panose="020B0604020202020204" pitchFamily="34" charset="0"/>
              <a:buNone/>
            </a:pPr>
            <a:endParaRPr lang="en-US" altLang="en-US" dirty="0"/>
          </a:p>
          <a:p>
            <a:pPr marL="0" indent="0" eaLnBrk="1" hangingPunct="1">
              <a:buFont typeface="Arial" panose="020B0604020202020204" pitchFamily="34" charset="0"/>
              <a:buNone/>
            </a:pPr>
            <a:r>
              <a:rPr lang="en-US" altLang="en-US" dirty="0"/>
              <a:t>Economics: (labor supply and income, gender inequality, credit access, educational attainment, social services take up, crime)</a:t>
            </a:r>
          </a:p>
          <a:p>
            <a:pPr marL="171450" marR="0" lvl="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Lundberg (2000) – Birth of first child reduces mother’s wages and increases father’s wages</a:t>
            </a:r>
          </a:p>
          <a:p>
            <a:pPr marL="171450" marR="0" lvl="0" indent="-1714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800" dirty="0" err="1">
                <a:effectLst/>
                <a:latin typeface="Calibri" panose="020F0502020204030204" pitchFamily="34" charset="0"/>
                <a:ea typeface="Calibri" panose="020F0502020204030204" pitchFamily="34" charset="0"/>
                <a:cs typeface="Times New Roman" panose="02020603050405020304" pitchFamily="18" charset="0"/>
              </a:rPr>
              <a:t>Lundborg</a:t>
            </a:r>
            <a:r>
              <a:rPr lang="en-US" sz="1800" dirty="0">
                <a:effectLst/>
                <a:latin typeface="Calibri" panose="020F0502020204030204" pitchFamily="34" charset="0"/>
                <a:ea typeface="Calibri" panose="020F0502020204030204" pitchFamily="34" charset="0"/>
                <a:cs typeface="Times New Roman" panose="02020603050405020304" pitchFamily="18" charset="0"/>
              </a:rPr>
              <a:t> et al. (2017) – Motherhood causes large, long-lasting drops in annual earnings</a:t>
            </a:r>
          </a:p>
          <a:p>
            <a:pPr marL="171450" indent="-171450" eaLnBrk="1" hangingPunct="1">
              <a:buFont typeface="Arial" panose="020B0604020202020204" pitchFamily="34" charset="0"/>
              <a:buChar char="•"/>
            </a:pPr>
            <a:r>
              <a:rPr lang="en-US" altLang="en-US" dirty="0"/>
              <a:t>Adda (2017) – </a:t>
            </a:r>
          </a:p>
          <a:p>
            <a:pPr marL="628650" lvl="1" indent="-171450" eaLnBrk="1" hangingPunct="1">
              <a:buFont typeface="Arial" panose="020B0604020202020204" pitchFamily="34" charset="0"/>
              <a:buChar char="•"/>
            </a:pPr>
            <a:r>
              <a:rPr lang="en-US" altLang="en-US" dirty="0"/>
              <a:t>LR effects of policies encouraging birth are smaller than SR estimates suggest</a:t>
            </a:r>
          </a:p>
          <a:p>
            <a:pPr marL="628650" lvl="1" indent="-171450" eaLnBrk="1" hangingPunct="1">
              <a:buFont typeface="Arial" panose="020B0604020202020204" pitchFamily="34" charset="0"/>
              <a:buChar char="•"/>
            </a:pPr>
            <a:r>
              <a:rPr lang="en-US" altLang="en-US" dirty="0"/>
              <a:t>Earning penalty from children driven by reduced labor supply and selection into child-compatible occupations</a:t>
            </a:r>
          </a:p>
          <a:p>
            <a:pPr marL="171450" lvl="0" indent="-171450" eaLnBrk="1" hangingPunct="1">
              <a:buFont typeface="Arial" panose="020B0604020202020204" pitchFamily="34" charset="0"/>
              <a:buChar char="•"/>
            </a:pPr>
            <a:r>
              <a:rPr lang="en-US" altLang="en-US" dirty="0" err="1"/>
              <a:t>Angelov</a:t>
            </a:r>
            <a:r>
              <a:rPr lang="en-US" altLang="en-US" dirty="0"/>
              <a:t> (2016) – Income wage gaps have long term effects (32pp increase 15 years after first child birth)</a:t>
            </a:r>
          </a:p>
          <a:p>
            <a:pPr marL="171450" lvl="0" indent="-171450" eaLnBrk="1" hangingPunct="1">
              <a:buFont typeface="Arial" panose="020B0604020202020204" pitchFamily="34" charset="0"/>
              <a:buChar char="•"/>
            </a:pPr>
            <a:r>
              <a:rPr lang="en-US" altLang="en-US" dirty="0"/>
              <a:t>Miller et al. (2023) – Women denied abortions experience persistent financial distress</a:t>
            </a:r>
          </a:p>
          <a:p>
            <a:pPr marL="171450" lvl="0" indent="-171450" eaLnBrk="1" hangingPunct="1">
              <a:buFont typeface="Arial" panose="020B0604020202020204" pitchFamily="34" charset="0"/>
              <a:buChar char="•"/>
            </a:pPr>
            <a:r>
              <a:rPr lang="en-US" altLang="en-US" dirty="0" err="1"/>
              <a:t>Hotz</a:t>
            </a:r>
            <a:r>
              <a:rPr lang="en-US" altLang="en-US" dirty="0"/>
              <a:t> et al. (1997) – Teen mothers earn and work more in later years than if childbearing had been delayed </a:t>
            </a:r>
          </a:p>
          <a:p>
            <a:pPr marL="171450" lvl="0" indent="-171450" eaLnBrk="1" hangingPunct="1">
              <a:buFont typeface="Arial" panose="020B0604020202020204" pitchFamily="34" charset="0"/>
              <a:buChar char="•"/>
            </a:pPr>
            <a:r>
              <a:rPr lang="en-US" altLang="en-US" dirty="0" err="1"/>
              <a:t>Eichmeyer</a:t>
            </a:r>
            <a:r>
              <a:rPr lang="en-US" altLang="en-US" dirty="0"/>
              <a:t> and Kent (2022) – Social services usage rises after having a child</a:t>
            </a:r>
          </a:p>
          <a:p>
            <a:pPr marL="0" lvl="0" indent="0" eaLnBrk="1" hangingPunct="1">
              <a:buFont typeface="Arial" panose="020B0604020202020204" pitchFamily="34" charset="0"/>
              <a:buNone/>
            </a:pPr>
            <a:endParaRPr lang="en-US" altLang="en-US" dirty="0"/>
          </a:p>
          <a:p>
            <a:pPr marL="0" lvl="0" indent="0" eaLnBrk="1" hangingPunct="1">
              <a:buFont typeface="Arial" panose="020B0604020202020204" pitchFamily="34" charset="0"/>
              <a:buNone/>
            </a:pPr>
            <a:endParaRPr lang="en-US" altLang="en-US" dirty="0"/>
          </a:p>
          <a:p>
            <a:pPr marL="0" marR="0" lvl="0" indent="0" algn="l" defTabSz="914400" rtl="0" eaLnBrk="1" fontAlgn="base" latinLnBrk="0" hangingPunct="1">
              <a:lnSpc>
                <a:spcPct val="100000"/>
              </a:lnSpc>
              <a:spcBef>
                <a:spcPct val="30000"/>
              </a:spcBef>
              <a:spcAft>
                <a:spcPct val="0"/>
              </a:spcAft>
              <a:buClrTx/>
              <a:buSzTx/>
              <a:buFont typeface="Arial" panose="020B0604020202020204" pitchFamily="34" charset="0"/>
              <a:buNone/>
              <a:tabLst/>
              <a:defRPr/>
            </a:pPr>
            <a:r>
              <a:rPr lang="en-US" dirty="0">
                <a:latin typeface="Cambria" pitchFamily="18" charset="0"/>
                <a:ea typeface="ＭＳ Ｐゴシック" pitchFamily="34" charset="-128"/>
              </a:rPr>
              <a:t>Religiosity, </a:t>
            </a:r>
            <a:r>
              <a:rPr lang="en-US" dirty="0">
                <a:highlight>
                  <a:srgbClr val="FFFF00"/>
                </a:highlight>
                <a:latin typeface="Cambria" pitchFamily="18" charset="0"/>
                <a:ea typeface="ＭＳ Ｐゴシック" pitchFamily="34" charset="-128"/>
              </a:rPr>
              <a:t>voting, alcohol consumption, risk preferences, etc. (papers)? </a:t>
            </a:r>
          </a:p>
          <a:p>
            <a:pPr marL="0" lvl="0" indent="0" eaLnBrk="1" hangingPunct="1">
              <a:buFont typeface="Arial" panose="020B0604020202020204" pitchFamily="34" charset="0"/>
              <a:buNone/>
            </a:pPr>
            <a:endParaRPr lang="en-US" altLang="en-US" dirty="0"/>
          </a:p>
        </p:txBody>
      </p:sp>
    </p:spTree>
    <p:extLst>
      <p:ext uri="{BB962C8B-B14F-4D97-AF65-F5344CB8AC3E}">
        <p14:creationId xmlns:p14="http://schemas.microsoft.com/office/powerpoint/2010/main" val="3298474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0321688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7324616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7104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299416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00516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Do you want more of a breakdown of HOW we got these data? Or do you just want to talk through it?</a:t>
            </a:r>
          </a:p>
          <a:p>
            <a:pPr eaLnBrk="1" hangingPunct="1"/>
            <a:endParaRPr lang="en-US" altLang="en-US" dirty="0"/>
          </a:p>
          <a:p>
            <a:pPr marL="228600" indent="-228600" eaLnBrk="1" hangingPunct="1">
              <a:buAutoNum type="arabicPeriod"/>
            </a:pPr>
            <a:r>
              <a:rPr lang="en-US" altLang="en-US" dirty="0"/>
              <a:t>Twitter API pull aided by LLM to pull on certain criteria</a:t>
            </a:r>
          </a:p>
          <a:p>
            <a:pPr marL="228600" indent="-228600" eaLnBrk="1" hangingPunct="1">
              <a:buAutoNum type="arabicPeriod"/>
            </a:pPr>
            <a:r>
              <a:rPr lang="en-US" altLang="en-US" dirty="0"/>
              <a:t>Hand coders came in an whittled it down a bunch</a:t>
            </a:r>
          </a:p>
          <a:p>
            <a:pPr marL="228600" indent="-228600" eaLnBrk="1" hangingPunct="1">
              <a:buAutoNum type="arabicPeriod"/>
            </a:pPr>
            <a:r>
              <a:rPr lang="en-US" altLang="en-US" dirty="0"/>
              <a:t>Restricted to the announcement having been within 2 weeks pre/post birth </a:t>
            </a:r>
          </a:p>
          <a:p>
            <a:pPr marL="228600" indent="-228600" eaLnBrk="1" hangingPunct="1">
              <a:buAutoNum type="arabicPeriod"/>
            </a:pPr>
            <a:r>
              <a:rPr lang="en-US" altLang="en-US" dirty="0"/>
              <a:t>Account must have been created at least 18 months pre birth to ensure full possible pre trend data</a:t>
            </a:r>
          </a:p>
          <a:p>
            <a:pPr marL="228600" indent="-228600" eaLnBrk="1" hangingPunct="1">
              <a:buAutoNum type="arabicPeriod"/>
            </a:pPr>
            <a:endParaRPr lang="en-US" altLang="en-US" dirty="0"/>
          </a:p>
          <a:p>
            <a:pPr marL="0" indent="0" eaLnBrk="1" hangingPunct="1">
              <a:buNone/>
            </a:pPr>
            <a:r>
              <a:rPr lang="en-US" altLang="en-US" dirty="0"/>
              <a:t>Note: I don’t include on here that we actually trim at the 95</a:t>
            </a:r>
            <a:r>
              <a:rPr lang="en-US" altLang="en-US" baseline="30000" dirty="0"/>
              <a:t>th</a:t>
            </a:r>
            <a:r>
              <a:rPr lang="en-US" altLang="en-US" dirty="0"/>
              <a:t> percentile, that gets our </a:t>
            </a:r>
            <a:r>
              <a:rPr lang="en-US" altLang="en-US" b="1" dirty="0"/>
              <a:t>actual </a:t>
            </a:r>
            <a:r>
              <a:rPr lang="en-US" altLang="en-US" b="0" dirty="0"/>
              <a:t>sample down to 6,969. I can make that adjustment easy if you’d like! (would also need to change the number on slide 8)</a:t>
            </a:r>
            <a:endParaRPr lang="en-US" altLang="en-US" dirty="0"/>
          </a:p>
        </p:txBody>
      </p:sp>
    </p:spTree>
    <p:extLst>
      <p:ext uri="{BB962C8B-B14F-4D97-AF65-F5344CB8AC3E}">
        <p14:creationId xmlns:p14="http://schemas.microsoft.com/office/powerpoint/2010/main" val="3034905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807725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07284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If you want different colors, let me know. It’s an easy fix!</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dirty="0"/>
              <a:t>Note: we exclude “unknown” gender from this plot, just the male/female split. If you want unknown as well I can add that in!</a:t>
            </a:r>
          </a:p>
          <a:p>
            <a:pPr eaLnBrk="1" hangingPunct="1"/>
            <a:endParaRPr lang="en-US" altLang="en-US" dirty="0"/>
          </a:p>
        </p:txBody>
      </p:sp>
    </p:spTree>
    <p:extLst>
      <p:ext uri="{BB962C8B-B14F-4D97-AF65-F5344CB8AC3E}">
        <p14:creationId xmlns:p14="http://schemas.microsoft.com/office/powerpoint/2010/main" val="38624955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2573303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Negative = pre birth, positive = post birth</a:t>
            </a:r>
          </a:p>
          <a:p>
            <a:pPr eaLnBrk="1" hangingPunct="1"/>
            <a:endParaRPr lang="en-US" altLang="en-US" dirty="0"/>
          </a:p>
        </p:txBody>
      </p:sp>
    </p:spTree>
    <p:extLst>
      <p:ext uri="{BB962C8B-B14F-4D97-AF65-F5344CB8AC3E}">
        <p14:creationId xmlns:p14="http://schemas.microsoft.com/office/powerpoint/2010/main" val="2903062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984051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err="1"/>
              <a:t>Lulic</a:t>
            </a:r>
            <a:r>
              <a:rPr lang="en-US" dirty="0"/>
              <a:t>, Ileana &amp; </a:t>
            </a:r>
            <a:r>
              <a:rPr lang="en-US" dirty="0" err="1"/>
              <a:t>Kovic</a:t>
            </a:r>
            <a:r>
              <a:rPr lang="en-US" dirty="0"/>
              <a:t>, Ivor. (2012). Analysis of emergency physicians' Twitter accounts. Emergency medicine journal : EMJ. 30. 10.1136/emermed-2012-201132.</a:t>
            </a:r>
          </a:p>
          <a:p>
            <a:pPr eaLnBrk="1" hangingPunct="1"/>
            <a:endParaRPr lang="en-US" altLang="en-US" dirty="0"/>
          </a:p>
        </p:txBody>
      </p:sp>
    </p:spTree>
    <p:extLst>
      <p:ext uri="{BB962C8B-B14F-4D97-AF65-F5344CB8AC3E}">
        <p14:creationId xmlns:p14="http://schemas.microsoft.com/office/powerpoint/2010/main" val="1351997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dirty="0"/>
              <a:t>Ben Shapiro is the one with 7.7M followers</a:t>
            </a:r>
          </a:p>
          <a:p>
            <a:pPr eaLnBrk="1" hangingPunct="1"/>
            <a:endParaRPr lang="en-US" altLang="en-US" dirty="0"/>
          </a:p>
        </p:txBody>
      </p:sp>
    </p:spTree>
    <p:extLst>
      <p:ext uri="{BB962C8B-B14F-4D97-AF65-F5344CB8AC3E}">
        <p14:creationId xmlns:p14="http://schemas.microsoft.com/office/powerpoint/2010/main" val="18486913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25140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You had said to lump into a 2000 bin but that created a super sharp right tail. Cut at 5000 instead but can easily swap back. Also note the figure is just original and quote tweets (not </a:t>
            </a:r>
            <a:r>
              <a:rPr lang="en-US" altLang="en-US" dirty="0" err="1"/>
              <a:t>retweet+reply</a:t>
            </a:r>
            <a:r>
              <a:rPr lang="en-US" altLang="en-US" dirty="0"/>
              <a:t> because that would decrease our sample so I kept it just </a:t>
            </a:r>
            <a:r>
              <a:rPr lang="en-US" altLang="en-US" dirty="0" err="1"/>
              <a:t>og_qt</a:t>
            </a:r>
            <a:r>
              <a:rPr lang="en-US" altLang="en-US" dirty="0"/>
              <a:t> as you suggested)</a:t>
            </a:r>
          </a:p>
        </p:txBody>
      </p:sp>
    </p:spTree>
    <p:extLst>
      <p:ext uri="{BB962C8B-B14F-4D97-AF65-F5344CB8AC3E}">
        <p14:creationId xmlns:p14="http://schemas.microsoft.com/office/powerpoint/2010/main" val="21396158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Note: I lump this one at 2000 instead of 5000 just because It would have been a longer tail if I kept it at 5000. If you’d rather it be at 5000, the image is on the right</a:t>
            </a:r>
          </a:p>
        </p:txBody>
      </p:sp>
    </p:spTree>
    <p:extLst>
      <p:ext uri="{BB962C8B-B14F-4D97-AF65-F5344CB8AC3E}">
        <p14:creationId xmlns:p14="http://schemas.microsoft.com/office/powerpoint/2010/main" val="9591836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How I computed the decrease: </a:t>
            </a:r>
          </a:p>
          <a:p>
            <a:pPr eaLnBrk="1" hangingPunct="1"/>
            <a:r>
              <a:rPr lang="en-US" altLang="en-US" dirty="0"/>
              <a:t>1.85-2.65 = -0.8</a:t>
            </a:r>
          </a:p>
          <a:p>
            <a:pPr eaLnBrk="1" hangingPunct="1"/>
            <a:r>
              <a:rPr lang="en-US" altLang="en-US" dirty="0"/>
              <a:t>E^(-0.8) = 0.415 (new level is ~41.5% of old level)</a:t>
            </a:r>
          </a:p>
          <a:p>
            <a:pPr eaLnBrk="1" hangingPunct="1"/>
            <a:r>
              <a:rPr lang="en-US" altLang="en-US" dirty="0">
                <a:sym typeface="Wingdings" panose="05000000000000000000" pitchFamily="2" charset="2"/>
              </a:rPr>
              <a:t> 58.5% decrease</a:t>
            </a:r>
            <a:endParaRPr lang="en-US" altLang="en-US" dirty="0"/>
          </a:p>
        </p:txBody>
      </p:sp>
    </p:spTree>
    <p:extLst>
      <p:ext uri="{BB962C8B-B14F-4D97-AF65-F5344CB8AC3E}">
        <p14:creationId xmlns:p14="http://schemas.microsoft.com/office/powerpoint/2010/main" val="3603575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960861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58792428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2138334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latin typeface="Cambria" pitchFamily="18" charset="0"/>
                <a:ea typeface="ＭＳ Ｐゴシック" pitchFamily="34" charset="-128"/>
              </a:rPr>
              <a:t>NLP = natural language processing</a:t>
            </a:r>
          </a:p>
          <a:p>
            <a:pPr eaLnBrk="1" hangingPunct="1"/>
            <a:r>
              <a:rPr lang="en-US" dirty="0" err="1">
                <a:latin typeface="Cambria" pitchFamily="18" charset="0"/>
                <a:ea typeface="ＭＳ Ｐゴシック" pitchFamily="34" charset="-128"/>
              </a:rPr>
              <a:t>RoBERTa</a:t>
            </a:r>
            <a:r>
              <a:rPr lang="en-US" dirty="0">
                <a:latin typeface="Cambria" pitchFamily="18" charset="0"/>
                <a:ea typeface="ＭＳ Ｐゴシック" pitchFamily="34" charset="-128"/>
              </a:rPr>
              <a:t> = robustly optimized BERT Pretraining Approach</a:t>
            </a:r>
          </a:p>
          <a:p>
            <a:pPr marL="171450" indent="-171450" eaLnBrk="1" hangingPunct="1">
              <a:buFontTx/>
              <a:buChar char="-"/>
            </a:pPr>
            <a:r>
              <a:rPr lang="en-US" dirty="0">
                <a:latin typeface="Cambria" pitchFamily="18" charset="0"/>
                <a:ea typeface="ＭＳ Ｐゴシック" pitchFamily="34" charset="-128"/>
              </a:rPr>
              <a:t>BERT = bidirectional encoder representations from transformers.</a:t>
            </a:r>
          </a:p>
          <a:p>
            <a:pPr marL="628650" lvl="1" indent="-171450" eaLnBrk="1" hangingPunct="1">
              <a:buFontTx/>
              <a:buChar char="-"/>
            </a:pPr>
            <a:r>
              <a:rPr lang="en-US" dirty="0">
                <a:latin typeface="Cambria" pitchFamily="18" charset="0"/>
                <a:ea typeface="ＭＳ Ｐゴシック" pitchFamily="34" charset="-128"/>
              </a:rPr>
              <a:t>Open source transformer-based language model</a:t>
            </a:r>
          </a:p>
          <a:p>
            <a:pPr marL="628650" lvl="1" indent="-171450" eaLnBrk="1" hangingPunct="1">
              <a:buFontTx/>
              <a:buChar char="-"/>
            </a:pPr>
            <a:r>
              <a:rPr lang="en-US" dirty="0">
                <a:latin typeface="Cambria" pitchFamily="18" charset="0"/>
                <a:ea typeface="ＭＳ Ｐゴシック" pitchFamily="34" charset="-128"/>
              </a:rPr>
              <a:t>Pretty much an approach that allows contextualized understanding of words for natural language processing</a:t>
            </a:r>
          </a:p>
          <a:p>
            <a:pPr eaLnBrk="1" hangingPunct="1"/>
            <a:endParaRPr lang="en-US" altLang="en-US" sz="1200" b="0" dirty="0">
              <a:solidFill>
                <a:schemeClr val="accent4">
                  <a:lumMod val="95000"/>
                  <a:lumOff val="5000"/>
                </a:schemeClr>
              </a:solidFill>
              <a:latin typeface="Cambria" pitchFamily="18" charset="0"/>
              <a:ea typeface="ＭＳ Ｐゴシック" pitchFamily="34" charset="-128"/>
            </a:endParaRPr>
          </a:p>
          <a:p>
            <a:pPr eaLnBrk="1" hangingPunct="1"/>
            <a:r>
              <a:rPr lang="en-US" altLang="en-US" sz="1200" b="0" dirty="0">
                <a:solidFill>
                  <a:schemeClr val="accent4">
                    <a:lumMod val="95000"/>
                    <a:lumOff val="5000"/>
                  </a:schemeClr>
                </a:solidFill>
                <a:latin typeface="Helvetica" panose="020B0604020202020204" pitchFamily="34" charset="0"/>
              </a:rPr>
              <a:t>Method:</a:t>
            </a:r>
          </a:p>
          <a:p>
            <a:pPr marL="285750" indent="-285750">
              <a:buFont typeface="Arial" panose="020B0604020202020204" pitchFamily="34" charset="0"/>
              <a:buChar char="•"/>
            </a:pPr>
            <a:r>
              <a:rPr lang="en-US" sz="1800" dirty="0">
                <a:solidFill>
                  <a:srgbClr val="CCCCCC"/>
                </a:solidFill>
                <a:effectLst/>
                <a:latin typeface="Cascadia Mono" panose="020B0609020000020004" pitchFamily="49" charset="0"/>
              </a:rPr>
              <a:t>Remove birth announcement tweet + any family-related tweets (prevents the model from "cheating")</a:t>
            </a:r>
            <a:endParaRPr lang="en-US" sz="1800" dirty="0">
              <a:effectLst/>
              <a:latin typeface="Cascadia Mono" panose="020B0609020000020004" pitchFamily="49" charset="0"/>
            </a:endParaRPr>
          </a:p>
          <a:p>
            <a:pPr marL="285750" marR="0" lvl="0" indent="-285750" algn="l" defTabSz="914400" rtl="0" eaLnBrk="1" fontAlgn="base" latinLnBrk="0" hangingPunct="1">
              <a:lnSpc>
                <a:spcPct val="100000"/>
              </a:lnSpc>
              <a:spcBef>
                <a:spcPct val="30000"/>
              </a:spcBef>
              <a:spcAft>
                <a:spcPct val="0"/>
              </a:spcAft>
              <a:buClrTx/>
              <a:buSzTx/>
              <a:buFont typeface="Arial" panose="020B0604020202020204" pitchFamily="34" charset="0"/>
              <a:buChar char="•"/>
              <a:tabLst/>
              <a:defRPr/>
            </a:pPr>
            <a:r>
              <a:rPr lang="en-US" sz="1800" dirty="0">
                <a:solidFill>
                  <a:srgbClr val="CCCCCC"/>
                </a:solidFill>
                <a:effectLst/>
                <a:latin typeface="Cascadia Mono" panose="020B0609020000020004" pitchFamily="49" charset="0"/>
              </a:rPr>
              <a:t>Strip year numbers from text (prevents using the calendar as a shortcut)</a:t>
            </a:r>
            <a:endParaRPr lang="en-US" altLang="en-US" sz="1200" b="0" dirty="0">
              <a:solidFill>
                <a:schemeClr val="accent4">
                  <a:lumMod val="95000"/>
                  <a:lumOff val="5000"/>
                </a:schemeClr>
              </a:solidFill>
              <a:latin typeface="Helvetica" panose="020B0604020202020204" pitchFamily="34" charset="0"/>
            </a:endParaRPr>
          </a:p>
          <a:p>
            <a:pPr eaLnBrk="1" hangingPunct="1"/>
            <a:endParaRPr lang="en-US" altLang="en-US" sz="1200" b="0" dirty="0">
              <a:solidFill>
                <a:schemeClr val="accent4">
                  <a:lumMod val="95000"/>
                  <a:lumOff val="5000"/>
                </a:schemeClr>
              </a:solidFill>
              <a:latin typeface="Helvetica" panose="020B0604020202020204" pitchFamily="34" charset="0"/>
            </a:endParaRPr>
          </a:p>
          <a:p>
            <a:pPr eaLnBrk="1" hangingPunct="1"/>
            <a:r>
              <a:rPr lang="en-US" altLang="en-US" sz="1200" b="0" dirty="0">
                <a:solidFill>
                  <a:schemeClr val="accent4">
                    <a:lumMod val="95000"/>
                    <a:lumOff val="5000"/>
                  </a:schemeClr>
                </a:solidFill>
                <a:latin typeface="Helvetica" panose="020B0604020202020204" pitchFamily="34" charset="0"/>
              </a:rPr>
              <a:t>“family related” = probability the tweet was a family tweet was &gt;20%</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en-US" sz="1200" b="0" dirty="0">
                <a:solidFill>
                  <a:schemeClr val="accent4">
                    <a:lumMod val="95000"/>
                    <a:lumOff val="5000"/>
                  </a:schemeClr>
                </a:solidFill>
                <a:latin typeface="Helvetica" panose="020B0604020202020204" pitchFamily="34" charset="0"/>
              </a:rPr>
              <a:t>TF-IDF vectorization = </a:t>
            </a:r>
            <a:r>
              <a:rPr lang="en-US" sz="1800" dirty="0">
                <a:solidFill>
                  <a:srgbClr val="CCCCCC"/>
                </a:solidFill>
                <a:effectLst/>
                <a:latin typeface="Cascadia Mono" panose="020B0609020000020004" pitchFamily="49" charset="0"/>
              </a:rPr>
              <a:t>essentially a scoring system that measures how uniquely important</a:t>
            </a:r>
            <a:br>
              <a:rPr lang="en-US" sz="1800" dirty="0">
                <a:effectLst/>
                <a:latin typeface="Cascadia Mono" panose="020B0609020000020004" pitchFamily="49" charset="0"/>
              </a:rPr>
            </a:br>
            <a:r>
              <a:rPr lang="en-US" sz="1800" dirty="0">
                <a:solidFill>
                  <a:srgbClr val="CCCCCC"/>
                </a:solidFill>
                <a:effectLst/>
                <a:latin typeface="Cascadia Mono" panose="020B0609020000020004" pitchFamily="49" charset="0"/>
              </a:rPr>
              <a:t>each word or two-word phrase is to a given person's pre/post period.</a:t>
            </a:r>
            <a:endParaRPr lang="en-US" sz="1800" dirty="0">
              <a:effectLst/>
              <a:latin typeface="Cascadia Mono" panose="020B0609020000020004" pitchFamily="49" charset="0"/>
            </a:endParaRPr>
          </a:p>
          <a:p>
            <a:pPr eaLnBrk="1" hangingPunct="1"/>
            <a:endParaRPr lang="en-US" altLang="en-US" b="0" dirty="0"/>
          </a:p>
        </p:txBody>
      </p:sp>
    </p:spTree>
    <p:extLst>
      <p:ext uri="{BB962C8B-B14F-4D97-AF65-F5344CB8AC3E}">
        <p14:creationId xmlns:p14="http://schemas.microsoft.com/office/powerpoint/2010/main" val="31184154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Pie is top 5 categories + family and then all other categories are grouped into “other”</a:t>
            </a:r>
          </a:p>
        </p:txBody>
      </p:sp>
    </p:spTree>
    <p:extLst>
      <p:ext uri="{BB962C8B-B14F-4D97-AF65-F5344CB8AC3E}">
        <p14:creationId xmlns:p14="http://schemas.microsoft.com/office/powerpoint/2010/main" val="16123723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Tweets per account per month not pre post</a:t>
            </a:r>
          </a:p>
          <a:p>
            <a:pPr eaLnBrk="1" hangingPunct="1"/>
            <a:endParaRPr lang="en-US" altLang="en-US" dirty="0"/>
          </a:p>
          <a:p>
            <a:pPr eaLnBrk="1" hangingPunct="1"/>
            <a:r>
              <a:rPr lang="en-US" altLang="en-US" dirty="0"/>
              <a:t>Average probability of tweets being assigned to a given topic </a:t>
            </a:r>
          </a:p>
        </p:txBody>
      </p:sp>
    </p:spTree>
    <p:extLst>
      <p:ext uri="{BB962C8B-B14F-4D97-AF65-F5344CB8AC3E}">
        <p14:creationId xmlns:p14="http://schemas.microsoft.com/office/powerpoint/2010/main" val="25530922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8697115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9650473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6595749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b="0" dirty="0"/>
          </a:p>
        </p:txBody>
      </p:sp>
    </p:spTree>
    <p:extLst>
      <p:ext uri="{BB962C8B-B14F-4D97-AF65-F5344CB8AC3E}">
        <p14:creationId xmlns:p14="http://schemas.microsoft.com/office/powerpoint/2010/main" val="15510277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&gt;= 0.99 sentiment score</a:t>
            </a:r>
          </a:p>
        </p:txBody>
      </p:sp>
    </p:spTree>
    <p:extLst>
      <p:ext uri="{BB962C8B-B14F-4D97-AF65-F5344CB8AC3E}">
        <p14:creationId xmlns:p14="http://schemas.microsoft.com/office/powerpoint/2010/main" val="9725478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&gt;= 0.99 sentiment score</a:t>
            </a:r>
          </a:p>
        </p:txBody>
      </p:sp>
    </p:spTree>
    <p:extLst>
      <p:ext uri="{BB962C8B-B14F-4D97-AF65-F5344CB8AC3E}">
        <p14:creationId xmlns:p14="http://schemas.microsoft.com/office/powerpoint/2010/main" val="26961619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32272714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Colors are a little hard to see the difference, could change but that would change the </a:t>
            </a:r>
            <a:r>
              <a:rPr lang="en-US" altLang="en-US" dirty="0" err="1"/>
              <a:t>prepost</a:t>
            </a:r>
            <a:r>
              <a:rPr lang="en-US" altLang="en-US" dirty="0"/>
              <a:t> figures for all the other bar charts!</a:t>
            </a:r>
          </a:p>
        </p:txBody>
      </p:sp>
    </p:spTree>
    <p:extLst>
      <p:ext uri="{BB962C8B-B14F-4D97-AF65-F5344CB8AC3E}">
        <p14:creationId xmlns:p14="http://schemas.microsoft.com/office/powerpoint/2010/main" val="15852330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7690533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2565769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4010517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r>
              <a:rPr lang="en-US" altLang="en-US" dirty="0"/>
              <a:t>From Reddit data, collected all posts posted to 13 birth/pregnancy related subreddits </a:t>
            </a:r>
          </a:p>
          <a:p>
            <a:pPr marL="228600" indent="-228600" eaLnBrk="1" hangingPunct="1">
              <a:buAutoNum type="arabicPeriod"/>
            </a:pPr>
            <a:r>
              <a:rPr lang="en-US" altLang="en-US" dirty="0"/>
              <a:t>Ran all of those posts through Open AI models to classify each post as a “birth post” or not. </a:t>
            </a:r>
          </a:p>
          <a:p>
            <a:pPr marL="685800" lvl="1" indent="-228600" eaLnBrk="1" hangingPunct="1">
              <a:buAutoNum type="arabicPeriod"/>
            </a:pPr>
            <a:r>
              <a:rPr lang="en-US" altLang="en-US" dirty="0"/>
              <a:t>Double run process: GPT-4o-mini model to initially classify and whittle down sample, then ran positive birth instances through GPT-4o model to get more precision</a:t>
            </a:r>
          </a:p>
          <a:p>
            <a:pPr marL="1143000" lvl="2" indent="-228600" eaLnBrk="1" hangingPunct="1">
              <a:buAutoNum type="arabicPeriod"/>
            </a:pPr>
            <a:r>
              <a:rPr lang="en-US" altLang="en-US" dirty="0"/>
              <a:t>Must have explicit timing indicators (ex. 39+2, 1 week PP, “in labor”, “induced today”</a:t>
            </a:r>
          </a:p>
          <a:p>
            <a:pPr marL="1143000" lvl="2" indent="-228600" eaLnBrk="1" hangingPunct="1">
              <a:buAutoNum type="arabicPeriod"/>
            </a:pPr>
            <a:r>
              <a:rPr lang="en-US" altLang="en-US" dirty="0"/>
              <a:t>days from birth (based on timing indicators, and only -28 to 28 range)</a:t>
            </a:r>
          </a:p>
          <a:p>
            <a:pPr marL="1143000" lvl="2" indent="-228600" eaLnBrk="1" hangingPunct="1">
              <a:buAutoNum type="arabicPeriod"/>
            </a:pPr>
            <a:r>
              <a:rPr lang="en-US" altLang="en-US" dirty="0"/>
              <a:t>Gender probability (0-100 probability the poster is male/female)</a:t>
            </a:r>
          </a:p>
          <a:p>
            <a:pPr marL="685800" lvl="1" indent="-228600" eaLnBrk="1" hangingPunct="1">
              <a:buAutoNum type="arabicPeriod"/>
            </a:pPr>
            <a:r>
              <a:rPr lang="en-US" altLang="en-US" dirty="0"/>
              <a:t>Note: we have not used hand coders here, but based on hand checking a sample of 100 positive instances, 94% are confirmed true positives </a:t>
            </a:r>
            <a:r>
              <a:rPr lang="en-US" altLang="en-US" dirty="0">
                <a:sym typeface="Wingdings" panose="05000000000000000000" pitchFamily="2" charset="2"/>
              </a:rPr>
              <a:t> high precision classifier</a:t>
            </a:r>
          </a:p>
          <a:p>
            <a:pPr marL="228600" lvl="0" indent="-228600" eaLnBrk="1" hangingPunct="1">
              <a:buAutoNum type="arabicPeriod"/>
            </a:pPr>
            <a:r>
              <a:rPr lang="en-US" altLang="en-US" dirty="0">
                <a:sym typeface="Wingdings" panose="05000000000000000000" pitchFamily="2" charset="2"/>
              </a:rPr>
              <a:t>Restricted DOB to be before July 1, 2023 to ensure 18 months of potential post birth posting history (to avoid inevitable drop off if birth was at the end of the sample), and trimmed lifetime posters with &gt;99</a:t>
            </a:r>
            <a:r>
              <a:rPr lang="en-US" altLang="en-US" baseline="30000" dirty="0">
                <a:sym typeface="Wingdings" panose="05000000000000000000" pitchFamily="2" charset="2"/>
              </a:rPr>
              <a:t>th</a:t>
            </a:r>
            <a:r>
              <a:rPr lang="en-US" altLang="en-US" dirty="0">
                <a:sym typeface="Wingdings" panose="05000000000000000000" pitchFamily="2" charset="2"/>
              </a:rPr>
              <a:t> percentile</a:t>
            </a:r>
          </a:p>
          <a:p>
            <a:pPr marL="685800" lvl="1" indent="-228600" eaLnBrk="1" hangingPunct="1">
              <a:buAutoNum type="arabicPeriod"/>
            </a:pPr>
            <a:r>
              <a:rPr lang="en-US" altLang="en-US" dirty="0">
                <a:sym typeface="Wingdings" panose="05000000000000000000" pitchFamily="2" charset="2"/>
              </a:rPr>
              <a:t>Note: We didn’t trim at the 95</a:t>
            </a:r>
            <a:r>
              <a:rPr lang="en-US" altLang="en-US" baseline="30000" dirty="0">
                <a:sym typeface="Wingdings" panose="05000000000000000000" pitchFamily="2" charset="2"/>
              </a:rPr>
              <a:t>th</a:t>
            </a:r>
            <a:r>
              <a:rPr lang="en-US" altLang="en-US" dirty="0">
                <a:sym typeface="Wingdings" panose="05000000000000000000" pitchFamily="2" charset="2"/>
              </a:rPr>
              <a:t> percentile because most of our sample accounts were legitimate as they passed through a pretty rigorous LLM classification process, but there will still a couple of outliers remaining so trimmed at 99</a:t>
            </a:r>
            <a:r>
              <a:rPr lang="en-US" altLang="en-US" baseline="30000" dirty="0">
                <a:sym typeface="Wingdings" panose="05000000000000000000" pitchFamily="2" charset="2"/>
              </a:rPr>
              <a:t>th</a:t>
            </a:r>
            <a:r>
              <a:rPr lang="en-US" altLang="en-US" dirty="0">
                <a:sym typeface="Wingdings" panose="05000000000000000000" pitchFamily="2" charset="2"/>
              </a:rPr>
              <a:t> </a:t>
            </a:r>
          </a:p>
          <a:p>
            <a:pPr marL="228600" lvl="0" indent="-228600" eaLnBrk="1" hangingPunct="1">
              <a:buAutoNum type="arabicPeriod"/>
            </a:pPr>
            <a:r>
              <a:rPr lang="en-US" altLang="en-US" dirty="0">
                <a:sym typeface="Wingdings" panose="05000000000000000000" pitchFamily="2" charset="2"/>
              </a:rPr>
              <a:t>Restricted to accounts who posted at least 18 months before birth so we have a full pre sample period. </a:t>
            </a:r>
          </a:p>
          <a:p>
            <a:pPr marL="685800" lvl="1" indent="-228600" eaLnBrk="1" hangingPunct="1">
              <a:buAutoNum type="arabicPeriod"/>
            </a:pPr>
            <a:r>
              <a:rPr lang="en-US" altLang="en-US" dirty="0">
                <a:sym typeface="Wingdings" panose="05000000000000000000" pitchFamily="2" charset="2"/>
              </a:rPr>
              <a:t>Note: this is a pretty strict cut off because most people start on Reddit by commenting not posting. More accounts were likely active by the 18 month mark but just had not posted by then. Once Karthik gets comment history and account level details (ex. Account creation date), our sample shouldn’t drop off so much at this restriction.</a:t>
            </a:r>
            <a:endParaRPr lang="en-US" altLang="en-US" dirty="0"/>
          </a:p>
          <a:p>
            <a:pPr marL="685800" lvl="1" indent="-228600" eaLnBrk="1" hangingPunct="1">
              <a:buAutoNum type="arabicPeriod"/>
            </a:pPr>
            <a:endParaRPr lang="en-US" altLang="en-US" dirty="0"/>
          </a:p>
        </p:txBody>
      </p:sp>
    </p:spTree>
    <p:extLst>
      <p:ext uri="{BB962C8B-B14F-4D97-AF65-F5344CB8AC3E}">
        <p14:creationId xmlns:p14="http://schemas.microsoft.com/office/powerpoint/2010/main" val="20927550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Note: we exclude “unknown” gender from this plot, just the male/female split. If you want unknown as well I can add that in!</a:t>
            </a:r>
          </a:p>
        </p:txBody>
      </p:sp>
    </p:spTree>
    <p:extLst>
      <p:ext uri="{BB962C8B-B14F-4D97-AF65-F5344CB8AC3E}">
        <p14:creationId xmlns:p14="http://schemas.microsoft.com/office/powerpoint/2010/main" val="7107019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3573503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Figure on the side is from an article online. Just showing that this increase we see in birth “announcements” on Reddit corresponds to reddit usage/popularity over the years</a:t>
            </a:r>
          </a:p>
          <a:p>
            <a:pPr eaLnBrk="1" hangingPunct="1"/>
            <a:endParaRPr lang="en-US" altLang="en-US" dirty="0"/>
          </a:p>
          <a:p>
            <a:pPr eaLnBrk="1" hangingPunct="1"/>
            <a:r>
              <a:rPr lang="en-US" altLang="en-US" dirty="0"/>
              <a:t>Link here: https://seo.ai/blog/how-many-users-does-reddit-have </a:t>
            </a:r>
          </a:p>
        </p:txBody>
      </p:sp>
    </p:spTree>
    <p:extLst>
      <p:ext uri="{BB962C8B-B14F-4D97-AF65-F5344CB8AC3E}">
        <p14:creationId xmlns:p14="http://schemas.microsoft.com/office/powerpoint/2010/main" val="44142360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4057620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Binned at 200</a:t>
            </a:r>
          </a:p>
        </p:txBody>
      </p:sp>
    </p:spTree>
    <p:extLst>
      <p:ext uri="{BB962C8B-B14F-4D97-AF65-F5344CB8AC3E}">
        <p14:creationId xmlns:p14="http://schemas.microsoft.com/office/powerpoint/2010/main" val="38590761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Binned at 200</a:t>
            </a:r>
          </a:p>
        </p:txBody>
      </p:sp>
    </p:spTree>
    <p:extLst>
      <p:ext uri="{BB962C8B-B14F-4D97-AF65-F5344CB8AC3E}">
        <p14:creationId xmlns:p14="http://schemas.microsoft.com/office/powerpoint/2010/main" val="3780658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91439185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25768482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577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per book and headline = 12 clicks</a:t>
            </a:r>
          </a:p>
        </p:txBody>
      </p:sp>
      <p:sp>
        <p:nvSpPr>
          <p:cNvPr id="4" name="Slide Number Placeholder 3"/>
          <p:cNvSpPr>
            <a:spLocks noGrp="1"/>
          </p:cNvSpPr>
          <p:nvPr>
            <p:ph type="sldNum" sz="quarter" idx="5"/>
          </p:nvPr>
        </p:nvSpPr>
        <p:spPr/>
        <p:txBody>
          <a:bodyPr/>
          <a:lstStyle/>
          <a:p>
            <a:pPr>
              <a:defRPr/>
            </a:pPr>
            <a:fld id="{508C09A8-6B70-4B1D-B4C0-DB8CBBA15DDB}" type="slidenum">
              <a:rPr lang="en-US" altLang="en-US" smtClean="0"/>
              <a:pPr>
                <a:defRPr/>
              </a:pPr>
              <a:t>51</a:t>
            </a:fld>
            <a:endParaRPr lang="en-US" altLang="en-US"/>
          </a:p>
        </p:txBody>
      </p:sp>
    </p:spTree>
    <p:extLst>
      <p:ext uri="{BB962C8B-B14F-4D97-AF65-F5344CB8AC3E}">
        <p14:creationId xmlns:p14="http://schemas.microsoft.com/office/powerpoint/2010/main" val="18805887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click to make all the headlines appear at once</a:t>
            </a:r>
          </a:p>
        </p:txBody>
      </p:sp>
      <p:sp>
        <p:nvSpPr>
          <p:cNvPr id="4" name="Slide Number Placeholder 3"/>
          <p:cNvSpPr>
            <a:spLocks noGrp="1"/>
          </p:cNvSpPr>
          <p:nvPr>
            <p:ph type="sldNum" sz="quarter" idx="5"/>
          </p:nvPr>
        </p:nvSpPr>
        <p:spPr/>
        <p:txBody>
          <a:bodyPr/>
          <a:lstStyle/>
          <a:p>
            <a:pPr>
              <a:defRPr/>
            </a:pPr>
            <a:fld id="{508C09A8-6B70-4B1D-B4C0-DB8CBBA15DDB}" type="slidenum">
              <a:rPr lang="en-US" altLang="en-US" smtClean="0"/>
              <a:pPr>
                <a:defRPr/>
              </a:pPr>
              <a:t>52</a:t>
            </a:fld>
            <a:endParaRPr lang="en-US" altLang="en-US"/>
          </a:p>
        </p:txBody>
      </p:sp>
    </p:spTree>
    <p:extLst>
      <p:ext uri="{BB962C8B-B14F-4D97-AF65-F5344CB8AC3E}">
        <p14:creationId xmlns:p14="http://schemas.microsoft.com/office/powerpoint/2010/main" val="29868311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t>Papers being sited right now:</a:t>
            </a:r>
          </a:p>
          <a:p>
            <a:pPr rtl="0">
              <a:spcBef>
                <a:spcPts val="0"/>
              </a:spcBef>
              <a:spcAft>
                <a:spcPts val="0"/>
              </a:spcAft>
              <a:buFont typeface="Arial" panose="020B0604020202020204" pitchFamily="34" charset="0"/>
              <a:buChar char="•"/>
            </a:pPr>
            <a:r>
              <a:rPr lang="en-US" sz="1200" dirty="0">
                <a:solidFill>
                  <a:srgbClr val="000000"/>
                </a:solidFill>
                <a:effectLst/>
                <a:latin typeface="Aptos" panose="020B0004020202020204" pitchFamily="34" charset="0"/>
              </a:rPr>
              <a:t>Optimal Expectations, AER (Markus </a:t>
            </a:r>
            <a:r>
              <a:rPr lang="en-US" sz="1200" dirty="0" err="1">
                <a:solidFill>
                  <a:srgbClr val="000000"/>
                </a:solidFill>
                <a:effectLst/>
                <a:latin typeface="Aptos" panose="020B0004020202020204" pitchFamily="34" charset="0"/>
              </a:rPr>
              <a:t>Brunnermeier</a:t>
            </a:r>
            <a:r>
              <a:rPr lang="en-US" sz="1200" dirty="0">
                <a:solidFill>
                  <a:srgbClr val="000000"/>
                </a:solidFill>
                <a:effectLst/>
                <a:latin typeface="Aptos" panose="020B0004020202020204" pitchFamily="34" charset="0"/>
              </a:rPr>
              <a:t>, Jonathan Parker, 2005)</a:t>
            </a:r>
          </a:p>
          <a:p>
            <a:pPr marL="742950" lvl="1" indent="-285750" rtl="0">
              <a:spcBef>
                <a:spcPts val="0"/>
              </a:spcBef>
              <a:spcAft>
                <a:spcPts val="0"/>
              </a:spcAft>
              <a:buFont typeface="Arial" panose="020B0604020202020204" pitchFamily="34" charset="0"/>
              <a:buChar char="•"/>
            </a:pPr>
            <a:r>
              <a:rPr lang="en-US" sz="1200" u="sng" dirty="0">
                <a:solidFill>
                  <a:srgbClr val="1155CC"/>
                </a:solidFill>
                <a:effectLst/>
                <a:latin typeface="Aptos" panose="020B0004020202020204" pitchFamily="34" charset="0"/>
                <a:hlinkClick r:id="rId3"/>
              </a:rPr>
              <a:t>https://www.aeaweb.org/articles?id=10.1257/0002828054825493</a:t>
            </a:r>
            <a:r>
              <a:rPr lang="en-US" sz="1200" dirty="0">
                <a:solidFill>
                  <a:srgbClr val="000000"/>
                </a:solidFill>
                <a:effectLst/>
                <a:latin typeface="Aptos" panose="020B0004020202020204" pitchFamily="34" charset="0"/>
              </a:rPr>
              <a:t> </a:t>
            </a:r>
          </a:p>
          <a:p>
            <a:pPr rtl="0">
              <a:spcBef>
                <a:spcPts val="0"/>
              </a:spcBef>
              <a:spcAft>
                <a:spcPts val="0"/>
              </a:spcAft>
              <a:buFont typeface="Arial" panose="020B0604020202020204" pitchFamily="34" charset="0"/>
              <a:buChar char="•"/>
            </a:pPr>
            <a:r>
              <a:rPr lang="en-US" sz="1200" dirty="0">
                <a:solidFill>
                  <a:srgbClr val="000000"/>
                </a:solidFill>
                <a:effectLst/>
                <a:latin typeface="Aptos" panose="020B0004020202020204" pitchFamily="34" charset="0"/>
              </a:rPr>
              <a:t>Stereotypes, QJE (Pedro </a:t>
            </a:r>
            <a:r>
              <a:rPr lang="en-US" sz="1200" dirty="0" err="1">
                <a:solidFill>
                  <a:srgbClr val="000000"/>
                </a:solidFill>
                <a:effectLst/>
                <a:latin typeface="Aptos" panose="020B0004020202020204" pitchFamily="34" charset="0"/>
              </a:rPr>
              <a:t>Bordalo</a:t>
            </a:r>
            <a:r>
              <a:rPr lang="en-US" sz="1200" dirty="0">
                <a:solidFill>
                  <a:srgbClr val="000000"/>
                </a:solidFill>
                <a:effectLst/>
                <a:latin typeface="Aptos" panose="020B0004020202020204" pitchFamily="34" charset="0"/>
              </a:rPr>
              <a:t> , Katherine Coffman , Nicola </a:t>
            </a:r>
            <a:r>
              <a:rPr lang="en-US" sz="1200" dirty="0" err="1">
                <a:solidFill>
                  <a:srgbClr val="000000"/>
                </a:solidFill>
                <a:effectLst/>
                <a:latin typeface="Aptos" panose="020B0004020202020204" pitchFamily="34" charset="0"/>
              </a:rPr>
              <a:t>Gennaioli</a:t>
            </a:r>
            <a:r>
              <a:rPr lang="en-US" sz="1200" dirty="0">
                <a:solidFill>
                  <a:srgbClr val="000000"/>
                </a:solidFill>
                <a:effectLst/>
                <a:latin typeface="Aptos" panose="020B0004020202020204" pitchFamily="34" charset="0"/>
              </a:rPr>
              <a:t> , Andrei Shleifer, 2016)</a:t>
            </a:r>
          </a:p>
          <a:p>
            <a:pPr marL="742950" lvl="1" indent="-285750" rtl="0">
              <a:spcBef>
                <a:spcPts val="0"/>
              </a:spcBef>
              <a:spcAft>
                <a:spcPts val="0"/>
              </a:spcAft>
              <a:buFont typeface="Arial" panose="020B0604020202020204" pitchFamily="34" charset="0"/>
              <a:buChar char="•"/>
            </a:pPr>
            <a:r>
              <a:rPr lang="en-US" sz="1200" u="sng" dirty="0">
                <a:solidFill>
                  <a:srgbClr val="1155CC"/>
                </a:solidFill>
                <a:effectLst/>
                <a:latin typeface="Aptos" panose="020B0004020202020204" pitchFamily="34" charset="0"/>
                <a:hlinkClick r:id="rId4"/>
              </a:rPr>
              <a:t>https://academic.oup.com/qje/article/131/4/1753/2468882</a:t>
            </a:r>
            <a:r>
              <a:rPr lang="en-US" sz="1200" dirty="0">
                <a:solidFill>
                  <a:srgbClr val="000000"/>
                </a:solidFill>
                <a:effectLst/>
                <a:latin typeface="Aptos" panose="020B0004020202020204" pitchFamily="34" charset="0"/>
              </a:rPr>
              <a:t> </a:t>
            </a:r>
          </a:p>
          <a:p>
            <a:pPr rtl="0">
              <a:spcBef>
                <a:spcPts val="0"/>
              </a:spcBef>
              <a:spcAft>
                <a:spcPts val="0"/>
              </a:spcAft>
              <a:buFont typeface="Arial" panose="020B0604020202020204" pitchFamily="34" charset="0"/>
              <a:buChar char="•"/>
            </a:pPr>
            <a:r>
              <a:rPr lang="en-US" sz="1200" dirty="0">
                <a:solidFill>
                  <a:srgbClr val="000000"/>
                </a:solidFill>
                <a:effectLst/>
                <a:latin typeface="Aptos" panose="020B0004020202020204" pitchFamily="34" charset="0"/>
              </a:rPr>
              <a:t>Mindful Economics: The Production, Consumption, and Value of Beliefs, JEP (Roland </a:t>
            </a:r>
            <a:r>
              <a:rPr lang="en-US" sz="1200" dirty="0" err="1">
                <a:solidFill>
                  <a:srgbClr val="000000"/>
                </a:solidFill>
                <a:effectLst/>
                <a:latin typeface="Aptos" panose="020B0004020202020204" pitchFamily="34" charset="0"/>
              </a:rPr>
              <a:t>Bénabou</a:t>
            </a:r>
            <a:r>
              <a:rPr lang="en-US" sz="1200" dirty="0">
                <a:solidFill>
                  <a:srgbClr val="000000"/>
                </a:solidFill>
                <a:effectLst/>
                <a:latin typeface="Aptos" panose="020B0004020202020204" pitchFamily="34" charset="0"/>
              </a:rPr>
              <a:t> and Jean </a:t>
            </a:r>
            <a:r>
              <a:rPr lang="en-US" sz="1200" dirty="0" err="1">
                <a:solidFill>
                  <a:srgbClr val="000000"/>
                </a:solidFill>
                <a:effectLst/>
                <a:latin typeface="Aptos" panose="020B0004020202020204" pitchFamily="34" charset="0"/>
              </a:rPr>
              <a:t>Tirole</a:t>
            </a:r>
            <a:r>
              <a:rPr lang="en-US" sz="1200" dirty="0">
                <a:solidFill>
                  <a:srgbClr val="000000"/>
                </a:solidFill>
                <a:effectLst/>
                <a:latin typeface="Aptos" panose="020B0004020202020204" pitchFamily="34" charset="0"/>
              </a:rPr>
              <a:t>, 2016)</a:t>
            </a:r>
          </a:p>
          <a:p>
            <a:pPr marL="742950" lvl="1" indent="-285750" rtl="0">
              <a:spcBef>
                <a:spcPts val="0"/>
              </a:spcBef>
              <a:spcAft>
                <a:spcPts val="0"/>
              </a:spcAft>
              <a:buFont typeface="Arial" panose="020B0604020202020204" pitchFamily="34" charset="0"/>
              <a:buChar char="•"/>
            </a:pPr>
            <a:r>
              <a:rPr lang="en-US" sz="1200" u="sng" dirty="0">
                <a:solidFill>
                  <a:srgbClr val="1155CC"/>
                </a:solidFill>
                <a:effectLst/>
                <a:latin typeface="Aptos" panose="020B0004020202020204" pitchFamily="34" charset="0"/>
                <a:hlinkClick r:id="rId5"/>
              </a:rPr>
              <a:t>https://www.aeaweb.org/articles?id=10.1257/jep.30.3.141</a:t>
            </a:r>
            <a:r>
              <a:rPr lang="en-US" sz="1200" dirty="0">
                <a:solidFill>
                  <a:srgbClr val="000000"/>
                </a:solidFill>
                <a:effectLst/>
                <a:latin typeface="Aptos" panose="020B0004020202020204" pitchFamily="34" charset="0"/>
              </a:rPr>
              <a:t> </a:t>
            </a:r>
          </a:p>
          <a:p>
            <a:pPr rtl="0">
              <a:spcBef>
                <a:spcPts val="0"/>
              </a:spcBef>
              <a:spcAft>
                <a:spcPts val="0"/>
              </a:spcAft>
              <a:buFont typeface="Arial" panose="020B0604020202020204" pitchFamily="34" charset="0"/>
              <a:buChar char="•"/>
            </a:pPr>
            <a:r>
              <a:rPr lang="en-US" sz="1200" dirty="0">
                <a:solidFill>
                  <a:srgbClr val="000000"/>
                </a:solidFill>
                <a:effectLst/>
                <a:latin typeface="Aptos" panose="020B0004020202020204" pitchFamily="34" charset="0"/>
              </a:rPr>
              <a:t>Misperceptions About Others, Annual Review of Econ (Leo </a:t>
            </a:r>
            <a:r>
              <a:rPr lang="en-US" sz="1200" dirty="0" err="1">
                <a:solidFill>
                  <a:srgbClr val="000000"/>
                </a:solidFill>
                <a:effectLst/>
                <a:latin typeface="Aptos" panose="020B0004020202020204" pitchFamily="34" charset="0"/>
              </a:rPr>
              <a:t>Bursztyn</a:t>
            </a:r>
            <a:r>
              <a:rPr lang="en-US" sz="1200" dirty="0">
                <a:solidFill>
                  <a:srgbClr val="000000"/>
                </a:solidFill>
                <a:effectLst/>
                <a:latin typeface="Aptos" panose="020B0004020202020204" pitchFamily="34" charset="0"/>
              </a:rPr>
              <a:t> and David Yang, 2022)</a:t>
            </a:r>
          </a:p>
          <a:p>
            <a:pPr marL="742950" lvl="1" indent="-285750" rtl="0">
              <a:spcBef>
                <a:spcPts val="0"/>
              </a:spcBef>
              <a:spcAft>
                <a:spcPts val="0"/>
              </a:spcAft>
              <a:buFont typeface="Arial" panose="020B0604020202020204" pitchFamily="34" charset="0"/>
              <a:buChar char="•"/>
            </a:pPr>
            <a:r>
              <a:rPr lang="en-US" sz="1200" u="sng" dirty="0">
                <a:solidFill>
                  <a:srgbClr val="1155CC"/>
                </a:solidFill>
                <a:effectLst/>
                <a:latin typeface="Aptos" panose="020B0004020202020204" pitchFamily="34" charset="0"/>
                <a:hlinkClick r:id="rId6"/>
              </a:rPr>
              <a:t>https://www.annualreviews.org/content/journals/10.1146/annurev-economics-051520-023322</a:t>
            </a:r>
            <a:endParaRPr lang="en-US" sz="1200" dirty="0">
              <a:solidFill>
                <a:srgbClr val="1155CC"/>
              </a:solidFill>
              <a:effectLst/>
              <a:latin typeface="Aptos" panose="020B0004020202020204" pitchFamily="34" charset="0"/>
            </a:endParaRPr>
          </a:p>
          <a:p>
            <a:pPr eaLnBrk="1" hangingPunct="1"/>
            <a:endParaRPr lang="en-US" altLang="en-US" dirty="0"/>
          </a:p>
        </p:txBody>
      </p:sp>
    </p:spTree>
    <p:extLst>
      <p:ext uri="{BB962C8B-B14F-4D97-AF65-F5344CB8AC3E}">
        <p14:creationId xmlns:p14="http://schemas.microsoft.com/office/powerpoint/2010/main" val="6917681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41939744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extLst>
      <p:ext uri="{BB962C8B-B14F-4D97-AF65-F5344CB8AC3E}">
        <p14:creationId xmlns:p14="http://schemas.microsoft.com/office/powerpoint/2010/main" val="14525293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Prolific sample restricted to:</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US residents</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Fluent in English</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Taken at least 20 prolific surveys</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Prolific rating of 99%+</a:t>
            </a:r>
          </a:p>
          <a:p>
            <a:pPr marL="285750" lvl="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2,033 Prolific responses</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33 were not “approved” by prolific</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2 were detected as bots by prolific</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53 failed an attention check (pet dying, work promotion, and click count == 0)</a:t>
            </a:r>
          </a:p>
          <a:p>
            <a:pPr marL="742950" lvl="1"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1 duplicate author</a:t>
            </a:r>
          </a:p>
          <a:p>
            <a:pPr marL="0" lvl="0" indent="0">
              <a:spcBef>
                <a:spcPct val="20000"/>
              </a:spcBef>
              <a:buFont typeface="Arial" panose="020B0604020202020204" pitchFamily="34" charset="0"/>
              <a:buNone/>
              <a:defRPr/>
            </a:pPr>
            <a:endParaRPr lang="en-US" dirty="0">
              <a:highlight>
                <a:srgbClr val="00FFFF"/>
              </a:highlight>
              <a:latin typeface="Cambria" pitchFamily="18" charset="0"/>
              <a:ea typeface="ＭＳ Ｐゴシック" pitchFamily="34" charset="-128"/>
            </a:endParaRPr>
          </a:p>
        </p:txBody>
      </p:sp>
    </p:spTree>
    <p:extLst>
      <p:ext uri="{BB962C8B-B14F-4D97-AF65-F5344CB8AC3E}">
        <p14:creationId xmlns:p14="http://schemas.microsoft.com/office/powerpoint/2010/main" val="5329756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Democrats think republicans are happier (grass is greener)</a:t>
            </a:r>
          </a:p>
          <a:p>
            <a:r>
              <a:rPr lang="en-US" dirty="0"/>
              <a:t>Republicans think republicans are happier (motivated reasoning)</a:t>
            </a:r>
          </a:p>
        </p:txBody>
      </p:sp>
      <p:sp>
        <p:nvSpPr>
          <p:cNvPr id="4" name="Slide Number Placeholder 3"/>
          <p:cNvSpPr>
            <a:spLocks noGrp="1"/>
          </p:cNvSpPr>
          <p:nvPr>
            <p:ph type="sldNum" sz="quarter" idx="5"/>
          </p:nvPr>
        </p:nvSpPr>
        <p:spPr/>
        <p:txBody>
          <a:bodyPr/>
          <a:lstStyle/>
          <a:p>
            <a:pPr>
              <a:defRPr/>
            </a:pPr>
            <a:fld id="{508C09A8-6B70-4B1D-B4C0-DB8CBBA15DDB}" type="slidenum">
              <a:rPr lang="en-US" altLang="en-US" smtClean="0"/>
              <a:pPr>
                <a:defRPr/>
              </a:pPr>
              <a:t>68</a:t>
            </a:fld>
            <a:endParaRPr lang="en-US" altLang="en-US"/>
          </a:p>
        </p:txBody>
      </p:sp>
    </p:spTree>
    <p:extLst>
      <p:ext uri="{BB962C8B-B14F-4D97-AF65-F5344CB8AC3E}">
        <p14:creationId xmlns:p14="http://schemas.microsoft.com/office/powerpoint/2010/main" val="390501743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Motivated reasoning through and through</a:t>
            </a:r>
          </a:p>
          <a:p>
            <a:pPr marL="171450" indent="-171450">
              <a:buFont typeface="Arial" panose="020B0604020202020204" pitchFamily="34" charset="0"/>
              <a:buChar char="•"/>
            </a:pPr>
            <a:r>
              <a:rPr lang="en-US" dirty="0"/>
              <a:t>Married think married are happier</a:t>
            </a:r>
          </a:p>
          <a:p>
            <a:pPr marL="171450" indent="-171450">
              <a:buFont typeface="Arial" panose="020B0604020202020204" pitchFamily="34" charset="0"/>
              <a:buChar char="•"/>
            </a:pPr>
            <a:r>
              <a:rPr lang="en-US" dirty="0"/>
              <a:t>Non married think non married are happier</a:t>
            </a:r>
          </a:p>
        </p:txBody>
      </p:sp>
      <p:sp>
        <p:nvSpPr>
          <p:cNvPr id="4" name="Slide Number Placeholder 3"/>
          <p:cNvSpPr>
            <a:spLocks noGrp="1"/>
          </p:cNvSpPr>
          <p:nvPr>
            <p:ph type="sldNum" sz="quarter" idx="5"/>
          </p:nvPr>
        </p:nvSpPr>
        <p:spPr/>
        <p:txBody>
          <a:bodyPr/>
          <a:lstStyle/>
          <a:p>
            <a:pPr>
              <a:defRPr/>
            </a:pPr>
            <a:fld id="{508C09A8-6B70-4B1D-B4C0-DB8CBBA15DDB}" type="slidenum">
              <a:rPr lang="en-US" altLang="en-US" smtClean="0"/>
              <a:pPr>
                <a:defRPr/>
              </a:pPr>
              <a:t>69</a:t>
            </a:fld>
            <a:endParaRPr lang="en-US" altLang="en-US"/>
          </a:p>
        </p:txBody>
      </p:sp>
    </p:spTree>
    <p:extLst>
      <p:ext uri="{BB962C8B-B14F-4D97-AF65-F5344CB8AC3E}">
        <p14:creationId xmlns:p14="http://schemas.microsoft.com/office/powerpoint/2010/main" val="1983208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city think small town is happier (grass is greener)</a:t>
            </a:r>
          </a:p>
          <a:p>
            <a:r>
              <a:rPr lang="en-US" dirty="0"/>
              <a:t>Small city think small city happier (motivated reasoning)</a:t>
            </a:r>
          </a:p>
        </p:txBody>
      </p:sp>
      <p:sp>
        <p:nvSpPr>
          <p:cNvPr id="4" name="Slide Number Placeholder 3"/>
          <p:cNvSpPr>
            <a:spLocks noGrp="1"/>
          </p:cNvSpPr>
          <p:nvPr>
            <p:ph type="sldNum" sz="quarter" idx="5"/>
          </p:nvPr>
        </p:nvSpPr>
        <p:spPr/>
        <p:txBody>
          <a:bodyPr/>
          <a:lstStyle/>
          <a:p>
            <a:pPr>
              <a:defRPr/>
            </a:pPr>
            <a:fld id="{508C09A8-6B70-4B1D-B4C0-DB8CBBA15DDB}" type="slidenum">
              <a:rPr lang="en-US" altLang="en-US" smtClean="0"/>
              <a:pPr>
                <a:defRPr/>
              </a:pPr>
              <a:t>70</a:t>
            </a:fld>
            <a:endParaRPr lang="en-US" altLang="en-US"/>
          </a:p>
        </p:txBody>
      </p:sp>
    </p:spTree>
    <p:extLst>
      <p:ext uri="{BB962C8B-B14F-4D97-AF65-F5344CB8AC3E}">
        <p14:creationId xmlns:p14="http://schemas.microsoft.com/office/powerpoint/2010/main" val="10322863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Grass is greener for women. </a:t>
            </a:r>
          </a:p>
          <a:p>
            <a:pPr marL="171450" indent="-171450">
              <a:buFont typeface="Arial" panose="020B0604020202020204" pitchFamily="34" charset="0"/>
              <a:buChar char="•"/>
            </a:pPr>
            <a:r>
              <a:rPr lang="en-US" dirty="0"/>
              <a:t>Women think men are happier </a:t>
            </a:r>
          </a:p>
          <a:p>
            <a:pPr marL="171450" indent="-171450">
              <a:buFont typeface="Arial" panose="020B0604020202020204" pitchFamily="34" charset="0"/>
              <a:buChar char="•"/>
            </a:pPr>
            <a:r>
              <a:rPr lang="en-US" dirty="0"/>
              <a:t>Men think men and women are about the same happiness</a:t>
            </a:r>
          </a:p>
        </p:txBody>
      </p:sp>
      <p:sp>
        <p:nvSpPr>
          <p:cNvPr id="4" name="Slide Number Placeholder 3"/>
          <p:cNvSpPr>
            <a:spLocks noGrp="1"/>
          </p:cNvSpPr>
          <p:nvPr>
            <p:ph type="sldNum" sz="quarter" idx="5"/>
          </p:nvPr>
        </p:nvSpPr>
        <p:spPr/>
        <p:txBody>
          <a:bodyPr/>
          <a:lstStyle/>
          <a:p>
            <a:pPr>
              <a:defRPr/>
            </a:pPr>
            <a:fld id="{508C09A8-6B70-4B1D-B4C0-DB8CBBA15DDB}" type="slidenum">
              <a:rPr lang="en-US" altLang="en-US" smtClean="0"/>
              <a:pPr>
                <a:defRPr/>
              </a:pPr>
              <a:t>71</a:t>
            </a:fld>
            <a:endParaRPr lang="en-US" altLang="en-US"/>
          </a:p>
        </p:txBody>
      </p:sp>
    </p:spTree>
    <p:extLst>
      <p:ext uri="{BB962C8B-B14F-4D97-AF65-F5344CB8AC3E}">
        <p14:creationId xmlns:p14="http://schemas.microsoft.com/office/powerpoint/2010/main" val="15798754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Except we also see grass is greener with where people live (big/small town)</a:t>
            </a:r>
          </a:p>
        </p:txBody>
      </p:sp>
    </p:spTree>
    <p:extLst>
      <p:ext uri="{BB962C8B-B14F-4D97-AF65-F5344CB8AC3E}">
        <p14:creationId xmlns:p14="http://schemas.microsoft.com/office/powerpoint/2010/main" val="18806284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9773506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87507126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279428623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271840326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23392944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42153775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411115637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273643432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Rot="1" noChangeAspect="1" noChangeArrowheads="1" noTextEdit="1"/>
          </p:cNvSpPr>
          <p:nvPr>
            <p:ph type="sldImg"/>
          </p:nvPr>
        </p:nvSpPr>
        <p:spPr>
          <a:ln/>
        </p:spPr>
      </p:sp>
      <p:sp>
        <p:nvSpPr>
          <p:cNvPr id="7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Parenthood changes social media use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Men and women both reduce posting frequency (42% vs 67% decrease)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Topics during pregnancy and post birth are more about family</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Posts become slightly more positive</a:t>
            </a:r>
          </a:p>
          <a:p>
            <a:pPr marL="285750" indent="-285750">
              <a:spcBef>
                <a:spcPct val="20000"/>
              </a:spcBef>
              <a:buFont typeface="Arial" panose="020B0604020202020204" pitchFamily="34" charset="0"/>
              <a:buChar char="•"/>
              <a:defRPr/>
            </a:pPr>
            <a:r>
              <a:rPr lang="en-US" dirty="0">
                <a:highlight>
                  <a:srgbClr val="00FFFF"/>
                </a:highlight>
                <a:latin typeface="Cambria" pitchFamily="18" charset="0"/>
                <a:ea typeface="ＭＳ Ｐゴシック" pitchFamily="34" charset="-128"/>
              </a:rPr>
              <a:t>So far reddit results look similar</a:t>
            </a:r>
          </a:p>
          <a:p>
            <a:pPr eaLnBrk="1" hangingPunct="1"/>
            <a:endParaRPr lang="en-US" altLang="en-US" dirty="0"/>
          </a:p>
        </p:txBody>
      </p:sp>
    </p:spTree>
    <p:extLst>
      <p:ext uri="{BB962C8B-B14F-4D97-AF65-F5344CB8AC3E}">
        <p14:creationId xmlns:p14="http://schemas.microsoft.com/office/powerpoint/2010/main" val="257015401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2552251-0392-4D96-8B7A-A8CFADEB0368}" type="slidenum">
              <a:rPr lang="en-US" altLang="en-US"/>
              <a:pPr>
                <a:defRPr/>
              </a:pPr>
              <a:t>‹#›</a:t>
            </a:fld>
            <a:endParaRPr lang="en-US" altLang="en-US"/>
          </a:p>
        </p:txBody>
      </p:sp>
    </p:spTree>
    <p:extLst>
      <p:ext uri="{BB962C8B-B14F-4D97-AF65-F5344CB8AC3E}">
        <p14:creationId xmlns:p14="http://schemas.microsoft.com/office/powerpoint/2010/main" val="3420756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B9B5CD9-41A3-4E33-B99D-9AB9022E02AC}" type="slidenum">
              <a:rPr lang="en-US" altLang="en-US"/>
              <a:pPr>
                <a:defRPr/>
              </a:pPr>
              <a:t>‹#›</a:t>
            </a:fld>
            <a:endParaRPr lang="en-US" altLang="en-US"/>
          </a:p>
        </p:txBody>
      </p:sp>
    </p:spTree>
    <p:extLst>
      <p:ext uri="{BB962C8B-B14F-4D97-AF65-F5344CB8AC3E}">
        <p14:creationId xmlns:p14="http://schemas.microsoft.com/office/powerpoint/2010/main" val="1287086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75EFCEB-CE5A-402D-A882-E11D8B59C046}" type="slidenum">
              <a:rPr lang="en-US" altLang="en-US"/>
              <a:pPr>
                <a:defRPr/>
              </a:pPr>
              <a:t>‹#›</a:t>
            </a:fld>
            <a:endParaRPr lang="en-US" altLang="en-US"/>
          </a:p>
        </p:txBody>
      </p:sp>
    </p:spTree>
    <p:extLst>
      <p:ext uri="{BB962C8B-B14F-4D97-AF65-F5344CB8AC3E}">
        <p14:creationId xmlns:p14="http://schemas.microsoft.com/office/powerpoint/2010/main" val="2057868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F2A9525-03AE-45E2-9C51-5EA02E09D1D9}" type="slidenum">
              <a:rPr lang="en-US" altLang="en-US"/>
              <a:pPr>
                <a:defRPr/>
              </a:pPr>
              <a:t>‹#›</a:t>
            </a:fld>
            <a:endParaRPr lang="en-US" altLang="en-US"/>
          </a:p>
        </p:txBody>
      </p:sp>
    </p:spTree>
    <p:extLst>
      <p:ext uri="{BB962C8B-B14F-4D97-AF65-F5344CB8AC3E}">
        <p14:creationId xmlns:p14="http://schemas.microsoft.com/office/powerpoint/2010/main" val="163959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84F30C88-05D1-41F5-9436-F08688E50370}" type="slidenum">
              <a:rPr lang="en-US" altLang="en-US"/>
              <a:pPr>
                <a:defRPr/>
              </a:pPr>
              <a:t>‹#›</a:t>
            </a:fld>
            <a:endParaRPr lang="en-US" altLang="en-US"/>
          </a:p>
        </p:txBody>
      </p:sp>
    </p:spTree>
    <p:extLst>
      <p:ext uri="{BB962C8B-B14F-4D97-AF65-F5344CB8AC3E}">
        <p14:creationId xmlns:p14="http://schemas.microsoft.com/office/powerpoint/2010/main" val="1672575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78E66D5-09B8-4985-9896-9A95ACF29D75}" type="slidenum">
              <a:rPr lang="en-US" altLang="en-US"/>
              <a:pPr>
                <a:defRPr/>
              </a:pPr>
              <a:t>‹#›</a:t>
            </a:fld>
            <a:endParaRPr lang="en-US" altLang="en-US"/>
          </a:p>
        </p:txBody>
      </p:sp>
    </p:spTree>
    <p:extLst>
      <p:ext uri="{BB962C8B-B14F-4D97-AF65-F5344CB8AC3E}">
        <p14:creationId xmlns:p14="http://schemas.microsoft.com/office/powerpoint/2010/main" val="1360457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30E3E16-2D77-4BE6-A4F0-B2E7B7C58149}" type="slidenum">
              <a:rPr lang="en-US" altLang="en-US"/>
              <a:pPr>
                <a:defRPr/>
              </a:pPr>
              <a:t>‹#›</a:t>
            </a:fld>
            <a:endParaRPr lang="en-US" altLang="en-US"/>
          </a:p>
        </p:txBody>
      </p:sp>
    </p:spTree>
    <p:extLst>
      <p:ext uri="{BB962C8B-B14F-4D97-AF65-F5344CB8AC3E}">
        <p14:creationId xmlns:p14="http://schemas.microsoft.com/office/powerpoint/2010/main" val="2496300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25B4C017-6055-42C0-ADCB-32846346B61D}" type="slidenum">
              <a:rPr lang="en-US" altLang="en-US"/>
              <a:pPr>
                <a:defRPr/>
              </a:pPr>
              <a:t>‹#›</a:t>
            </a:fld>
            <a:endParaRPr lang="en-US" altLang="en-US"/>
          </a:p>
        </p:txBody>
      </p:sp>
    </p:spTree>
    <p:extLst>
      <p:ext uri="{BB962C8B-B14F-4D97-AF65-F5344CB8AC3E}">
        <p14:creationId xmlns:p14="http://schemas.microsoft.com/office/powerpoint/2010/main" val="9197165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2A641AD-C7A1-4926-88EE-D363E8274B45}" type="slidenum">
              <a:rPr lang="en-US" altLang="en-US"/>
              <a:pPr>
                <a:defRPr/>
              </a:pPr>
              <a:t>‹#›</a:t>
            </a:fld>
            <a:endParaRPr lang="en-US" altLang="en-US"/>
          </a:p>
        </p:txBody>
      </p:sp>
    </p:spTree>
    <p:extLst>
      <p:ext uri="{BB962C8B-B14F-4D97-AF65-F5344CB8AC3E}">
        <p14:creationId xmlns:p14="http://schemas.microsoft.com/office/powerpoint/2010/main" val="2465603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394EB8A-F4F8-415B-A1F6-9F64F9DA42E6}" type="slidenum">
              <a:rPr lang="en-US" altLang="en-US"/>
              <a:pPr>
                <a:defRPr/>
              </a:pPr>
              <a:t>‹#›</a:t>
            </a:fld>
            <a:endParaRPr lang="en-US" altLang="en-US"/>
          </a:p>
        </p:txBody>
      </p:sp>
    </p:spTree>
    <p:extLst>
      <p:ext uri="{BB962C8B-B14F-4D97-AF65-F5344CB8AC3E}">
        <p14:creationId xmlns:p14="http://schemas.microsoft.com/office/powerpoint/2010/main" val="1052043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C1D017D-D126-4C88-8C8C-C4097EAB40FD}" type="slidenum">
              <a:rPr lang="en-US" altLang="en-US"/>
              <a:pPr>
                <a:defRPr/>
              </a:pPr>
              <a:t>‹#›</a:t>
            </a:fld>
            <a:endParaRPr lang="en-US" altLang="en-US"/>
          </a:p>
        </p:txBody>
      </p:sp>
    </p:spTree>
    <p:extLst>
      <p:ext uri="{BB962C8B-B14F-4D97-AF65-F5344CB8AC3E}">
        <p14:creationId xmlns:p14="http://schemas.microsoft.com/office/powerpoint/2010/main" val="14571427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91BA421-0DA2-491E-BF88-824837AEB62D}" type="slidenum">
              <a:rPr lang="en-US" altLang="en-US"/>
              <a:pPr>
                <a:defRPr/>
              </a:pPr>
              <a:t>‹#›</a:t>
            </a:fld>
            <a:endParaRPr lang="en-US" altLang="en-US"/>
          </a:p>
        </p:txBody>
      </p:sp>
    </p:spTree>
    <p:extLst>
      <p:ext uri="{BB962C8B-B14F-4D97-AF65-F5344CB8AC3E}">
        <p14:creationId xmlns:p14="http://schemas.microsoft.com/office/powerpoint/2010/main" val="12650542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A86DD2A4-4080-40A7-8611-8DEEF07249AF}" type="slidenum">
              <a:rPr lang="en-US" altLang="en-US"/>
              <a:pPr>
                <a:defRPr/>
              </a:pPr>
              <a:t>‹#›</a:t>
            </a:fld>
            <a:endParaRPr lang="en-US" altLang="en-US"/>
          </a:p>
        </p:txBody>
      </p:sp>
    </p:spTree>
    <p:extLst>
      <p:ext uri="{BB962C8B-B14F-4D97-AF65-F5344CB8AC3E}">
        <p14:creationId xmlns:p14="http://schemas.microsoft.com/office/powerpoint/2010/main" val="1228828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a:t>Click to edit Master title style</a:t>
            </a:r>
          </a:p>
        </p:txBody>
      </p:sp>
      <p:sp>
        <p:nvSpPr>
          <p:cNvPr id="3" name="Content Placeholder 2"/>
          <p:cNvSpPr>
            <a:spLocks noGrp="1"/>
          </p:cNvSpPr>
          <p:nvPr>
            <p:ph sz="quarter" idx="1"/>
          </p:nvPr>
        </p:nvSpPr>
        <p:spPr>
          <a:xfrm>
            <a:off x="457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A0D6C9D9-A274-4C9B-859C-42CE0F214D77}" type="slidenum">
              <a:rPr lang="en-US" altLang="en-US"/>
              <a:pPr>
                <a:defRPr/>
              </a:pPr>
              <a:t>‹#›</a:t>
            </a:fld>
            <a:endParaRPr lang="en-US" altLang="en-US"/>
          </a:p>
        </p:txBody>
      </p:sp>
    </p:spTree>
    <p:extLst>
      <p:ext uri="{BB962C8B-B14F-4D97-AF65-F5344CB8AC3E}">
        <p14:creationId xmlns:p14="http://schemas.microsoft.com/office/powerpoint/2010/main" val="148399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ea typeface="+mn-ea"/>
              </a:defRPr>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ea typeface="+mn-ea"/>
              </a:defRPr>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F2176038-DC69-49A8-874C-CA27D81D3A0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ctr" rtl="0" eaLnBrk="0" fontAlgn="base" hangingPunct="0">
        <a:spcBef>
          <a:spcPct val="0"/>
        </a:spcBef>
        <a:spcAft>
          <a:spcPct val="0"/>
        </a:spcAft>
        <a:defRPr sz="4400">
          <a:solidFill>
            <a:schemeClr val="tx2"/>
          </a:solidFill>
          <a:latin typeface="+mj-lt"/>
          <a:ea typeface="MS PGothic" pitchFamily="34" charset="-128"/>
          <a:cs typeface="+mj-cs"/>
        </a:defRPr>
      </a:lvl1pPr>
      <a:lvl2pPr algn="ctr" rtl="0" eaLnBrk="0" fontAlgn="base" hangingPunct="0">
        <a:spcBef>
          <a:spcPct val="0"/>
        </a:spcBef>
        <a:spcAft>
          <a:spcPct val="0"/>
        </a:spcAft>
        <a:defRPr sz="4400">
          <a:solidFill>
            <a:schemeClr val="tx2"/>
          </a:solidFill>
          <a:latin typeface="Arial" pitchFamily="34" charset="0"/>
          <a:ea typeface="MS PGothic" pitchFamily="34" charset="-128"/>
        </a:defRPr>
      </a:lvl2pPr>
      <a:lvl3pPr algn="ctr" rtl="0" eaLnBrk="0" fontAlgn="base" hangingPunct="0">
        <a:spcBef>
          <a:spcPct val="0"/>
        </a:spcBef>
        <a:spcAft>
          <a:spcPct val="0"/>
        </a:spcAft>
        <a:defRPr sz="4400">
          <a:solidFill>
            <a:schemeClr val="tx2"/>
          </a:solidFill>
          <a:latin typeface="Arial" pitchFamily="34" charset="0"/>
          <a:ea typeface="MS PGothic" pitchFamily="34" charset="-128"/>
        </a:defRPr>
      </a:lvl3pPr>
      <a:lvl4pPr algn="ctr" rtl="0" eaLnBrk="0" fontAlgn="base" hangingPunct="0">
        <a:spcBef>
          <a:spcPct val="0"/>
        </a:spcBef>
        <a:spcAft>
          <a:spcPct val="0"/>
        </a:spcAft>
        <a:defRPr sz="4400">
          <a:solidFill>
            <a:schemeClr val="tx2"/>
          </a:solidFill>
          <a:latin typeface="Arial" pitchFamily="34" charset="0"/>
          <a:ea typeface="MS PGothic" pitchFamily="34" charset="-128"/>
        </a:defRPr>
      </a:lvl4pPr>
      <a:lvl5pPr algn="ctr" rtl="0" eaLnBrk="0" fontAlgn="base" hangingPunct="0">
        <a:spcBef>
          <a:spcPct val="0"/>
        </a:spcBef>
        <a:spcAft>
          <a:spcPct val="0"/>
        </a:spcAft>
        <a:defRPr sz="4400">
          <a:solidFill>
            <a:schemeClr val="tx2"/>
          </a:solidFill>
          <a:latin typeface="Arial" pitchFamily="34" charset="0"/>
          <a:ea typeface="MS PGothic" pitchFamily="34" charset="-128"/>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1600">
          <a:solidFill>
            <a:schemeClr val="tx1"/>
          </a:solidFill>
          <a:latin typeface="Helvetica" pitchFamily="34" charset="0"/>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n-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7.jpg"/></Relationships>
</file>

<file path=ppt/slides/_rels/slide21.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0.jpg"/></Relationships>
</file>

<file path=ppt/slides/_rels/slide23.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3.xml"/><Relationship Id="rId1" Type="http://schemas.openxmlformats.org/officeDocument/2006/relationships/slideLayout" Target="../slideLayouts/slideLayout12.xml"/><Relationship Id="rId5" Type="http://schemas.openxmlformats.org/officeDocument/2006/relationships/image" Target="../media/image33.jpg"/><Relationship Id="rId4" Type="http://schemas.openxmlformats.org/officeDocument/2006/relationships/image" Target="../media/image32.jpg"/></Relationships>
</file>

<file path=ppt/slides/_rels/slide2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36.jpg"/></Relationships>
</file>

<file path=ppt/slides/_rels/slide28.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39.jpg"/><Relationship Id="rId4" Type="http://schemas.openxmlformats.org/officeDocument/2006/relationships/image" Target="../media/image38.jpg"/></Relationships>
</file>

<file path=ppt/slides/_rels/slide2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42.jp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5.png"/></Relationships>
</file>

<file path=ppt/slides/_rels/slide35.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6.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63.jp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68.jpg"/><Relationship Id="rId2" Type="http://schemas.openxmlformats.org/officeDocument/2006/relationships/notesSlide" Target="../notesSlides/notesSlide43.xml"/><Relationship Id="rId1" Type="http://schemas.openxmlformats.org/officeDocument/2006/relationships/slideLayout" Target="../slideLayouts/slideLayout12.xml"/><Relationship Id="rId4" Type="http://schemas.openxmlformats.org/officeDocument/2006/relationships/image" Target="../media/image69.png"/></Relationships>
</file>

<file path=ppt/slides/_rels/slide44.xml.rels><?xml version="1.0" encoding="UTF-8" standalone="yes"?>
<Relationships xmlns="http://schemas.openxmlformats.org/package/2006/relationships"><Relationship Id="rId3" Type="http://schemas.openxmlformats.org/officeDocument/2006/relationships/image" Target="../media/image70.jp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71.jp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72.jp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8" Type="http://schemas.openxmlformats.org/officeDocument/2006/relationships/image" Target="../media/image80.jpeg"/><Relationship Id="rId13" Type="http://schemas.openxmlformats.org/officeDocument/2006/relationships/image" Target="../media/image85.jpeg"/><Relationship Id="rId3" Type="http://schemas.openxmlformats.org/officeDocument/2006/relationships/image" Target="../media/image75.jpeg"/><Relationship Id="rId7" Type="http://schemas.openxmlformats.org/officeDocument/2006/relationships/image" Target="../media/image79.jpeg"/><Relationship Id="rId12" Type="http://schemas.openxmlformats.org/officeDocument/2006/relationships/image" Target="../media/image84.jpeg"/><Relationship Id="rId17" Type="http://schemas.openxmlformats.org/officeDocument/2006/relationships/image" Target="../media/image89.png"/><Relationship Id="rId2" Type="http://schemas.openxmlformats.org/officeDocument/2006/relationships/notesSlide" Target="../notesSlides/notesSlide50.xml"/><Relationship Id="rId16"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78.jpeg"/><Relationship Id="rId11" Type="http://schemas.openxmlformats.org/officeDocument/2006/relationships/image" Target="../media/image83.jpeg"/><Relationship Id="rId5" Type="http://schemas.openxmlformats.org/officeDocument/2006/relationships/image" Target="../media/image77.jpeg"/><Relationship Id="rId15" Type="http://schemas.openxmlformats.org/officeDocument/2006/relationships/image" Target="../media/image87.png"/><Relationship Id="rId10" Type="http://schemas.openxmlformats.org/officeDocument/2006/relationships/image" Target="../media/image82.jpeg"/><Relationship Id="rId4" Type="http://schemas.openxmlformats.org/officeDocument/2006/relationships/image" Target="../media/image76.jpeg"/><Relationship Id="rId9" Type="http://schemas.openxmlformats.org/officeDocument/2006/relationships/image" Target="../media/image81.jpeg"/><Relationship Id="rId14" Type="http://schemas.openxmlformats.org/officeDocument/2006/relationships/image" Target="../media/image86.png"/></Relationships>
</file>

<file path=ppt/slides/_rels/slide52.xml.rels><?xml version="1.0" encoding="UTF-8" standalone="yes"?>
<Relationships xmlns="http://schemas.openxmlformats.org/package/2006/relationships"><Relationship Id="rId8" Type="http://schemas.openxmlformats.org/officeDocument/2006/relationships/image" Target="../media/image80.jpeg"/><Relationship Id="rId13" Type="http://schemas.openxmlformats.org/officeDocument/2006/relationships/image" Target="../media/image85.jpeg"/><Relationship Id="rId3" Type="http://schemas.openxmlformats.org/officeDocument/2006/relationships/image" Target="../media/image77.jpeg"/><Relationship Id="rId7" Type="http://schemas.openxmlformats.org/officeDocument/2006/relationships/image" Target="../media/image79.jpeg"/><Relationship Id="rId12" Type="http://schemas.openxmlformats.org/officeDocument/2006/relationships/image" Target="../media/image84.jpeg"/><Relationship Id="rId17" Type="http://schemas.openxmlformats.org/officeDocument/2006/relationships/image" Target="../media/image89.png"/><Relationship Id="rId2" Type="http://schemas.openxmlformats.org/officeDocument/2006/relationships/notesSlide" Target="../notesSlides/notesSlide51.xml"/><Relationship Id="rId16" Type="http://schemas.openxmlformats.org/officeDocument/2006/relationships/image" Target="../media/image88.png"/><Relationship Id="rId1" Type="http://schemas.openxmlformats.org/officeDocument/2006/relationships/slideLayout" Target="../slideLayouts/slideLayout7.xml"/><Relationship Id="rId6" Type="http://schemas.openxmlformats.org/officeDocument/2006/relationships/image" Target="../media/image78.jpeg"/><Relationship Id="rId11" Type="http://schemas.openxmlformats.org/officeDocument/2006/relationships/image" Target="../media/image83.jpeg"/><Relationship Id="rId5" Type="http://schemas.openxmlformats.org/officeDocument/2006/relationships/image" Target="../media/image76.jpeg"/><Relationship Id="rId15" Type="http://schemas.openxmlformats.org/officeDocument/2006/relationships/image" Target="../media/image87.png"/><Relationship Id="rId10" Type="http://schemas.openxmlformats.org/officeDocument/2006/relationships/image" Target="../media/image82.jpeg"/><Relationship Id="rId4" Type="http://schemas.openxmlformats.org/officeDocument/2006/relationships/image" Target="../media/image75.jpeg"/><Relationship Id="rId9" Type="http://schemas.openxmlformats.org/officeDocument/2006/relationships/image" Target="../media/image81.jpeg"/><Relationship Id="rId14" Type="http://schemas.openxmlformats.org/officeDocument/2006/relationships/image" Target="../media/image86.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123.emf"/><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124.emf"/><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125.emf"/><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5"/>
          <p:cNvSpPr>
            <a:spLocks noChangeArrowheads="1"/>
          </p:cNvSpPr>
          <p:nvPr/>
        </p:nvSpPr>
        <p:spPr bwMode="auto">
          <a:xfrm>
            <a:off x="0" y="0"/>
            <a:ext cx="9144000" cy="637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defRPr>
            </a:lvl1pPr>
            <a:lvl2pPr marL="742950" indent="-285750">
              <a:spcBef>
                <a:spcPct val="20000"/>
              </a:spcBef>
              <a:buChar char="–"/>
              <a:defRPr sz="1600">
                <a:solidFill>
                  <a:schemeClr val="tx1"/>
                </a:solidFill>
                <a:latin typeface="Helvetica" panose="020B0604020202020204" pitchFamily="34" charset="0"/>
                <a:ea typeface="MS PGothic"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MS PGothic"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MS PGothic" panose="020B0600070205080204" pitchFamily="34" charset="-128"/>
              </a:defRPr>
            </a:lvl9pPr>
          </a:lstStyle>
          <a:p>
            <a:pPr algn="ctr" eaLnBrk="1" hangingPunct="1">
              <a:spcBef>
                <a:spcPct val="0"/>
              </a:spcBef>
              <a:buFontTx/>
              <a:buNone/>
            </a:pPr>
            <a:r>
              <a:rPr lang="en-US" altLang="en-US" sz="3600" dirty="0">
                <a:latin typeface="Georgia" panose="02040502050405020303" pitchFamily="18" charset="0"/>
              </a:rPr>
              <a:t>Parenthood as a Turning Point: Evidence from Social Media</a:t>
            </a:r>
          </a:p>
          <a:p>
            <a:pPr algn="ctr" eaLnBrk="1" hangingPunct="1">
              <a:spcBef>
                <a:spcPct val="0"/>
              </a:spcBef>
              <a:buFontTx/>
              <a:buNone/>
            </a:pPr>
            <a:endParaRPr lang="en-US" altLang="en-US" sz="2500" dirty="0">
              <a:latin typeface="Georgia" panose="02040502050405020303" pitchFamily="18" charset="0"/>
            </a:endParaRPr>
          </a:p>
          <a:p>
            <a:pPr algn="ctr" eaLnBrk="1" hangingPunct="1">
              <a:spcBef>
                <a:spcPct val="0"/>
              </a:spcBef>
              <a:buFontTx/>
              <a:buNone/>
            </a:pPr>
            <a:r>
              <a:rPr lang="en-US" altLang="en-US" sz="2500" dirty="0">
                <a:latin typeface="Georgia" panose="02040502050405020303" pitchFamily="18" charset="0"/>
              </a:rPr>
              <a:t>Coauthor: Karthik Srinivasan (U Michigan)</a:t>
            </a:r>
          </a:p>
          <a:p>
            <a:pPr algn="ctr" eaLnBrk="1" hangingPunct="1">
              <a:spcBef>
                <a:spcPct val="0"/>
              </a:spcBef>
              <a:buFontTx/>
              <a:buNone/>
            </a:pPr>
            <a:endParaRPr lang="en-US" altLang="en-US" sz="2500" dirty="0">
              <a:latin typeface="Georgia" panose="02040502050405020303" pitchFamily="18" charset="0"/>
            </a:endParaRPr>
          </a:p>
          <a:p>
            <a:pPr algn="ctr" eaLnBrk="1" hangingPunct="1">
              <a:spcBef>
                <a:spcPct val="0"/>
              </a:spcBef>
              <a:buFontTx/>
              <a:buNone/>
            </a:pPr>
            <a:r>
              <a:rPr lang="en-US" altLang="en-US" sz="2500" dirty="0">
                <a:latin typeface="Georgia" panose="02040502050405020303" pitchFamily="18" charset="0"/>
              </a:rPr>
              <a:t>&amp;</a:t>
            </a:r>
          </a:p>
          <a:p>
            <a:pPr algn="ctr" eaLnBrk="1" hangingPunct="1">
              <a:spcBef>
                <a:spcPct val="0"/>
              </a:spcBef>
              <a:buFontTx/>
              <a:buNone/>
            </a:pPr>
            <a:endParaRPr lang="en-US" altLang="en-US" sz="2500" dirty="0">
              <a:latin typeface="Georgia" panose="02040502050405020303" pitchFamily="18" charset="0"/>
            </a:endParaRPr>
          </a:p>
          <a:p>
            <a:pPr algn="ctr" eaLnBrk="1" hangingPunct="1">
              <a:spcBef>
                <a:spcPct val="0"/>
              </a:spcBef>
              <a:buFontTx/>
              <a:buNone/>
            </a:pPr>
            <a:r>
              <a:rPr lang="en-US" altLang="en-US" sz="3600" dirty="0">
                <a:latin typeface="Georgia" panose="02040502050405020303" pitchFamily="18" charset="0"/>
              </a:rPr>
              <a:t>Do People Know Who’s Happy?</a:t>
            </a:r>
          </a:p>
          <a:p>
            <a:pPr algn="ctr" eaLnBrk="1" hangingPunct="1">
              <a:spcBef>
                <a:spcPct val="0"/>
              </a:spcBef>
              <a:buFontTx/>
              <a:buNone/>
            </a:pPr>
            <a:endParaRPr lang="en-US" altLang="en-US" sz="2500" dirty="0">
              <a:latin typeface="Georgia" panose="02040502050405020303" pitchFamily="18" charset="0"/>
            </a:endParaRPr>
          </a:p>
          <a:p>
            <a:pPr algn="ctr" eaLnBrk="1" hangingPunct="1">
              <a:spcBef>
                <a:spcPct val="0"/>
              </a:spcBef>
              <a:buFontTx/>
              <a:buNone/>
            </a:pPr>
            <a:r>
              <a:rPr lang="en-US" altLang="en-US" sz="2500" dirty="0">
                <a:latin typeface="Georgia" panose="02040502050405020303" pitchFamily="18" charset="0"/>
              </a:rPr>
              <a:t>Coauthors: Hannah Lybbert (U Chicago) and Justin Sydnor (U Wisconsin)</a:t>
            </a:r>
          </a:p>
          <a:p>
            <a:pPr algn="ctr" eaLnBrk="1" hangingPunct="1">
              <a:spcBef>
                <a:spcPct val="0"/>
              </a:spcBef>
              <a:buFontTx/>
              <a:buNone/>
            </a:pPr>
            <a:endParaRPr lang="en-US" altLang="en-US" sz="2500" dirty="0">
              <a:latin typeface="Georgia" panose="02040502050405020303" pitchFamily="18" charset="0"/>
            </a:endParaRPr>
          </a:p>
          <a:p>
            <a:pPr algn="ctr" eaLnBrk="1" hangingPunct="1">
              <a:spcBef>
                <a:spcPct val="0"/>
              </a:spcBef>
              <a:buFontTx/>
              <a:buNone/>
            </a:pPr>
            <a:endParaRPr lang="en-US" altLang="en-US" sz="2500" dirty="0">
              <a:latin typeface="Georgia" panose="02040502050405020303" pitchFamily="18" charset="0"/>
            </a:endParaRPr>
          </a:p>
          <a:p>
            <a:pPr algn="ctr" eaLnBrk="1" hangingPunct="1">
              <a:spcBef>
                <a:spcPct val="0"/>
              </a:spcBef>
              <a:buFontTx/>
              <a:buNone/>
            </a:pPr>
            <a:r>
              <a:rPr lang="en-US" altLang="en-US" sz="2500" dirty="0">
                <a:latin typeface="Georgia" panose="02040502050405020303" pitchFamily="18" charset="0"/>
              </a:rPr>
              <a:t>Devin Pope – August 15, 2026</a:t>
            </a:r>
          </a:p>
          <a:p>
            <a:pPr algn="ctr" eaLnBrk="1" hangingPunct="1">
              <a:spcBef>
                <a:spcPct val="0"/>
              </a:spcBef>
              <a:buFontTx/>
              <a:buNone/>
            </a:pPr>
            <a:endParaRPr lang="en-US" altLang="en-US" sz="2500" dirty="0">
              <a:latin typeface="Georgia" panose="020405020504050203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Does parenthood change us?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219200"/>
            <a:ext cx="7620000" cy="5632311"/>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“Motherhood has a very humanizing effect. Everything gets reduced to essentials.” – Meryl Streep</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“Becoming a father changed my whole life. It taught me as if by revelation.” – Abraham Maslow</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“There was the pre-kid me and the post-kid me” – Joe Rogan</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“I am way more emotional… before kids, I was probably cold-hearted. But now? I’m a loving kind of fella.” – A$AP Rocky</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“[Becoming a mother] has changed absolutely everything. It is such an incredible catalyst for growth. I found myself questioning absolutely everything: how I spend my time, how I speak, what kinds of projects I work on, and how I look at the world.” – Jennifer Connelly</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“Becoming a father has changed me more than anything else in life.” – Prince Harry</a:t>
            </a:r>
          </a:p>
        </p:txBody>
      </p:sp>
    </p:spTree>
    <p:extLst>
      <p:ext uri="{BB962C8B-B14F-4D97-AF65-F5344CB8AC3E}">
        <p14:creationId xmlns:p14="http://schemas.microsoft.com/office/powerpoint/2010/main" val="3549850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An understudied topic?</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295400"/>
            <a:ext cx="7620000" cy="2252924"/>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Parenthood is likely to be one of the more impactful experiences that we have in life</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Could change preferences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Could change incentives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Understanding the impact of parenthood is important in the context of declining fertility rates</a:t>
            </a:r>
          </a:p>
        </p:txBody>
      </p:sp>
    </p:spTree>
    <p:extLst>
      <p:ext uri="{BB962C8B-B14F-4D97-AF65-F5344CB8AC3E}">
        <p14:creationId xmlns:p14="http://schemas.microsoft.com/office/powerpoint/2010/main" val="77776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An understudied topic? Cont.</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295400"/>
            <a:ext cx="7696200" cy="5576911"/>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The topic is generally difficult to study using laboratory methods. But some work in psychology nonetheless (often correlational evidence and mostly survey data):</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Impact of parenthood on happiness and marital satisfaction – Twenge et al. (2003); Kahneman et al. (2005), Lucas et al (2003), Nelson et al. (2013), etc.</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Having a baby can change your view of how dangerous the world is – </a:t>
            </a:r>
            <a:r>
              <a:rPr lang="en-US" dirty="0" err="1">
                <a:latin typeface="Cambria" pitchFamily="18" charset="0"/>
                <a:ea typeface="ＭＳ Ｐゴシック" pitchFamily="34" charset="-128"/>
              </a:rPr>
              <a:t>Eibach</a:t>
            </a:r>
            <a:r>
              <a:rPr lang="en-US" dirty="0">
                <a:latin typeface="Cambria" pitchFamily="18" charset="0"/>
                <a:ea typeface="ＭＳ Ｐゴシック" pitchFamily="34" charset="-128"/>
              </a:rPr>
              <a:t>, Libby, and Gilovich (2003) </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Some other outcomes like impact of parenthood on sleep, physical well being, brain structure, etc.</a:t>
            </a:r>
          </a:p>
          <a:p>
            <a:pPr>
              <a:spcBef>
                <a:spcPct val="20000"/>
              </a:spcBef>
              <a:defRPr/>
            </a:pPr>
            <a:endParaRPr lang="en-US" dirty="0">
              <a:highlight>
                <a:srgbClr val="FFFF00"/>
              </a:highlight>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The impact of parenthood as studied by economists: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Child penalties on wage inequality and career trajectories – </a:t>
            </a:r>
            <a:r>
              <a:rPr lang="en-US" dirty="0" err="1">
                <a:latin typeface="Cambria" pitchFamily="18" charset="0"/>
                <a:ea typeface="ＭＳ Ｐゴシック" pitchFamily="34" charset="-128"/>
              </a:rPr>
              <a:t>Kleven</a:t>
            </a:r>
            <a:r>
              <a:rPr lang="en-US" dirty="0">
                <a:latin typeface="Cambria" pitchFamily="18" charset="0"/>
                <a:ea typeface="ＭＳ Ｐゴシック" pitchFamily="34" charset="-128"/>
              </a:rPr>
              <a:t> et al. (2019, 2025), </a:t>
            </a:r>
            <a:r>
              <a:rPr lang="en-US" dirty="0" err="1">
                <a:latin typeface="Cambria" pitchFamily="18" charset="0"/>
                <a:ea typeface="ＭＳ Ｐゴシック" pitchFamily="34" charset="-128"/>
              </a:rPr>
              <a:t>Lundborg</a:t>
            </a:r>
            <a:r>
              <a:rPr lang="en-US" dirty="0">
                <a:latin typeface="Cambria" pitchFamily="18" charset="0"/>
                <a:ea typeface="ＭＳ Ｐゴシック" pitchFamily="34" charset="-128"/>
              </a:rPr>
              <a:t> et al. (2017)</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 need more… how does parenthood affect consumption, political preferences, religiosity, risk-taking, social identity, etc.</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Crime – Rose and Massenkoff (2024)</a:t>
            </a:r>
          </a:p>
        </p:txBody>
      </p:sp>
    </p:spTree>
    <p:extLst>
      <p:ext uri="{BB962C8B-B14F-4D97-AF65-F5344CB8AC3E}">
        <p14:creationId xmlns:p14="http://schemas.microsoft.com/office/powerpoint/2010/main" val="3067276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6200" y="152400"/>
            <a:ext cx="8991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Rose &amp; Massenkoff (2024) – Mother’s (first birth)</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8D61D5E2-7F05-41C3-AE18-D7A1838B6F7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313" y="1219200"/>
            <a:ext cx="7843373"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9283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6200" y="152400"/>
            <a:ext cx="8991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Rose &amp; Massenkoff (2024) – Father’s (first birth)</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1">
            <a:extLst>
              <a:ext uri="{FF2B5EF4-FFF2-40B4-BE49-F238E27FC236}">
                <a16:creationId xmlns:a16="http://schemas.microsoft.com/office/drawing/2014/main" id="{036061E8-4588-4CE7-B232-252A1D800EA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3558" y="1295400"/>
            <a:ext cx="7856883"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99027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6200" y="152400"/>
            <a:ext cx="8991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Rose &amp; Massenkoff (2024) – Father’s (first birth)</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690A0041-7D31-4CFD-89CE-34F250CE008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0600" y="1357043"/>
            <a:ext cx="7162800" cy="4818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4">
            <a:extLst>
              <a:ext uri="{FF2B5EF4-FFF2-40B4-BE49-F238E27FC236}">
                <a16:creationId xmlns:a16="http://schemas.microsoft.com/office/drawing/2014/main" id="{4A671542-2E4A-4E55-B771-64D7123CAA58}"/>
              </a:ext>
            </a:extLst>
          </p:cNvPr>
          <p:cNvSpPr txBox="1">
            <a:spLocks noChangeArrowheads="1"/>
          </p:cNvSpPr>
          <p:nvPr/>
        </p:nvSpPr>
        <p:spPr bwMode="auto">
          <a:xfrm>
            <a:off x="609600" y="6208040"/>
            <a:ext cx="8153400" cy="646331"/>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Economic: theft/shoplifting, burglary, forgery; Drugs: illegal drug possession, providing liquor to minors; Destruction: vandalism, property damage</a:t>
            </a:r>
          </a:p>
        </p:txBody>
      </p:sp>
    </p:spTree>
    <p:extLst>
      <p:ext uri="{BB962C8B-B14F-4D97-AF65-F5344CB8AC3E}">
        <p14:creationId xmlns:p14="http://schemas.microsoft.com/office/powerpoint/2010/main" val="1026165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Social media as a source of data</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447800"/>
            <a:ext cx="7620000" cy="4745915"/>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It can be hard to find data with exact dates of birth paired with interesting behavior/outcomes.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We scan Twitter and Reddit and flag birth announcements (sample: ~7,000 Twitter and ~22,000 Reddit announcements).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We can look into the life of these new parents by how and what they post about leading up to and after birth.</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b="1" dirty="0">
                <a:latin typeface="Cambria" pitchFamily="18" charset="0"/>
                <a:ea typeface="ＭＳ Ｐゴシック" pitchFamily="34" charset="-128"/>
              </a:rPr>
              <a:t>Research Questions</a:t>
            </a:r>
          </a:p>
          <a:p>
            <a:pPr marL="342900" indent="-342900">
              <a:spcBef>
                <a:spcPct val="20000"/>
              </a:spcBef>
              <a:buAutoNum type="arabicPeriod"/>
              <a:defRPr/>
            </a:pPr>
            <a:r>
              <a:rPr lang="en-US" dirty="0">
                <a:latin typeface="Cambria" pitchFamily="18" charset="0"/>
                <a:ea typeface="ＭＳ Ｐゴシック" pitchFamily="34" charset="-128"/>
              </a:rPr>
              <a:t>How does parenthood impact posting frequency? Does it differ for mothers vs. fathers?</a:t>
            </a:r>
          </a:p>
          <a:p>
            <a:pPr marL="342900" indent="-342900">
              <a:spcBef>
                <a:spcPct val="20000"/>
              </a:spcBef>
              <a:buAutoNum type="arabicPeriod"/>
              <a:defRPr/>
            </a:pPr>
            <a:r>
              <a:rPr lang="en-US" dirty="0">
                <a:latin typeface="Cambria" pitchFamily="18" charset="0"/>
                <a:ea typeface="ＭＳ Ｐゴシック" pitchFamily="34" charset="-128"/>
              </a:rPr>
              <a:t>Do the topics that someone posts about change after having a child?</a:t>
            </a:r>
          </a:p>
          <a:p>
            <a:pPr marL="342900" indent="-342900">
              <a:spcBef>
                <a:spcPct val="20000"/>
              </a:spcBef>
              <a:buAutoNum type="arabicPeriod"/>
              <a:defRPr/>
            </a:pPr>
            <a:r>
              <a:rPr lang="en-US" dirty="0">
                <a:latin typeface="Cambria" pitchFamily="18" charset="0"/>
                <a:ea typeface="ＭＳ Ｐゴシック" pitchFamily="34" charset="-128"/>
              </a:rPr>
              <a:t>How does overall sentiment (e.g. positivity) of posts change after becoming a parent?</a:t>
            </a:r>
          </a:p>
        </p:txBody>
      </p:sp>
    </p:spTree>
    <p:extLst>
      <p:ext uri="{BB962C8B-B14F-4D97-AF65-F5344CB8AC3E}">
        <p14:creationId xmlns:p14="http://schemas.microsoft.com/office/powerpoint/2010/main" val="1222229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Outline of talk</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02688"/>
            <a:ext cx="7620000" cy="4358116"/>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Introduction</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Twitter</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Data collection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Posting frequency</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Topics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Sentiment analysis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Reddit</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Early findings</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3578081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Twitter data collection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9F86656F-31D7-4281-BE58-E09E724CC610}"/>
              </a:ext>
            </a:extLst>
          </p:cNvPr>
          <p:cNvPicPr>
            <a:picLocks noChangeAspect="1"/>
          </p:cNvPicPr>
          <p:nvPr/>
        </p:nvPicPr>
        <p:blipFill>
          <a:blip r:embed="rId3"/>
          <a:stretch>
            <a:fillRect/>
          </a:stretch>
        </p:blipFill>
        <p:spPr>
          <a:xfrm>
            <a:off x="10134600" y="4384325"/>
            <a:ext cx="4291185" cy="2776333"/>
          </a:xfrm>
          <a:prstGeom prst="rect">
            <a:avLst/>
          </a:prstGeom>
        </p:spPr>
      </p:pic>
      <p:pic>
        <p:nvPicPr>
          <p:cNvPr id="3" name="Picture 2">
            <a:extLst>
              <a:ext uri="{FF2B5EF4-FFF2-40B4-BE49-F238E27FC236}">
                <a16:creationId xmlns:a16="http://schemas.microsoft.com/office/drawing/2014/main" id="{3A35439C-2253-4841-AC5C-6EFA560D7B10}"/>
              </a:ext>
            </a:extLst>
          </p:cNvPr>
          <p:cNvPicPr>
            <a:picLocks noChangeAspect="1"/>
          </p:cNvPicPr>
          <p:nvPr/>
        </p:nvPicPr>
        <p:blipFill>
          <a:blip r:embed="rId4"/>
          <a:stretch>
            <a:fillRect/>
          </a:stretch>
        </p:blipFill>
        <p:spPr>
          <a:xfrm>
            <a:off x="430447" y="1387491"/>
            <a:ext cx="8283105" cy="4967872"/>
          </a:xfrm>
          <a:prstGeom prst="rect">
            <a:avLst/>
          </a:prstGeom>
        </p:spPr>
      </p:pic>
    </p:spTree>
    <p:extLst>
      <p:ext uri="{BB962C8B-B14F-4D97-AF65-F5344CB8AC3E}">
        <p14:creationId xmlns:p14="http://schemas.microsoft.com/office/powerpoint/2010/main" val="42735168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Examples of birth announcements on Twitter</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A7214944-32CA-43D7-8EBD-11B50B2213AD}"/>
              </a:ext>
            </a:extLst>
          </p:cNvPr>
          <p:cNvPicPr>
            <a:picLocks noChangeAspect="1"/>
          </p:cNvPicPr>
          <p:nvPr/>
        </p:nvPicPr>
        <p:blipFill>
          <a:blip r:embed="rId3"/>
          <a:stretch>
            <a:fillRect/>
          </a:stretch>
        </p:blipFill>
        <p:spPr>
          <a:xfrm>
            <a:off x="108750" y="1190987"/>
            <a:ext cx="4463250" cy="1846543"/>
          </a:xfrm>
          <a:prstGeom prst="rect">
            <a:avLst/>
          </a:prstGeom>
        </p:spPr>
      </p:pic>
      <p:pic>
        <p:nvPicPr>
          <p:cNvPr id="23" name="Picture 22">
            <a:extLst>
              <a:ext uri="{FF2B5EF4-FFF2-40B4-BE49-F238E27FC236}">
                <a16:creationId xmlns:a16="http://schemas.microsoft.com/office/drawing/2014/main" id="{B2C72A11-258E-446F-AD85-097E4F457D92}"/>
              </a:ext>
            </a:extLst>
          </p:cNvPr>
          <p:cNvPicPr>
            <a:picLocks noChangeAspect="1"/>
          </p:cNvPicPr>
          <p:nvPr/>
        </p:nvPicPr>
        <p:blipFill>
          <a:blip r:embed="rId4"/>
          <a:stretch>
            <a:fillRect/>
          </a:stretch>
        </p:blipFill>
        <p:spPr>
          <a:xfrm>
            <a:off x="133220" y="3048000"/>
            <a:ext cx="4362580" cy="1809323"/>
          </a:xfrm>
          <a:prstGeom prst="rect">
            <a:avLst/>
          </a:prstGeom>
        </p:spPr>
      </p:pic>
      <p:pic>
        <p:nvPicPr>
          <p:cNvPr id="29" name="Picture 28">
            <a:extLst>
              <a:ext uri="{FF2B5EF4-FFF2-40B4-BE49-F238E27FC236}">
                <a16:creationId xmlns:a16="http://schemas.microsoft.com/office/drawing/2014/main" id="{A7D506B6-6C7E-4449-8D64-C675124F46ED}"/>
              </a:ext>
            </a:extLst>
          </p:cNvPr>
          <p:cNvPicPr>
            <a:picLocks noChangeAspect="1"/>
          </p:cNvPicPr>
          <p:nvPr/>
        </p:nvPicPr>
        <p:blipFill>
          <a:blip r:embed="rId5"/>
          <a:stretch>
            <a:fillRect/>
          </a:stretch>
        </p:blipFill>
        <p:spPr>
          <a:xfrm>
            <a:off x="4705222" y="1206970"/>
            <a:ext cx="4284434" cy="1953198"/>
          </a:xfrm>
          <a:prstGeom prst="rect">
            <a:avLst/>
          </a:prstGeom>
        </p:spPr>
      </p:pic>
      <p:pic>
        <p:nvPicPr>
          <p:cNvPr id="33" name="Picture 32">
            <a:extLst>
              <a:ext uri="{FF2B5EF4-FFF2-40B4-BE49-F238E27FC236}">
                <a16:creationId xmlns:a16="http://schemas.microsoft.com/office/drawing/2014/main" id="{56C1B6AB-4C88-4F7F-979A-FFA25948D75E}"/>
              </a:ext>
            </a:extLst>
          </p:cNvPr>
          <p:cNvPicPr>
            <a:picLocks noChangeAspect="1"/>
          </p:cNvPicPr>
          <p:nvPr/>
        </p:nvPicPr>
        <p:blipFill>
          <a:blip r:embed="rId6"/>
          <a:stretch>
            <a:fillRect/>
          </a:stretch>
        </p:blipFill>
        <p:spPr>
          <a:xfrm>
            <a:off x="4705222" y="3274428"/>
            <a:ext cx="4071740" cy="2376602"/>
          </a:xfrm>
          <a:prstGeom prst="rect">
            <a:avLst/>
          </a:prstGeom>
        </p:spPr>
      </p:pic>
      <p:pic>
        <p:nvPicPr>
          <p:cNvPr id="8" name="Picture 7">
            <a:extLst>
              <a:ext uri="{FF2B5EF4-FFF2-40B4-BE49-F238E27FC236}">
                <a16:creationId xmlns:a16="http://schemas.microsoft.com/office/drawing/2014/main" id="{10A75DDA-8D3D-438D-845D-A7C24ACDE68C}"/>
              </a:ext>
            </a:extLst>
          </p:cNvPr>
          <p:cNvPicPr>
            <a:picLocks noChangeAspect="1"/>
          </p:cNvPicPr>
          <p:nvPr/>
        </p:nvPicPr>
        <p:blipFill>
          <a:blip r:embed="rId7"/>
          <a:stretch>
            <a:fillRect/>
          </a:stretch>
        </p:blipFill>
        <p:spPr>
          <a:xfrm>
            <a:off x="133220" y="4876800"/>
            <a:ext cx="4362580" cy="1893195"/>
          </a:xfrm>
          <a:prstGeom prst="rect">
            <a:avLst/>
          </a:prstGeom>
        </p:spPr>
      </p:pic>
    </p:spTree>
    <p:extLst>
      <p:ext uri="{BB962C8B-B14F-4D97-AF65-F5344CB8AC3E}">
        <p14:creationId xmlns:p14="http://schemas.microsoft.com/office/powerpoint/2010/main" val="39349049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Examples of birth announcements on Reddit</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9AD2B3C-98D2-440C-8A89-32AC74F40F35}"/>
              </a:ext>
            </a:extLst>
          </p:cNvPr>
          <p:cNvPicPr>
            <a:picLocks noChangeAspect="1"/>
          </p:cNvPicPr>
          <p:nvPr/>
        </p:nvPicPr>
        <p:blipFill>
          <a:blip r:embed="rId3"/>
          <a:stretch>
            <a:fillRect/>
          </a:stretch>
        </p:blipFill>
        <p:spPr>
          <a:xfrm>
            <a:off x="4739833" y="3839588"/>
            <a:ext cx="4310783" cy="2190596"/>
          </a:xfrm>
          <a:prstGeom prst="rect">
            <a:avLst/>
          </a:prstGeom>
        </p:spPr>
      </p:pic>
      <p:pic>
        <p:nvPicPr>
          <p:cNvPr id="8" name="Picture 7">
            <a:extLst>
              <a:ext uri="{FF2B5EF4-FFF2-40B4-BE49-F238E27FC236}">
                <a16:creationId xmlns:a16="http://schemas.microsoft.com/office/drawing/2014/main" id="{F8459F47-C319-40CE-BBBE-7CBA55B41AFC}"/>
              </a:ext>
            </a:extLst>
          </p:cNvPr>
          <p:cNvPicPr>
            <a:picLocks noChangeAspect="1"/>
          </p:cNvPicPr>
          <p:nvPr/>
        </p:nvPicPr>
        <p:blipFill>
          <a:blip r:embed="rId4"/>
          <a:stretch>
            <a:fillRect/>
          </a:stretch>
        </p:blipFill>
        <p:spPr>
          <a:xfrm>
            <a:off x="154150" y="4267200"/>
            <a:ext cx="4341650" cy="2190596"/>
          </a:xfrm>
          <a:prstGeom prst="rect">
            <a:avLst/>
          </a:prstGeom>
        </p:spPr>
      </p:pic>
      <p:pic>
        <p:nvPicPr>
          <p:cNvPr id="10" name="Picture 9">
            <a:extLst>
              <a:ext uri="{FF2B5EF4-FFF2-40B4-BE49-F238E27FC236}">
                <a16:creationId xmlns:a16="http://schemas.microsoft.com/office/drawing/2014/main" id="{DA0488B6-5374-4941-8383-BA1D58DA521C}"/>
              </a:ext>
            </a:extLst>
          </p:cNvPr>
          <p:cNvPicPr>
            <a:picLocks noChangeAspect="1"/>
          </p:cNvPicPr>
          <p:nvPr/>
        </p:nvPicPr>
        <p:blipFill>
          <a:blip r:embed="rId5"/>
          <a:stretch>
            <a:fillRect/>
          </a:stretch>
        </p:blipFill>
        <p:spPr>
          <a:xfrm>
            <a:off x="108817" y="1600200"/>
            <a:ext cx="4310783" cy="2222624"/>
          </a:xfrm>
          <a:prstGeom prst="rect">
            <a:avLst/>
          </a:prstGeom>
        </p:spPr>
      </p:pic>
      <p:pic>
        <p:nvPicPr>
          <p:cNvPr id="12" name="Picture 11">
            <a:extLst>
              <a:ext uri="{FF2B5EF4-FFF2-40B4-BE49-F238E27FC236}">
                <a16:creationId xmlns:a16="http://schemas.microsoft.com/office/drawing/2014/main" id="{4BA707F7-1344-402A-87B9-C90D1C08A79C}"/>
              </a:ext>
            </a:extLst>
          </p:cNvPr>
          <p:cNvPicPr>
            <a:picLocks noChangeAspect="1"/>
          </p:cNvPicPr>
          <p:nvPr/>
        </p:nvPicPr>
        <p:blipFill>
          <a:blip r:embed="rId6"/>
          <a:stretch>
            <a:fillRect/>
          </a:stretch>
        </p:blipFill>
        <p:spPr>
          <a:xfrm>
            <a:off x="4755767" y="1600200"/>
            <a:ext cx="4312033" cy="1934588"/>
          </a:xfrm>
          <a:prstGeom prst="rect">
            <a:avLst/>
          </a:prstGeom>
        </p:spPr>
      </p:pic>
      <p:pic>
        <p:nvPicPr>
          <p:cNvPr id="16" name="Picture 15">
            <a:extLst>
              <a:ext uri="{FF2B5EF4-FFF2-40B4-BE49-F238E27FC236}">
                <a16:creationId xmlns:a16="http://schemas.microsoft.com/office/drawing/2014/main" id="{BDE9368C-E710-4B61-BFF3-B2ED90477C54}"/>
              </a:ext>
            </a:extLst>
          </p:cNvPr>
          <p:cNvPicPr>
            <a:picLocks noChangeAspect="1"/>
          </p:cNvPicPr>
          <p:nvPr/>
        </p:nvPicPr>
        <p:blipFill>
          <a:blip r:embed="rId7"/>
          <a:stretch>
            <a:fillRect/>
          </a:stretch>
        </p:blipFill>
        <p:spPr>
          <a:xfrm>
            <a:off x="9525000" y="3786729"/>
            <a:ext cx="4206053" cy="2175022"/>
          </a:xfrm>
          <a:prstGeom prst="rect">
            <a:avLst/>
          </a:prstGeom>
        </p:spPr>
      </p:pic>
      <p:pic>
        <p:nvPicPr>
          <p:cNvPr id="19" name="Picture 18">
            <a:extLst>
              <a:ext uri="{FF2B5EF4-FFF2-40B4-BE49-F238E27FC236}">
                <a16:creationId xmlns:a16="http://schemas.microsoft.com/office/drawing/2014/main" id="{6E6FBE25-6520-45A4-89C0-943CBE03B003}"/>
              </a:ext>
            </a:extLst>
          </p:cNvPr>
          <p:cNvPicPr>
            <a:picLocks noChangeAspect="1"/>
          </p:cNvPicPr>
          <p:nvPr/>
        </p:nvPicPr>
        <p:blipFill>
          <a:blip r:embed="rId8"/>
          <a:stretch>
            <a:fillRect/>
          </a:stretch>
        </p:blipFill>
        <p:spPr>
          <a:xfrm>
            <a:off x="10144518" y="1447800"/>
            <a:ext cx="3434135" cy="1261019"/>
          </a:xfrm>
          <a:prstGeom prst="rect">
            <a:avLst/>
          </a:prstGeom>
        </p:spPr>
      </p:pic>
    </p:spTree>
    <p:extLst>
      <p:ext uri="{BB962C8B-B14F-4D97-AF65-F5344CB8AC3E}">
        <p14:creationId xmlns:p14="http://schemas.microsoft.com/office/powerpoint/2010/main" val="3172445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Gender and Race Distributions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F3DA6B14-F9AE-44A3-88B0-84661811FA7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295400"/>
            <a:ext cx="8382000" cy="5029200"/>
          </a:xfrm>
          <a:prstGeom prst="rect">
            <a:avLst/>
          </a:prstGeom>
        </p:spPr>
      </p:pic>
    </p:spTree>
    <p:extLst>
      <p:ext uri="{BB962C8B-B14F-4D97-AF65-F5344CB8AC3E}">
        <p14:creationId xmlns:p14="http://schemas.microsoft.com/office/powerpoint/2010/main" val="4044900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Birth Dates Distribution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5FB02-DA72-4DFB-B544-EF4FEE202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71600"/>
            <a:ext cx="8382000" cy="5029200"/>
          </a:xfrm>
          <a:prstGeom prst="rect">
            <a:avLst/>
          </a:prstGeom>
        </p:spPr>
      </p:pic>
    </p:spTree>
    <p:extLst>
      <p:ext uri="{BB962C8B-B14F-4D97-AF65-F5344CB8AC3E}">
        <p14:creationId xmlns:p14="http://schemas.microsoft.com/office/powerpoint/2010/main" val="516254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Days From Birth Distribution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5FB02-DA72-4DFB-B544-EF4FEE202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71600"/>
            <a:ext cx="8382000" cy="5029200"/>
          </a:xfrm>
          <a:prstGeom prst="rect">
            <a:avLst/>
          </a:prstGeom>
        </p:spPr>
      </p:pic>
    </p:spTree>
    <p:extLst>
      <p:ext uri="{BB962C8B-B14F-4D97-AF65-F5344CB8AC3E}">
        <p14:creationId xmlns:p14="http://schemas.microsoft.com/office/powerpoint/2010/main" val="2058315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Twitter Account Creation Dates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5FB02-DA72-4DFB-B544-EF4FEE202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71600"/>
            <a:ext cx="8382000" cy="5029200"/>
          </a:xfrm>
          <a:prstGeom prst="rect">
            <a:avLst/>
          </a:prstGeom>
        </p:spPr>
      </p:pic>
    </p:spTree>
    <p:extLst>
      <p:ext uri="{BB962C8B-B14F-4D97-AF65-F5344CB8AC3E}">
        <p14:creationId xmlns:p14="http://schemas.microsoft.com/office/powerpoint/2010/main" val="4023658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Twitter Account Creation Dates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5FB02-DA72-4DFB-B544-EF4FEE2028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77074"/>
            <a:ext cx="8382000" cy="5018251"/>
          </a:xfrm>
          <a:prstGeom prst="rect">
            <a:avLst/>
          </a:prstGeom>
        </p:spPr>
      </p:pic>
    </p:spTree>
    <p:extLst>
      <p:ext uri="{BB962C8B-B14F-4D97-AF65-F5344CB8AC3E}">
        <p14:creationId xmlns:p14="http://schemas.microsoft.com/office/powerpoint/2010/main" val="33486832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Account-Level Features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57D23621-8769-4D36-AD8F-2F54725030E5}"/>
              </a:ext>
            </a:extLst>
          </p:cNvPr>
          <p:cNvPicPr>
            <a:picLocks noChangeAspect="1"/>
          </p:cNvPicPr>
          <p:nvPr/>
        </p:nvPicPr>
        <p:blipFill>
          <a:blip r:embed="rId3"/>
          <a:stretch>
            <a:fillRect/>
          </a:stretch>
        </p:blipFill>
        <p:spPr>
          <a:xfrm>
            <a:off x="-3962400" y="2016158"/>
            <a:ext cx="3128406" cy="2626368"/>
          </a:xfrm>
          <a:prstGeom prst="rect">
            <a:avLst/>
          </a:prstGeom>
        </p:spPr>
      </p:pic>
      <p:pic>
        <p:nvPicPr>
          <p:cNvPr id="9" name="Picture 8">
            <a:extLst>
              <a:ext uri="{FF2B5EF4-FFF2-40B4-BE49-F238E27FC236}">
                <a16:creationId xmlns:a16="http://schemas.microsoft.com/office/drawing/2014/main" id="{4F18C3A0-177E-4FB1-854F-31FD6C00313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9961" y="1676400"/>
            <a:ext cx="8964078" cy="2822508"/>
          </a:xfrm>
          <a:prstGeom prst="rect">
            <a:avLst/>
          </a:prstGeom>
        </p:spPr>
      </p:pic>
      <p:pic>
        <p:nvPicPr>
          <p:cNvPr id="3" name="Picture 2">
            <a:extLst>
              <a:ext uri="{FF2B5EF4-FFF2-40B4-BE49-F238E27FC236}">
                <a16:creationId xmlns:a16="http://schemas.microsoft.com/office/drawing/2014/main" id="{82433551-6756-4D2F-8392-363F66CD6373}"/>
              </a:ext>
            </a:extLst>
          </p:cNvPr>
          <p:cNvPicPr>
            <a:picLocks noChangeAspect="1"/>
          </p:cNvPicPr>
          <p:nvPr/>
        </p:nvPicPr>
        <p:blipFill>
          <a:blip r:embed="rId5"/>
          <a:stretch>
            <a:fillRect/>
          </a:stretch>
        </p:blipFill>
        <p:spPr>
          <a:xfrm>
            <a:off x="6019800" y="4498908"/>
            <a:ext cx="2819400" cy="2213078"/>
          </a:xfrm>
          <a:prstGeom prst="rect">
            <a:avLst/>
          </a:prstGeom>
        </p:spPr>
      </p:pic>
      <p:sp>
        <p:nvSpPr>
          <p:cNvPr id="17" name="Rectangle 16">
            <a:extLst>
              <a:ext uri="{FF2B5EF4-FFF2-40B4-BE49-F238E27FC236}">
                <a16:creationId xmlns:a16="http://schemas.microsoft.com/office/drawing/2014/main" id="{91FBCFC0-0AF8-4641-B529-556BD0A48B40}"/>
              </a:ext>
            </a:extLst>
          </p:cNvPr>
          <p:cNvSpPr/>
          <p:nvPr/>
        </p:nvSpPr>
        <p:spPr>
          <a:xfrm>
            <a:off x="7620000" y="2819400"/>
            <a:ext cx="118872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28BA033D-DC5C-402F-9D2C-EEC39C4D5B78}"/>
              </a:ext>
            </a:extLst>
          </p:cNvPr>
          <p:cNvPicPr>
            <a:picLocks noChangeAspect="1"/>
          </p:cNvPicPr>
          <p:nvPr/>
        </p:nvPicPr>
        <p:blipFill>
          <a:blip r:embed="rId6"/>
          <a:stretch>
            <a:fillRect/>
          </a:stretch>
        </p:blipFill>
        <p:spPr>
          <a:xfrm>
            <a:off x="2888985" y="4879908"/>
            <a:ext cx="2971419" cy="1709400"/>
          </a:xfrm>
          <a:prstGeom prst="rect">
            <a:avLst/>
          </a:prstGeom>
        </p:spPr>
      </p:pic>
    </p:spTree>
    <p:extLst>
      <p:ext uri="{BB962C8B-B14F-4D97-AF65-F5344CB8AC3E}">
        <p14:creationId xmlns:p14="http://schemas.microsoft.com/office/powerpoint/2010/main" val="285324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Outline of talk</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02688"/>
            <a:ext cx="7620000" cy="5022914"/>
          </a:xfrm>
          <a:prstGeom prst="rect">
            <a:avLst/>
          </a:prstGeom>
          <a:noFill/>
          <a:ln w="9525">
            <a:noFill/>
            <a:miter lim="800000"/>
            <a:headEnd/>
            <a:tailEnd/>
          </a:ln>
        </p:spPr>
        <p:txBody>
          <a:bodyPr wrap="square">
            <a:spAutoFit/>
          </a:bodyPr>
          <a:lstStyle/>
          <a:p>
            <a:pPr>
              <a:spcBef>
                <a:spcPct val="20000"/>
              </a:spcBef>
              <a:defRPr/>
            </a:pPr>
            <a:r>
              <a:rPr lang="en-US" dirty="0">
                <a:solidFill>
                  <a:schemeClr val="accent3">
                    <a:lumMod val="85000"/>
                  </a:schemeClr>
                </a:solidFill>
                <a:latin typeface="Cambria" pitchFamily="18" charset="0"/>
                <a:ea typeface="ＭＳ Ｐゴシック" pitchFamily="34" charset="-128"/>
              </a:rPr>
              <a:t>Introduction</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Twitter</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Data collection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Posting frequency</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Topics</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Sentiment analysis</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Reddit</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Early findings</a:t>
            </a:r>
          </a:p>
          <a:p>
            <a:pPr marL="285750" indent="-285750">
              <a:spcBef>
                <a:spcPct val="20000"/>
              </a:spcBef>
              <a:buFont typeface="Arial" panose="020B0604020202020204" pitchFamily="34" charset="0"/>
              <a:buChar char="•"/>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Conclusion</a:t>
            </a: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3450055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original + quote</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pic>
        <p:nvPicPr>
          <p:cNvPr id="9" name="Picture 8">
            <a:extLst>
              <a:ext uri="{FF2B5EF4-FFF2-40B4-BE49-F238E27FC236}">
                <a16:creationId xmlns:a16="http://schemas.microsoft.com/office/drawing/2014/main" id="{2BB71664-E2F6-4843-9862-E58F6E2419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8800" y="3886200"/>
            <a:ext cx="3429000" cy="2057400"/>
          </a:xfrm>
          <a:prstGeom prst="rect">
            <a:avLst/>
          </a:prstGeom>
        </p:spPr>
      </p:pic>
    </p:spTree>
    <p:extLst>
      <p:ext uri="{BB962C8B-B14F-4D97-AF65-F5344CB8AC3E}">
        <p14:creationId xmlns:p14="http://schemas.microsoft.com/office/powerpoint/2010/main" val="844004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original + quote – pre/post</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spTree>
    <p:extLst>
      <p:ext uri="{BB962C8B-B14F-4D97-AF65-F5344CB8AC3E}">
        <p14:creationId xmlns:p14="http://schemas.microsoft.com/office/powerpoint/2010/main" val="29096739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Log original tweet frequency</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2262ED2-305C-48E7-A583-E843D55B4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8927" y="7267073"/>
            <a:ext cx="4850873" cy="2910524"/>
          </a:xfrm>
          <a:prstGeom prst="rect">
            <a:avLst/>
          </a:prstGeom>
        </p:spPr>
      </p:pic>
      <p:pic>
        <p:nvPicPr>
          <p:cNvPr id="15" name="Picture 14">
            <a:extLst>
              <a:ext uri="{FF2B5EF4-FFF2-40B4-BE49-F238E27FC236}">
                <a16:creationId xmlns:a16="http://schemas.microsoft.com/office/drawing/2014/main" id="{8BF7DB68-A7CB-4F0D-983A-D7A999E58A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1299411"/>
            <a:ext cx="8382000" cy="5029200"/>
          </a:xfrm>
          <a:prstGeom prst="rect">
            <a:avLst/>
          </a:prstGeom>
        </p:spPr>
      </p:pic>
      <p:sp>
        <p:nvSpPr>
          <p:cNvPr id="17" name="Right Brace 16">
            <a:extLst>
              <a:ext uri="{FF2B5EF4-FFF2-40B4-BE49-F238E27FC236}">
                <a16:creationId xmlns:a16="http://schemas.microsoft.com/office/drawing/2014/main" id="{6AF01F27-E9E4-4FAF-B73C-D2E44E4E2C94}"/>
              </a:ext>
            </a:extLst>
          </p:cNvPr>
          <p:cNvSpPr/>
          <p:nvPr/>
        </p:nvSpPr>
        <p:spPr>
          <a:xfrm>
            <a:off x="8229600" y="2209800"/>
            <a:ext cx="381000" cy="3048000"/>
          </a:xfrm>
          <a:prstGeom prst="rightBrac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chemeClr val="bg2">
                  <a:lumMod val="60000"/>
                  <a:lumOff val="40000"/>
                </a:schemeClr>
              </a:solidFill>
            </a:endParaRPr>
          </a:p>
        </p:txBody>
      </p:sp>
      <p:sp>
        <p:nvSpPr>
          <p:cNvPr id="18" name="TextBox 17">
            <a:extLst>
              <a:ext uri="{FF2B5EF4-FFF2-40B4-BE49-F238E27FC236}">
                <a16:creationId xmlns:a16="http://schemas.microsoft.com/office/drawing/2014/main" id="{B5C0ED88-F84D-4247-941D-EAE89CC7874B}"/>
              </a:ext>
            </a:extLst>
          </p:cNvPr>
          <p:cNvSpPr txBox="1"/>
          <p:nvPr/>
        </p:nvSpPr>
        <p:spPr>
          <a:xfrm rot="5400000">
            <a:off x="7976939" y="3627340"/>
            <a:ext cx="1828800" cy="373343"/>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~60% decrease</a:t>
            </a:r>
          </a:p>
        </p:txBody>
      </p:sp>
    </p:spTree>
    <p:extLst>
      <p:ext uri="{BB962C8B-B14F-4D97-AF65-F5344CB8AC3E}">
        <p14:creationId xmlns:p14="http://schemas.microsoft.com/office/powerpoint/2010/main" val="401711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Log original tweet frequency – by gender</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B2022D8E-19CC-4DE6-9DAA-168B6049C4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295400"/>
            <a:ext cx="8382000" cy="5029200"/>
          </a:xfrm>
          <a:prstGeom prst="rect">
            <a:avLst/>
          </a:prstGeom>
        </p:spPr>
      </p:pic>
      <p:pic>
        <p:nvPicPr>
          <p:cNvPr id="7" name="Picture 6">
            <a:extLst>
              <a:ext uri="{FF2B5EF4-FFF2-40B4-BE49-F238E27FC236}">
                <a16:creationId xmlns:a16="http://schemas.microsoft.com/office/drawing/2014/main" id="{F0186EBD-FB76-49B4-BF5B-CDF11CD8208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26507" y="7259053"/>
            <a:ext cx="4191000" cy="2514600"/>
          </a:xfrm>
          <a:prstGeom prst="rect">
            <a:avLst/>
          </a:prstGeom>
        </p:spPr>
      </p:pic>
      <p:pic>
        <p:nvPicPr>
          <p:cNvPr id="8" name="Picture 7">
            <a:extLst>
              <a:ext uri="{FF2B5EF4-FFF2-40B4-BE49-F238E27FC236}">
                <a16:creationId xmlns:a16="http://schemas.microsoft.com/office/drawing/2014/main" id="{D15ACE11-EB6A-4E7C-AB9D-06AA370196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7239000"/>
            <a:ext cx="3881400" cy="2328840"/>
          </a:xfrm>
          <a:prstGeom prst="rect">
            <a:avLst/>
          </a:prstGeom>
        </p:spPr>
      </p:pic>
      <p:sp>
        <p:nvSpPr>
          <p:cNvPr id="9" name="Right Brace 8">
            <a:extLst>
              <a:ext uri="{FF2B5EF4-FFF2-40B4-BE49-F238E27FC236}">
                <a16:creationId xmlns:a16="http://schemas.microsoft.com/office/drawing/2014/main" id="{5CC11444-EA80-4DEF-8B13-C3DF2837EFAA}"/>
              </a:ext>
            </a:extLst>
          </p:cNvPr>
          <p:cNvSpPr/>
          <p:nvPr/>
        </p:nvSpPr>
        <p:spPr>
          <a:xfrm>
            <a:off x="8343900" y="1752600"/>
            <a:ext cx="419100" cy="3429000"/>
          </a:xfrm>
          <a:prstGeom prst="rightBrace">
            <a:avLst/>
          </a:prstGeom>
          <a:ln w="38100">
            <a:solidFill>
              <a:srgbClr val="E1924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44008C46-26D8-4A43-B4CE-8EFBF2924DB1}"/>
              </a:ext>
            </a:extLst>
          </p:cNvPr>
          <p:cNvSpPr txBox="1"/>
          <p:nvPr/>
        </p:nvSpPr>
        <p:spPr>
          <a:xfrm rot="5400000">
            <a:off x="7976939" y="3627340"/>
            <a:ext cx="1828800" cy="373343"/>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~70% decrease</a:t>
            </a:r>
          </a:p>
        </p:txBody>
      </p:sp>
      <p:sp>
        <p:nvSpPr>
          <p:cNvPr id="11" name="Right Brace 10">
            <a:extLst>
              <a:ext uri="{FF2B5EF4-FFF2-40B4-BE49-F238E27FC236}">
                <a16:creationId xmlns:a16="http://schemas.microsoft.com/office/drawing/2014/main" id="{DDE3E549-CC91-44D4-B92F-08E965EB6186}"/>
              </a:ext>
            </a:extLst>
          </p:cNvPr>
          <p:cNvSpPr/>
          <p:nvPr/>
        </p:nvSpPr>
        <p:spPr>
          <a:xfrm>
            <a:off x="7497494" y="3599028"/>
            <a:ext cx="373344" cy="1734971"/>
          </a:xfrm>
          <a:prstGeom prst="rightBrace">
            <a:avLst/>
          </a:prstGeom>
          <a:ln w="38100">
            <a:solidFill>
              <a:srgbClr val="6C21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6830E225-DA14-49E6-9509-5DA1A2708AD4}"/>
              </a:ext>
            </a:extLst>
          </p:cNvPr>
          <p:cNvSpPr txBox="1"/>
          <p:nvPr/>
        </p:nvSpPr>
        <p:spPr>
          <a:xfrm rot="5400000">
            <a:off x="7215846" y="4284227"/>
            <a:ext cx="1828800" cy="373343"/>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~40% decrease</a:t>
            </a:r>
          </a:p>
        </p:txBody>
      </p:sp>
    </p:spTree>
    <p:extLst>
      <p:ext uri="{BB962C8B-B14F-4D97-AF65-F5344CB8AC3E}">
        <p14:creationId xmlns:p14="http://schemas.microsoft.com/office/powerpoint/2010/main" val="2119477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Extensive Margin – by gender</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B2022D8E-19CC-4DE6-9DAA-168B6049C4C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295400"/>
            <a:ext cx="8382000" cy="5029200"/>
          </a:xfrm>
          <a:prstGeom prst="rect">
            <a:avLst/>
          </a:prstGeom>
        </p:spPr>
      </p:pic>
    </p:spTree>
    <p:extLst>
      <p:ext uri="{BB962C8B-B14F-4D97-AF65-F5344CB8AC3E}">
        <p14:creationId xmlns:p14="http://schemas.microsoft.com/office/powerpoint/2010/main" val="24555510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Outline of talk</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02688"/>
            <a:ext cx="7620000" cy="5022914"/>
          </a:xfrm>
          <a:prstGeom prst="rect">
            <a:avLst/>
          </a:prstGeom>
          <a:noFill/>
          <a:ln w="9525">
            <a:noFill/>
            <a:miter lim="800000"/>
            <a:headEnd/>
            <a:tailEnd/>
          </a:ln>
        </p:spPr>
        <p:txBody>
          <a:bodyPr wrap="square">
            <a:spAutoFit/>
          </a:bodyPr>
          <a:lstStyle/>
          <a:p>
            <a:pPr>
              <a:spcBef>
                <a:spcPct val="20000"/>
              </a:spcBef>
              <a:defRPr/>
            </a:pPr>
            <a:r>
              <a:rPr lang="en-US" dirty="0">
                <a:solidFill>
                  <a:schemeClr val="accent3">
                    <a:lumMod val="85000"/>
                  </a:schemeClr>
                </a:solidFill>
                <a:latin typeface="Cambria" pitchFamily="18" charset="0"/>
                <a:ea typeface="ＭＳ Ｐゴシック" pitchFamily="34" charset="-128"/>
              </a:rPr>
              <a:t>Introduction</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Twitter</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Data collection</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Posting frequency</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Topics</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Sentiment analysis</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Reddit</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Early findings</a:t>
            </a:r>
          </a:p>
          <a:p>
            <a:pPr marL="285750" indent="-285750">
              <a:spcBef>
                <a:spcPct val="20000"/>
              </a:spcBef>
              <a:buFont typeface="Arial" panose="020B0604020202020204" pitchFamily="34" charset="0"/>
              <a:buChar char="•"/>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Conclusion</a:t>
            </a: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15353611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Topic Analysis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5214E5EE-825D-4AB0-A5CB-1D5FC742C30D}"/>
              </a:ext>
            </a:extLst>
          </p:cNvPr>
          <p:cNvSpPr txBox="1">
            <a:spLocks noChangeArrowheads="1"/>
          </p:cNvSpPr>
          <p:nvPr/>
        </p:nvSpPr>
        <p:spPr bwMode="auto">
          <a:xfrm>
            <a:off x="762000" y="1524000"/>
            <a:ext cx="7620000" cy="2031325"/>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What are people tweeting about?</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Method:</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Pre-trained AI NLP model (</a:t>
            </a:r>
            <a:r>
              <a:rPr lang="en-US" dirty="0" err="1">
                <a:latin typeface="Cambria" pitchFamily="18" charset="0"/>
                <a:ea typeface="ＭＳ Ｐゴシック" pitchFamily="34" charset="-128"/>
              </a:rPr>
              <a:t>RoBERTa</a:t>
            </a:r>
            <a:r>
              <a:rPr lang="en-US" dirty="0">
                <a:latin typeface="Cambria" pitchFamily="18" charset="0"/>
                <a:ea typeface="ＭＳ Ｐゴシック" pitchFamily="34" charset="-128"/>
              </a:rPr>
              <a:t>) trained specifically on tweets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Scores every tweet with a probability across 19 categories</a:t>
            </a:r>
          </a:p>
          <a:p>
            <a:pPr marL="742950" lvl="1"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Family, sports, food, etc.</a:t>
            </a:r>
          </a:p>
        </p:txBody>
      </p:sp>
    </p:spTree>
    <p:extLst>
      <p:ext uri="{BB962C8B-B14F-4D97-AF65-F5344CB8AC3E}">
        <p14:creationId xmlns:p14="http://schemas.microsoft.com/office/powerpoint/2010/main" val="1223297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Topic Category Shares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D3641995-526A-4838-9B90-6282FC062B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72600" y="5281749"/>
            <a:ext cx="2590800" cy="1554480"/>
          </a:xfrm>
          <a:prstGeom prst="rect">
            <a:avLst/>
          </a:prstGeom>
        </p:spPr>
      </p:pic>
      <p:pic>
        <p:nvPicPr>
          <p:cNvPr id="16" name="Picture 15">
            <a:extLst>
              <a:ext uri="{FF2B5EF4-FFF2-40B4-BE49-F238E27FC236}">
                <a16:creationId xmlns:a16="http://schemas.microsoft.com/office/drawing/2014/main" id="{B9913F7D-0CD2-4E8F-8BC2-2A2F9DE045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1" y="1219200"/>
            <a:ext cx="9144000" cy="5486400"/>
          </a:xfrm>
          <a:prstGeom prst="rect">
            <a:avLst/>
          </a:prstGeom>
        </p:spPr>
      </p:pic>
    </p:spTree>
    <p:extLst>
      <p:ext uri="{BB962C8B-B14F-4D97-AF65-F5344CB8AC3E}">
        <p14:creationId xmlns:p14="http://schemas.microsoft.com/office/powerpoint/2010/main" val="9774186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Topic Shares (by account per month)</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9913F7D-0CD2-4E8F-8BC2-2A2F9DE045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11" y="1219200"/>
            <a:ext cx="9144000" cy="5486400"/>
          </a:xfrm>
          <a:prstGeom prst="rect">
            <a:avLst/>
          </a:prstGeom>
        </p:spPr>
      </p:pic>
      <p:pic>
        <p:nvPicPr>
          <p:cNvPr id="6" name="Picture 5">
            <a:extLst>
              <a:ext uri="{FF2B5EF4-FFF2-40B4-BE49-F238E27FC236}">
                <a16:creationId xmlns:a16="http://schemas.microsoft.com/office/drawing/2014/main" id="{621D3BD8-BC03-4623-8467-5CADB1B114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96400" y="4800600"/>
            <a:ext cx="3195051" cy="1917031"/>
          </a:xfrm>
          <a:prstGeom prst="rect">
            <a:avLst/>
          </a:prstGeom>
        </p:spPr>
      </p:pic>
      <p:pic>
        <p:nvPicPr>
          <p:cNvPr id="7" name="Picture 6">
            <a:extLst>
              <a:ext uri="{FF2B5EF4-FFF2-40B4-BE49-F238E27FC236}">
                <a16:creationId xmlns:a16="http://schemas.microsoft.com/office/drawing/2014/main" id="{E76F0E07-9835-4A13-9F78-D2A8CC59B7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03919" y="2492943"/>
            <a:ext cx="3120189" cy="1872113"/>
          </a:xfrm>
          <a:prstGeom prst="rect">
            <a:avLst/>
          </a:prstGeom>
        </p:spPr>
      </p:pic>
    </p:spTree>
    <p:extLst>
      <p:ext uri="{BB962C8B-B14F-4D97-AF65-F5344CB8AC3E}">
        <p14:creationId xmlns:p14="http://schemas.microsoft.com/office/powerpoint/2010/main" val="17187665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Change in tweet topics </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9913F7D-0CD2-4E8F-8BC2-2A2F9DE0454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11" y="1219200"/>
            <a:ext cx="9144000" cy="5486400"/>
          </a:xfrm>
          <a:prstGeom prst="rect">
            <a:avLst/>
          </a:prstGeom>
        </p:spPr>
      </p:pic>
    </p:spTree>
    <p:extLst>
      <p:ext uri="{BB962C8B-B14F-4D97-AF65-F5344CB8AC3E}">
        <p14:creationId xmlns:p14="http://schemas.microsoft.com/office/powerpoint/2010/main" val="2795461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Probability of family tweet – by gender (FEs)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227E8FD8-BD95-4FC8-8EF5-15F17337F6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371600"/>
            <a:ext cx="8382000" cy="5029200"/>
          </a:xfrm>
          <a:prstGeom prst="rect">
            <a:avLst/>
          </a:prstGeom>
        </p:spPr>
      </p:pic>
      <p:pic>
        <p:nvPicPr>
          <p:cNvPr id="6" name="Picture 5">
            <a:extLst>
              <a:ext uri="{FF2B5EF4-FFF2-40B4-BE49-F238E27FC236}">
                <a16:creationId xmlns:a16="http://schemas.microsoft.com/office/drawing/2014/main" id="{775B9099-7111-4559-BC76-DD181BA55A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57600" y="4810225"/>
            <a:ext cx="3352800" cy="2011680"/>
          </a:xfrm>
          <a:prstGeom prst="rect">
            <a:avLst/>
          </a:prstGeom>
        </p:spPr>
      </p:pic>
    </p:spTree>
    <p:extLst>
      <p:ext uri="{BB962C8B-B14F-4D97-AF65-F5344CB8AC3E}">
        <p14:creationId xmlns:p14="http://schemas.microsoft.com/office/powerpoint/2010/main" val="79810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Outline of talk</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02688"/>
            <a:ext cx="7620000" cy="5022914"/>
          </a:xfrm>
          <a:prstGeom prst="rect">
            <a:avLst/>
          </a:prstGeom>
          <a:noFill/>
          <a:ln w="9525">
            <a:noFill/>
            <a:miter lim="800000"/>
            <a:headEnd/>
            <a:tailEnd/>
          </a:ln>
        </p:spPr>
        <p:txBody>
          <a:bodyPr wrap="square">
            <a:spAutoFit/>
          </a:bodyPr>
          <a:lstStyle/>
          <a:p>
            <a:pPr>
              <a:spcBef>
                <a:spcPct val="20000"/>
              </a:spcBef>
              <a:defRPr/>
            </a:pPr>
            <a:r>
              <a:rPr lang="en-US" dirty="0">
                <a:solidFill>
                  <a:schemeClr val="accent3">
                    <a:lumMod val="85000"/>
                  </a:schemeClr>
                </a:solidFill>
                <a:latin typeface="Cambria" pitchFamily="18" charset="0"/>
                <a:ea typeface="ＭＳ Ｐゴシック" pitchFamily="34" charset="-128"/>
              </a:rPr>
              <a:t>Introduction</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Twitter</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Data collection</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Posting frequency</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Topics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Sentiment analysis</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Reddit</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Early findings</a:t>
            </a:r>
          </a:p>
          <a:p>
            <a:pPr marL="285750" indent="-285750">
              <a:spcBef>
                <a:spcPct val="20000"/>
              </a:spcBef>
              <a:buFont typeface="Arial" panose="020B0604020202020204" pitchFamily="34" charset="0"/>
              <a:buChar char="•"/>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Conclusion</a:t>
            </a: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16601039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Sentiment Analysis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7" name="Rectangle 4">
            <a:extLst>
              <a:ext uri="{FF2B5EF4-FFF2-40B4-BE49-F238E27FC236}">
                <a16:creationId xmlns:a16="http://schemas.microsoft.com/office/drawing/2014/main" id="{5214E5EE-825D-4AB0-A5CB-1D5FC742C30D}"/>
              </a:ext>
            </a:extLst>
          </p:cNvPr>
          <p:cNvSpPr txBox="1">
            <a:spLocks noChangeArrowheads="1"/>
          </p:cNvSpPr>
          <p:nvPr/>
        </p:nvSpPr>
        <p:spPr bwMode="auto">
          <a:xfrm>
            <a:off x="762000" y="1524000"/>
            <a:ext cx="7620000" cy="2585323"/>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What is the emotional tone of a user’s tweets?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Method:</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Using the same pre-trained AI NLP model (</a:t>
            </a:r>
            <a:r>
              <a:rPr lang="en-US" dirty="0" err="1">
                <a:latin typeface="Cambria" pitchFamily="18" charset="0"/>
                <a:ea typeface="ＭＳ Ｐゴシック" pitchFamily="34" charset="-128"/>
              </a:rPr>
              <a:t>RoBERTa</a:t>
            </a:r>
            <a:r>
              <a:rPr lang="en-US" dirty="0">
                <a:latin typeface="Cambria" pitchFamily="18" charset="0"/>
                <a:ea typeface="ＭＳ Ｐゴシック" pitchFamily="34" charset="-128"/>
              </a:rPr>
              <a:t>), each tweet is scored on its positive, negative, and neutral sentiment (range of 0- for each).</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Final sentiment score = positive – negative (ranges from -1 to 1)</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Scores aggregated to the author level pre- and post-birth</a:t>
            </a:r>
          </a:p>
        </p:txBody>
      </p:sp>
    </p:spTree>
    <p:extLst>
      <p:ext uri="{BB962C8B-B14F-4D97-AF65-F5344CB8AC3E}">
        <p14:creationId xmlns:p14="http://schemas.microsoft.com/office/powerpoint/2010/main" val="39470026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Positive Tweets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AA634F4C-700F-4DE9-9FAD-511978834853}"/>
              </a:ext>
            </a:extLst>
          </p:cNvPr>
          <p:cNvPicPr>
            <a:picLocks noChangeAspect="1"/>
          </p:cNvPicPr>
          <p:nvPr/>
        </p:nvPicPr>
        <p:blipFill>
          <a:blip r:embed="rId3"/>
          <a:stretch>
            <a:fillRect/>
          </a:stretch>
        </p:blipFill>
        <p:spPr>
          <a:xfrm>
            <a:off x="76200" y="1143000"/>
            <a:ext cx="4696480" cy="1876687"/>
          </a:xfrm>
          <a:prstGeom prst="rect">
            <a:avLst/>
          </a:prstGeom>
        </p:spPr>
      </p:pic>
      <p:pic>
        <p:nvPicPr>
          <p:cNvPr id="24" name="Picture 23">
            <a:extLst>
              <a:ext uri="{FF2B5EF4-FFF2-40B4-BE49-F238E27FC236}">
                <a16:creationId xmlns:a16="http://schemas.microsoft.com/office/drawing/2014/main" id="{007993EE-5609-487E-87C7-1B3EFEDC7B54}"/>
              </a:ext>
            </a:extLst>
          </p:cNvPr>
          <p:cNvPicPr>
            <a:picLocks noChangeAspect="1"/>
          </p:cNvPicPr>
          <p:nvPr/>
        </p:nvPicPr>
        <p:blipFill>
          <a:blip r:embed="rId4"/>
          <a:stretch>
            <a:fillRect/>
          </a:stretch>
        </p:blipFill>
        <p:spPr>
          <a:xfrm>
            <a:off x="76200" y="3048000"/>
            <a:ext cx="4648849" cy="2086266"/>
          </a:xfrm>
          <a:prstGeom prst="rect">
            <a:avLst/>
          </a:prstGeom>
        </p:spPr>
      </p:pic>
      <p:pic>
        <p:nvPicPr>
          <p:cNvPr id="26" name="Picture 25">
            <a:extLst>
              <a:ext uri="{FF2B5EF4-FFF2-40B4-BE49-F238E27FC236}">
                <a16:creationId xmlns:a16="http://schemas.microsoft.com/office/drawing/2014/main" id="{F14199D9-6DA0-49E1-BDC9-036E7F5F60C3}"/>
              </a:ext>
            </a:extLst>
          </p:cNvPr>
          <p:cNvPicPr>
            <a:picLocks noChangeAspect="1"/>
          </p:cNvPicPr>
          <p:nvPr/>
        </p:nvPicPr>
        <p:blipFill>
          <a:blip r:embed="rId5"/>
          <a:stretch>
            <a:fillRect/>
          </a:stretch>
        </p:blipFill>
        <p:spPr>
          <a:xfrm>
            <a:off x="76200" y="5211544"/>
            <a:ext cx="4629796" cy="1571844"/>
          </a:xfrm>
          <a:prstGeom prst="rect">
            <a:avLst/>
          </a:prstGeom>
        </p:spPr>
      </p:pic>
      <p:pic>
        <p:nvPicPr>
          <p:cNvPr id="6" name="Picture 5">
            <a:extLst>
              <a:ext uri="{FF2B5EF4-FFF2-40B4-BE49-F238E27FC236}">
                <a16:creationId xmlns:a16="http://schemas.microsoft.com/office/drawing/2014/main" id="{14C733BF-8CAF-4BCA-A2BA-6E2B41C953BA}"/>
              </a:ext>
            </a:extLst>
          </p:cNvPr>
          <p:cNvPicPr>
            <a:picLocks noChangeAspect="1"/>
          </p:cNvPicPr>
          <p:nvPr/>
        </p:nvPicPr>
        <p:blipFill>
          <a:blip r:embed="rId6"/>
          <a:stretch>
            <a:fillRect/>
          </a:stretch>
        </p:blipFill>
        <p:spPr>
          <a:xfrm>
            <a:off x="4725049" y="1143000"/>
            <a:ext cx="4325623" cy="2027927"/>
          </a:xfrm>
          <a:prstGeom prst="rect">
            <a:avLst/>
          </a:prstGeom>
        </p:spPr>
      </p:pic>
      <p:pic>
        <p:nvPicPr>
          <p:cNvPr id="8" name="Picture 7">
            <a:extLst>
              <a:ext uri="{FF2B5EF4-FFF2-40B4-BE49-F238E27FC236}">
                <a16:creationId xmlns:a16="http://schemas.microsoft.com/office/drawing/2014/main" id="{732EDC0C-B9B8-4512-B596-76B62DD09735}"/>
              </a:ext>
            </a:extLst>
          </p:cNvPr>
          <p:cNvPicPr>
            <a:picLocks noChangeAspect="1"/>
          </p:cNvPicPr>
          <p:nvPr/>
        </p:nvPicPr>
        <p:blipFill>
          <a:blip r:embed="rId7"/>
          <a:stretch>
            <a:fillRect/>
          </a:stretch>
        </p:blipFill>
        <p:spPr>
          <a:xfrm>
            <a:off x="4762500" y="3255593"/>
            <a:ext cx="4233087" cy="1468808"/>
          </a:xfrm>
          <a:prstGeom prst="rect">
            <a:avLst/>
          </a:prstGeom>
        </p:spPr>
      </p:pic>
      <p:pic>
        <p:nvPicPr>
          <p:cNvPr id="10" name="Picture 9">
            <a:extLst>
              <a:ext uri="{FF2B5EF4-FFF2-40B4-BE49-F238E27FC236}">
                <a16:creationId xmlns:a16="http://schemas.microsoft.com/office/drawing/2014/main" id="{B414FE82-CD5F-44AF-B0C6-2A5AB9B33D6B}"/>
              </a:ext>
            </a:extLst>
          </p:cNvPr>
          <p:cNvPicPr>
            <a:picLocks noChangeAspect="1"/>
          </p:cNvPicPr>
          <p:nvPr/>
        </p:nvPicPr>
        <p:blipFill>
          <a:blip r:embed="rId8"/>
          <a:stretch>
            <a:fillRect/>
          </a:stretch>
        </p:blipFill>
        <p:spPr>
          <a:xfrm>
            <a:off x="4772680" y="4800600"/>
            <a:ext cx="4222907" cy="2056846"/>
          </a:xfrm>
          <a:prstGeom prst="rect">
            <a:avLst/>
          </a:prstGeom>
        </p:spPr>
      </p:pic>
    </p:spTree>
    <p:extLst>
      <p:ext uri="{BB962C8B-B14F-4D97-AF65-F5344CB8AC3E}">
        <p14:creationId xmlns:p14="http://schemas.microsoft.com/office/powerpoint/2010/main" val="62376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Negative Tweets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12D12B2-EFD9-401E-BE57-C8F1EC0228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 y="7086600"/>
            <a:ext cx="2511163" cy="997001"/>
          </a:xfrm>
          <a:prstGeom prst="rect">
            <a:avLst/>
          </a:prstGeom>
        </p:spPr>
      </p:pic>
      <p:pic>
        <p:nvPicPr>
          <p:cNvPr id="27" name="Picture 26">
            <a:extLst>
              <a:ext uri="{FF2B5EF4-FFF2-40B4-BE49-F238E27FC236}">
                <a16:creationId xmlns:a16="http://schemas.microsoft.com/office/drawing/2014/main" id="{20BA9540-EE93-496B-B2BF-9D3B72B16DA0}"/>
              </a:ext>
            </a:extLst>
          </p:cNvPr>
          <p:cNvPicPr>
            <a:picLocks noChangeAspect="1"/>
          </p:cNvPicPr>
          <p:nvPr/>
        </p:nvPicPr>
        <p:blipFill>
          <a:blip r:embed="rId4"/>
          <a:stretch>
            <a:fillRect/>
          </a:stretch>
        </p:blipFill>
        <p:spPr>
          <a:xfrm>
            <a:off x="161283" y="1215897"/>
            <a:ext cx="4406743" cy="1760873"/>
          </a:xfrm>
          <a:prstGeom prst="rect">
            <a:avLst/>
          </a:prstGeom>
        </p:spPr>
      </p:pic>
      <p:pic>
        <p:nvPicPr>
          <p:cNvPr id="29" name="Picture 28">
            <a:extLst>
              <a:ext uri="{FF2B5EF4-FFF2-40B4-BE49-F238E27FC236}">
                <a16:creationId xmlns:a16="http://schemas.microsoft.com/office/drawing/2014/main" id="{19660969-1237-45A3-ADD2-E4BC8A2AF00C}"/>
              </a:ext>
            </a:extLst>
          </p:cNvPr>
          <p:cNvPicPr>
            <a:picLocks noChangeAspect="1"/>
          </p:cNvPicPr>
          <p:nvPr/>
        </p:nvPicPr>
        <p:blipFill>
          <a:blip r:embed="rId5"/>
          <a:stretch>
            <a:fillRect/>
          </a:stretch>
        </p:blipFill>
        <p:spPr>
          <a:xfrm>
            <a:off x="161283" y="3043851"/>
            <a:ext cx="4410717" cy="1994889"/>
          </a:xfrm>
          <a:prstGeom prst="rect">
            <a:avLst/>
          </a:prstGeom>
        </p:spPr>
      </p:pic>
      <p:pic>
        <p:nvPicPr>
          <p:cNvPr id="31" name="Picture 30">
            <a:extLst>
              <a:ext uri="{FF2B5EF4-FFF2-40B4-BE49-F238E27FC236}">
                <a16:creationId xmlns:a16="http://schemas.microsoft.com/office/drawing/2014/main" id="{E722A1C1-C4AF-40A5-9EC9-CAD91B5211EC}"/>
              </a:ext>
            </a:extLst>
          </p:cNvPr>
          <p:cNvPicPr>
            <a:picLocks noChangeAspect="1"/>
          </p:cNvPicPr>
          <p:nvPr/>
        </p:nvPicPr>
        <p:blipFill>
          <a:blip r:embed="rId6"/>
          <a:stretch>
            <a:fillRect/>
          </a:stretch>
        </p:blipFill>
        <p:spPr>
          <a:xfrm>
            <a:off x="161283" y="4717706"/>
            <a:ext cx="4492480" cy="1999701"/>
          </a:xfrm>
          <a:prstGeom prst="rect">
            <a:avLst/>
          </a:prstGeom>
        </p:spPr>
      </p:pic>
      <p:pic>
        <p:nvPicPr>
          <p:cNvPr id="33" name="Picture 32">
            <a:extLst>
              <a:ext uri="{FF2B5EF4-FFF2-40B4-BE49-F238E27FC236}">
                <a16:creationId xmlns:a16="http://schemas.microsoft.com/office/drawing/2014/main" id="{0F56EE56-0EF0-412F-96AE-677AC22269A4}"/>
              </a:ext>
            </a:extLst>
          </p:cNvPr>
          <p:cNvPicPr>
            <a:picLocks noChangeAspect="1"/>
          </p:cNvPicPr>
          <p:nvPr/>
        </p:nvPicPr>
        <p:blipFill>
          <a:blip r:embed="rId7"/>
          <a:stretch>
            <a:fillRect/>
          </a:stretch>
        </p:blipFill>
        <p:spPr>
          <a:xfrm>
            <a:off x="4856255" y="1216370"/>
            <a:ext cx="4285250" cy="1943002"/>
          </a:xfrm>
          <a:prstGeom prst="rect">
            <a:avLst/>
          </a:prstGeom>
        </p:spPr>
      </p:pic>
      <p:pic>
        <p:nvPicPr>
          <p:cNvPr id="35" name="Picture 34">
            <a:extLst>
              <a:ext uri="{FF2B5EF4-FFF2-40B4-BE49-F238E27FC236}">
                <a16:creationId xmlns:a16="http://schemas.microsoft.com/office/drawing/2014/main" id="{D50DDF5D-897D-4B97-9B12-3ABB4257C399}"/>
              </a:ext>
            </a:extLst>
          </p:cNvPr>
          <p:cNvPicPr>
            <a:picLocks noChangeAspect="1"/>
          </p:cNvPicPr>
          <p:nvPr/>
        </p:nvPicPr>
        <p:blipFill>
          <a:blip r:embed="rId8"/>
          <a:stretch>
            <a:fillRect/>
          </a:stretch>
        </p:blipFill>
        <p:spPr>
          <a:xfrm>
            <a:off x="4856255" y="3232742"/>
            <a:ext cx="4160442" cy="1633548"/>
          </a:xfrm>
          <a:prstGeom prst="rect">
            <a:avLst/>
          </a:prstGeom>
        </p:spPr>
      </p:pic>
      <p:pic>
        <p:nvPicPr>
          <p:cNvPr id="37" name="Picture 36">
            <a:extLst>
              <a:ext uri="{FF2B5EF4-FFF2-40B4-BE49-F238E27FC236}">
                <a16:creationId xmlns:a16="http://schemas.microsoft.com/office/drawing/2014/main" id="{63E61CEB-508B-4F9C-B559-1A64B760BDC8}"/>
              </a:ext>
            </a:extLst>
          </p:cNvPr>
          <p:cNvPicPr>
            <a:picLocks noChangeAspect="1"/>
          </p:cNvPicPr>
          <p:nvPr/>
        </p:nvPicPr>
        <p:blipFill>
          <a:blip r:embed="rId9"/>
          <a:stretch>
            <a:fillRect/>
          </a:stretch>
        </p:blipFill>
        <p:spPr>
          <a:xfrm>
            <a:off x="4762500" y="4956910"/>
            <a:ext cx="4230045" cy="1824890"/>
          </a:xfrm>
          <a:prstGeom prst="rect">
            <a:avLst/>
          </a:prstGeom>
        </p:spPr>
      </p:pic>
    </p:spTree>
    <p:extLst>
      <p:ext uri="{BB962C8B-B14F-4D97-AF65-F5344CB8AC3E}">
        <p14:creationId xmlns:p14="http://schemas.microsoft.com/office/powerpoint/2010/main" val="2741948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Neutral Tweets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39F71B44-67B0-403A-9868-61A27FDD7208}"/>
              </a:ext>
            </a:extLst>
          </p:cNvPr>
          <p:cNvPicPr>
            <a:picLocks noChangeAspect="1"/>
          </p:cNvPicPr>
          <p:nvPr/>
        </p:nvPicPr>
        <p:blipFill rotWithShape="1">
          <a:blip r:embed="rId3"/>
          <a:srcRect r="2191"/>
          <a:stretch/>
        </p:blipFill>
        <p:spPr>
          <a:xfrm>
            <a:off x="76200" y="3429000"/>
            <a:ext cx="4419600" cy="1335857"/>
          </a:xfrm>
          <a:prstGeom prst="rect">
            <a:avLst/>
          </a:prstGeom>
        </p:spPr>
      </p:pic>
      <p:pic>
        <p:nvPicPr>
          <p:cNvPr id="28" name="Picture 27">
            <a:extLst>
              <a:ext uri="{FF2B5EF4-FFF2-40B4-BE49-F238E27FC236}">
                <a16:creationId xmlns:a16="http://schemas.microsoft.com/office/drawing/2014/main" id="{66B2ECB3-79ED-4630-9A3C-BFF788F1BF21}"/>
              </a:ext>
            </a:extLst>
          </p:cNvPr>
          <p:cNvPicPr>
            <a:picLocks noChangeAspect="1"/>
          </p:cNvPicPr>
          <p:nvPr/>
        </p:nvPicPr>
        <p:blipFill>
          <a:blip r:embed="rId4"/>
          <a:stretch>
            <a:fillRect/>
          </a:stretch>
        </p:blipFill>
        <p:spPr>
          <a:xfrm>
            <a:off x="76200" y="5029200"/>
            <a:ext cx="4419600" cy="1392354"/>
          </a:xfrm>
          <a:prstGeom prst="rect">
            <a:avLst/>
          </a:prstGeom>
        </p:spPr>
      </p:pic>
      <p:pic>
        <p:nvPicPr>
          <p:cNvPr id="30" name="Picture 29">
            <a:extLst>
              <a:ext uri="{FF2B5EF4-FFF2-40B4-BE49-F238E27FC236}">
                <a16:creationId xmlns:a16="http://schemas.microsoft.com/office/drawing/2014/main" id="{7981C281-4FD2-4DC5-97F6-B1648FAEA0FD}"/>
              </a:ext>
            </a:extLst>
          </p:cNvPr>
          <p:cNvPicPr>
            <a:picLocks noChangeAspect="1"/>
          </p:cNvPicPr>
          <p:nvPr/>
        </p:nvPicPr>
        <p:blipFill>
          <a:blip r:embed="rId5"/>
          <a:stretch>
            <a:fillRect/>
          </a:stretch>
        </p:blipFill>
        <p:spPr>
          <a:xfrm>
            <a:off x="4572000" y="3081376"/>
            <a:ext cx="4488893" cy="1676574"/>
          </a:xfrm>
          <a:prstGeom prst="rect">
            <a:avLst/>
          </a:prstGeom>
        </p:spPr>
      </p:pic>
      <p:pic>
        <p:nvPicPr>
          <p:cNvPr id="32" name="Picture 31">
            <a:extLst>
              <a:ext uri="{FF2B5EF4-FFF2-40B4-BE49-F238E27FC236}">
                <a16:creationId xmlns:a16="http://schemas.microsoft.com/office/drawing/2014/main" id="{9A5D5F8D-5EE1-4797-80D8-25319BED98FD}"/>
              </a:ext>
            </a:extLst>
          </p:cNvPr>
          <p:cNvPicPr>
            <a:picLocks noChangeAspect="1"/>
          </p:cNvPicPr>
          <p:nvPr/>
        </p:nvPicPr>
        <p:blipFill>
          <a:blip r:embed="rId6"/>
          <a:stretch>
            <a:fillRect/>
          </a:stretch>
        </p:blipFill>
        <p:spPr>
          <a:xfrm>
            <a:off x="90226" y="1248320"/>
            <a:ext cx="4419600" cy="1964267"/>
          </a:xfrm>
          <a:prstGeom prst="rect">
            <a:avLst/>
          </a:prstGeom>
        </p:spPr>
      </p:pic>
      <p:pic>
        <p:nvPicPr>
          <p:cNvPr id="34" name="Picture 33">
            <a:extLst>
              <a:ext uri="{FF2B5EF4-FFF2-40B4-BE49-F238E27FC236}">
                <a16:creationId xmlns:a16="http://schemas.microsoft.com/office/drawing/2014/main" id="{C8BCADD2-55CD-4A62-8FA9-B9587D6947F3}"/>
              </a:ext>
            </a:extLst>
          </p:cNvPr>
          <p:cNvPicPr>
            <a:picLocks noChangeAspect="1"/>
          </p:cNvPicPr>
          <p:nvPr/>
        </p:nvPicPr>
        <p:blipFill>
          <a:blip r:embed="rId7"/>
          <a:stretch>
            <a:fillRect/>
          </a:stretch>
        </p:blipFill>
        <p:spPr>
          <a:xfrm>
            <a:off x="4794584" y="1248320"/>
            <a:ext cx="4227106" cy="1676574"/>
          </a:xfrm>
          <a:prstGeom prst="rect">
            <a:avLst/>
          </a:prstGeom>
        </p:spPr>
      </p:pic>
      <p:pic>
        <p:nvPicPr>
          <p:cNvPr id="36" name="Picture 35">
            <a:extLst>
              <a:ext uri="{FF2B5EF4-FFF2-40B4-BE49-F238E27FC236}">
                <a16:creationId xmlns:a16="http://schemas.microsoft.com/office/drawing/2014/main" id="{8E1A557B-1CAB-4709-9DC9-475BE9530D86}"/>
              </a:ext>
            </a:extLst>
          </p:cNvPr>
          <p:cNvPicPr>
            <a:picLocks noChangeAspect="1"/>
          </p:cNvPicPr>
          <p:nvPr/>
        </p:nvPicPr>
        <p:blipFill>
          <a:blip r:embed="rId8"/>
          <a:stretch>
            <a:fillRect/>
          </a:stretch>
        </p:blipFill>
        <p:spPr>
          <a:xfrm>
            <a:off x="4762974" y="4863270"/>
            <a:ext cx="4301930" cy="1903986"/>
          </a:xfrm>
          <a:prstGeom prst="rect">
            <a:avLst/>
          </a:prstGeom>
        </p:spPr>
      </p:pic>
    </p:spTree>
    <p:extLst>
      <p:ext uri="{BB962C8B-B14F-4D97-AF65-F5344CB8AC3E}">
        <p14:creationId xmlns:p14="http://schemas.microsoft.com/office/powerpoint/2010/main" val="1773496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average tweet sentiment</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A5860397-ED15-466D-9C63-65ACA9104B8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447800"/>
            <a:ext cx="8382000" cy="5029200"/>
          </a:xfrm>
          <a:prstGeom prst="rect">
            <a:avLst/>
          </a:prstGeom>
        </p:spPr>
      </p:pic>
    </p:spTree>
    <p:extLst>
      <p:ext uri="{BB962C8B-B14F-4D97-AF65-F5344CB8AC3E}">
        <p14:creationId xmlns:p14="http://schemas.microsoft.com/office/powerpoint/2010/main" val="3769026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Tweet positivity – by gender (author FE)</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E5D434B-2286-48D0-89A7-636BBBBCAB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447800"/>
            <a:ext cx="8382000" cy="5029200"/>
          </a:xfrm>
          <a:prstGeom prst="rect">
            <a:avLst/>
          </a:prstGeom>
        </p:spPr>
      </p:pic>
    </p:spTree>
    <p:extLst>
      <p:ext uri="{BB962C8B-B14F-4D97-AF65-F5344CB8AC3E}">
        <p14:creationId xmlns:p14="http://schemas.microsoft.com/office/powerpoint/2010/main" val="1506161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Tweet negativity – by gender (author FE)</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16DF5E6F-CB06-4D9A-893A-73E7CBBE6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1447800"/>
            <a:ext cx="8382000" cy="5029200"/>
          </a:xfrm>
          <a:prstGeom prst="rect">
            <a:avLst/>
          </a:prstGeom>
        </p:spPr>
      </p:pic>
    </p:spTree>
    <p:extLst>
      <p:ext uri="{BB962C8B-B14F-4D97-AF65-F5344CB8AC3E}">
        <p14:creationId xmlns:p14="http://schemas.microsoft.com/office/powerpoint/2010/main" val="2297659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Outline of talk</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02688"/>
            <a:ext cx="7620000" cy="5022914"/>
          </a:xfrm>
          <a:prstGeom prst="rect">
            <a:avLst/>
          </a:prstGeom>
          <a:noFill/>
          <a:ln w="9525">
            <a:noFill/>
            <a:miter lim="800000"/>
            <a:headEnd/>
            <a:tailEnd/>
          </a:ln>
        </p:spPr>
        <p:txBody>
          <a:bodyPr wrap="square">
            <a:spAutoFit/>
          </a:bodyPr>
          <a:lstStyle/>
          <a:p>
            <a:pPr>
              <a:spcBef>
                <a:spcPct val="20000"/>
              </a:spcBef>
              <a:defRPr/>
            </a:pPr>
            <a:r>
              <a:rPr lang="en-US" dirty="0">
                <a:solidFill>
                  <a:schemeClr val="accent3">
                    <a:lumMod val="85000"/>
                  </a:schemeClr>
                </a:solidFill>
                <a:latin typeface="Cambria" pitchFamily="18" charset="0"/>
                <a:ea typeface="ＭＳ Ｐゴシック" pitchFamily="34" charset="-128"/>
              </a:rPr>
              <a:t>Introduction</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Twitter</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Data collection</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Posting frequency</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Topics</a:t>
            </a:r>
          </a:p>
          <a:p>
            <a:pPr marL="285750" indent="-285750">
              <a:spcBef>
                <a:spcPct val="20000"/>
              </a:spcBef>
              <a:buFont typeface="Arial" panose="020B0604020202020204" pitchFamily="34" charset="0"/>
              <a:buChar char="•"/>
              <a:defRPr/>
            </a:pPr>
            <a:r>
              <a:rPr lang="en-US" dirty="0">
                <a:solidFill>
                  <a:schemeClr val="accent3">
                    <a:lumMod val="85000"/>
                  </a:schemeClr>
                </a:solidFill>
                <a:latin typeface="Cambria" pitchFamily="18" charset="0"/>
                <a:ea typeface="ＭＳ Ｐゴシック" pitchFamily="34" charset="-128"/>
              </a:rPr>
              <a:t>Sentiment analysis</a:t>
            </a:r>
          </a:p>
          <a:p>
            <a:pPr>
              <a:spcBef>
                <a:spcPct val="20000"/>
              </a:spcBef>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Reddit</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Early findings</a:t>
            </a:r>
          </a:p>
          <a:p>
            <a:pPr marL="285750" indent="-285750">
              <a:spcBef>
                <a:spcPct val="20000"/>
              </a:spcBef>
              <a:buFont typeface="Arial" panose="020B0604020202020204" pitchFamily="34" charset="0"/>
              <a:buChar char="•"/>
              <a:defRPr/>
            </a:pPr>
            <a:endParaRPr lang="en-US" dirty="0">
              <a:solidFill>
                <a:schemeClr val="accent3">
                  <a:lumMod val="85000"/>
                </a:schemeClr>
              </a:solidFill>
              <a:latin typeface="Cambria" pitchFamily="18" charset="0"/>
              <a:ea typeface="ＭＳ Ｐゴシック" pitchFamily="34" charset="-128"/>
            </a:endParaRPr>
          </a:p>
          <a:p>
            <a:pPr>
              <a:spcBef>
                <a:spcPct val="20000"/>
              </a:spcBef>
              <a:defRPr/>
            </a:pPr>
            <a:r>
              <a:rPr lang="en-US" dirty="0">
                <a:solidFill>
                  <a:schemeClr val="accent3">
                    <a:lumMod val="85000"/>
                  </a:schemeClr>
                </a:solidFill>
                <a:latin typeface="Cambria" pitchFamily="18" charset="0"/>
                <a:ea typeface="ＭＳ Ｐゴシック" pitchFamily="34" charset="-128"/>
              </a:rPr>
              <a:t>Conclusion</a:t>
            </a: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2904765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Reddit data collection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617D089-DF02-4A69-BAD2-16BF5D5B2D88}"/>
              </a:ext>
            </a:extLst>
          </p:cNvPr>
          <p:cNvPicPr>
            <a:picLocks noChangeAspect="1"/>
          </p:cNvPicPr>
          <p:nvPr/>
        </p:nvPicPr>
        <p:blipFill rotWithShape="1">
          <a:blip r:embed="rId3">
            <a:extLst>
              <a:ext uri="{28A0092B-C50C-407E-A947-70E740481C1C}">
                <a14:useLocalDpi xmlns:a14="http://schemas.microsoft.com/office/drawing/2010/main" val="0"/>
              </a:ext>
            </a:extLst>
          </a:blip>
          <a:srcRect l="2339" r="2339"/>
          <a:stretch/>
        </p:blipFill>
        <p:spPr>
          <a:xfrm>
            <a:off x="393247" y="1447800"/>
            <a:ext cx="8357197" cy="5029200"/>
          </a:xfrm>
          <a:prstGeom prst="rect">
            <a:avLst/>
          </a:prstGeom>
        </p:spPr>
      </p:pic>
    </p:spTree>
    <p:extLst>
      <p:ext uri="{BB962C8B-B14F-4D97-AF65-F5344CB8AC3E}">
        <p14:creationId xmlns:p14="http://schemas.microsoft.com/office/powerpoint/2010/main" val="9298507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Gender Distributions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D346FD3-8568-44DE-8CA1-6ED1CCBAEB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43000" y="1704474"/>
            <a:ext cx="6858000" cy="4114800"/>
          </a:xfrm>
          <a:prstGeom prst="rect">
            <a:avLst/>
          </a:prstGeom>
        </p:spPr>
      </p:pic>
    </p:spTree>
    <p:extLst>
      <p:ext uri="{BB962C8B-B14F-4D97-AF65-F5344CB8AC3E}">
        <p14:creationId xmlns:p14="http://schemas.microsoft.com/office/powerpoint/2010/main" val="29498943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Top Birth Subreddits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spTree>
    <p:extLst>
      <p:ext uri="{BB962C8B-B14F-4D97-AF65-F5344CB8AC3E}">
        <p14:creationId xmlns:p14="http://schemas.microsoft.com/office/powerpoint/2010/main" val="17908306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Birth Dates Distribution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grpSp>
        <p:nvGrpSpPr>
          <p:cNvPr id="8" name="Group 7">
            <a:extLst>
              <a:ext uri="{FF2B5EF4-FFF2-40B4-BE49-F238E27FC236}">
                <a16:creationId xmlns:a16="http://schemas.microsoft.com/office/drawing/2014/main" id="{744C89CB-053B-44F7-9303-D2DDF0A2A1EB}"/>
              </a:ext>
            </a:extLst>
          </p:cNvPr>
          <p:cNvGrpSpPr/>
          <p:nvPr/>
        </p:nvGrpSpPr>
        <p:grpSpPr>
          <a:xfrm>
            <a:off x="10744200" y="1676400"/>
            <a:ext cx="4266625" cy="3205075"/>
            <a:chOff x="5867400" y="828776"/>
            <a:chExt cx="8533825" cy="5500499"/>
          </a:xfrm>
        </p:grpSpPr>
        <p:pic>
          <p:nvPicPr>
            <p:cNvPr id="4" name="Picture 3">
              <a:extLst>
                <a:ext uri="{FF2B5EF4-FFF2-40B4-BE49-F238E27FC236}">
                  <a16:creationId xmlns:a16="http://schemas.microsoft.com/office/drawing/2014/main" id="{BA8D714A-E3A5-46D5-A9B0-3DC4ED4F3BA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867400" y="828776"/>
              <a:ext cx="8533825" cy="5500499"/>
            </a:xfrm>
            <a:prstGeom prst="rect">
              <a:avLst/>
            </a:prstGeom>
          </p:spPr>
        </p:pic>
        <p:cxnSp>
          <p:nvCxnSpPr>
            <p:cNvPr id="7" name="Straight Connector 6">
              <a:extLst>
                <a:ext uri="{FF2B5EF4-FFF2-40B4-BE49-F238E27FC236}">
                  <a16:creationId xmlns:a16="http://schemas.microsoft.com/office/drawing/2014/main" id="{47D29E95-35CD-4746-9AAB-5DFF31B14B60}"/>
                </a:ext>
              </a:extLst>
            </p:cNvPr>
            <p:cNvCxnSpPr/>
            <p:nvPr/>
          </p:nvCxnSpPr>
          <p:spPr>
            <a:xfrm flipV="1">
              <a:off x="7620000" y="1676400"/>
              <a:ext cx="0" cy="3881525"/>
            </a:xfrm>
            <a:prstGeom prst="line">
              <a:avLst/>
            </a:prstGeom>
            <a:ln w="28575">
              <a:solidFill>
                <a:srgbClr val="99003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28D95AC-34EA-450A-BDD7-84D926CEAC43}"/>
                </a:ext>
              </a:extLst>
            </p:cNvPr>
            <p:cNvCxnSpPr/>
            <p:nvPr/>
          </p:nvCxnSpPr>
          <p:spPr>
            <a:xfrm flipV="1">
              <a:off x="13563600" y="1676400"/>
              <a:ext cx="0" cy="3881525"/>
            </a:xfrm>
            <a:prstGeom prst="line">
              <a:avLst/>
            </a:prstGeom>
            <a:ln w="28575">
              <a:solidFill>
                <a:srgbClr val="990033"/>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78753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Days from Birth Distribution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spTree>
    <p:extLst>
      <p:ext uri="{BB962C8B-B14F-4D97-AF65-F5344CB8AC3E}">
        <p14:creationId xmlns:p14="http://schemas.microsoft.com/office/powerpoint/2010/main" val="37459551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Reddit Posts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spTree>
    <p:extLst>
      <p:ext uri="{BB962C8B-B14F-4D97-AF65-F5344CB8AC3E}">
        <p14:creationId xmlns:p14="http://schemas.microsoft.com/office/powerpoint/2010/main" val="26782771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Distribution of Reddit Posts – pre/post birth</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7C041F8E-8D18-4A59-96DD-60840F9DB98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300075"/>
            <a:ext cx="8382000" cy="5029200"/>
          </a:xfrm>
          <a:prstGeom prst="rect">
            <a:avLst/>
          </a:prstGeom>
        </p:spPr>
      </p:pic>
    </p:spTree>
    <p:extLst>
      <p:ext uri="{BB962C8B-B14F-4D97-AF65-F5344CB8AC3E}">
        <p14:creationId xmlns:p14="http://schemas.microsoft.com/office/powerpoint/2010/main" val="17564404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Log posting frequency</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BF7DB68-A7CB-4F0D-983A-D7A999E58A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299411"/>
            <a:ext cx="8382000" cy="5029200"/>
          </a:xfrm>
          <a:prstGeom prst="rect">
            <a:avLst/>
          </a:prstGeom>
        </p:spPr>
      </p:pic>
      <p:sp>
        <p:nvSpPr>
          <p:cNvPr id="17" name="Right Brace 16">
            <a:extLst>
              <a:ext uri="{FF2B5EF4-FFF2-40B4-BE49-F238E27FC236}">
                <a16:creationId xmlns:a16="http://schemas.microsoft.com/office/drawing/2014/main" id="{6AF01F27-E9E4-4FAF-B73C-D2E44E4E2C94}"/>
              </a:ext>
            </a:extLst>
          </p:cNvPr>
          <p:cNvSpPr/>
          <p:nvPr/>
        </p:nvSpPr>
        <p:spPr>
          <a:xfrm>
            <a:off x="8399866" y="4572000"/>
            <a:ext cx="286934" cy="762000"/>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B5C0ED88-F84D-4247-941D-EAE89CC7874B}"/>
              </a:ext>
            </a:extLst>
          </p:cNvPr>
          <p:cNvSpPr txBox="1"/>
          <p:nvPr/>
        </p:nvSpPr>
        <p:spPr>
          <a:xfrm rot="5400000">
            <a:off x="8027252" y="4772345"/>
            <a:ext cx="1828800" cy="369332"/>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~14% decrease</a:t>
            </a:r>
          </a:p>
        </p:txBody>
      </p:sp>
    </p:spTree>
    <p:extLst>
      <p:ext uri="{BB962C8B-B14F-4D97-AF65-F5344CB8AC3E}">
        <p14:creationId xmlns:p14="http://schemas.microsoft.com/office/powerpoint/2010/main" val="1924272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Log posting frequency – by gender</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8BF7DB68-A7CB-4F0D-983A-D7A999E58AE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1000" y="1299411"/>
            <a:ext cx="8382000" cy="5029200"/>
          </a:xfrm>
          <a:prstGeom prst="rect">
            <a:avLst/>
          </a:prstGeom>
        </p:spPr>
      </p:pic>
      <p:sp>
        <p:nvSpPr>
          <p:cNvPr id="7" name="Right Brace 6">
            <a:extLst>
              <a:ext uri="{FF2B5EF4-FFF2-40B4-BE49-F238E27FC236}">
                <a16:creationId xmlns:a16="http://schemas.microsoft.com/office/drawing/2014/main" id="{A91237B9-2E13-4D1A-B16A-905610A46BBC}"/>
              </a:ext>
            </a:extLst>
          </p:cNvPr>
          <p:cNvSpPr/>
          <p:nvPr/>
        </p:nvSpPr>
        <p:spPr>
          <a:xfrm>
            <a:off x="8496300" y="4419600"/>
            <a:ext cx="190500" cy="457200"/>
          </a:xfrm>
          <a:prstGeom prst="rightBrace">
            <a:avLst/>
          </a:prstGeom>
          <a:ln w="38100">
            <a:solidFill>
              <a:srgbClr val="E19247"/>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66160301-C4E0-4F9F-81E6-0440B0875163}"/>
              </a:ext>
            </a:extLst>
          </p:cNvPr>
          <p:cNvSpPr txBox="1"/>
          <p:nvPr/>
        </p:nvSpPr>
        <p:spPr>
          <a:xfrm rot="5400000">
            <a:off x="7981129" y="5177410"/>
            <a:ext cx="1828800" cy="373343"/>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~11% decrease</a:t>
            </a:r>
          </a:p>
        </p:txBody>
      </p:sp>
      <p:sp>
        <p:nvSpPr>
          <p:cNvPr id="9" name="Right Brace 8">
            <a:extLst>
              <a:ext uri="{FF2B5EF4-FFF2-40B4-BE49-F238E27FC236}">
                <a16:creationId xmlns:a16="http://schemas.microsoft.com/office/drawing/2014/main" id="{7198BD54-DECC-47F1-BC7C-BC2712E00C38}"/>
              </a:ext>
            </a:extLst>
          </p:cNvPr>
          <p:cNvSpPr/>
          <p:nvPr/>
        </p:nvSpPr>
        <p:spPr>
          <a:xfrm>
            <a:off x="8475836" y="3731377"/>
            <a:ext cx="141280" cy="457200"/>
          </a:xfrm>
          <a:prstGeom prst="rightBrace">
            <a:avLst/>
          </a:prstGeom>
          <a:ln w="38100">
            <a:solidFill>
              <a:srgbClr val="6C216B"/>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DE4C3656-98F6-49E0-B1E1-BDB46C9F4284}"/>
              </a:ext>
            </a:extLst>
          </p:cNvPr>
          <p:cNvSpPr txBox="1"/>
          <p:nvPr/>
        </p:nvSpPr>
        <p:spPr>
          <a:xfrm rot="5400000">
            <a:off x="7959071" y="3342598"/>
            <a:ext cx="1828800" cy="373343"/>
          </a:xfrm>
          <a:prstGeom prst="rect">
            <a:avLst/>
          </a:prstGeom>
          <a:noFill/>
        </p:spPr>
        <p:txBody>
          <a:bodyPr wrap="square" rtlCol="0">
            <a:spAutoFit/>
          </a:bodyPr>
          <a:lstStyle/>
          <a:p>
            <a:r>
              <a:rPr lang="en-US" dirty="0">
                <a:latin typeface="Helvetica" panose="020B0604020202020204" pitchFamily="34" charset="0"/>
                <a:cs typeface="Helvetica" panose="020B0604020202020204" pitchFamily="34" charset="0"/>
              </a:rPr>
              <a:t>~13% decrease</a:t>
            </a:r>
          </a:p>
        </p:txBody>
      </p:sp>
    </p:spTree>
    <p:extLst>
      <p:ext uri="{BB962C8B-B14F-4D97-AF65-F5344CB8AC3E}">
        <p14:creationId xmlns:p14="http://schemas.microsoft.com/office/powerpoint/2010/main" val="438337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Conclusion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3028521"/>
          </a:xfrm>
          <a:prstGeom prst="rect">
            <a:avLst/>
          </a:prstGeom>
          <a:noFill/>
          <a:ln w="9525">
            <a:noFill/>
            <a:miter lim="800000"/>
            <a:headEnd/>
            <a:tailEnd/>
          </a:ln>
        </p:spPr>
        <p:txBody>
          <a:bodyPr wrap="square">
            <a:spAutoFit/>
          </a:bodyPr>
          <a:lstStyle/>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The transition to parenthood is a detectable signal in social media data</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Mothers reduce posting frequency by 67%; fathers by 42%</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Both men and women show measurable linguistic shifts post-birth</a:t>
            </a:r>
          </a:p>
          <a:p>
            <a:pPr marL="742950" lvl="1"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Posts shift toward more family-centered topics</a:t>
            </a:r>
          </a:p>
          <a:p>
            <a:pPr marL="742950" lvl="1"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Sentiment becomes slightly more positive</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Preliminary Reddit results show similar trends with smaller magnitude</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2401296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3090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0" name="Picture 16" descr="The Art of Happiness - Wikipedia">
            <a:extLst>
              <a:ext uri="{FF2B5EF4-FFF2-40B4-BE49-F238E27FC236}">
                <a16:creationId xmlns:a16="http://schemas.microsoft.com/office/drawing/2014/main" id="{D9F881B2-995E-3402-7FEE-3EB3E8F6C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000" y="0"/>
            <a:ext cx="2064658" cy="325739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appier: Learn the Secrets to Daily Joy and Lasting Fulfillment: Ben-Shahar,  Tal: 8600007224496: Amazon.com: Books">
            <a:extLst>
              <a:ext uri="{FF2B5EF4-FFF2-40B4-BE49-F238E27FC236}">
                <a16:creationId xmlns:a16="http://schemas.microsoft.com/office/drawing/2014/main" id="{96C24311-4F35-138A-67EA-53C01DB56D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756" t="335" r="1342" b="-335"/>
          <a:stretch/>
        </p:blipFill>
        <p:spPr bwMode="auto">
          <a:xfrm>
            <a:off x="5948146" y="-1"/>
            <a:ext cx="2071045" cy="325739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he Happiness Project: Rubin, Gretchen Craft: 9781554682805: Amazon.com:  Books">
            <a:extLst>
              <a:ext uri="{FF2B5EF4-FFF2-40B4-BE49-F238E27FC236}">
                <a16:creationId xmlns:a16="http://schemas.microsoft.com/office/drawing/2014/main" id="{2EF4B600-AA0B-22DA-2A64-4060B5EDA6A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124" y="0"/>
            <a:ext cx="2205524" cy="32243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How of Happiness: A New Approach to Getting the Life You Want: Lyubomirsky, Sonja: 8601406516991: Amazon.com: Books">
            <a:extLst>
              <a:ext uri="{FF2B5EF4-FFF2-40B4-BE49-F238E27FC236}">
                <a16:creationId xmlns:a16="http://schemas.microsoft.com/office/drawing/2014/main" id="{A3E2DC0A-3827-AE32-46D9-6D2BAC4DF6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7459" y="2971800"/>
            <a:ext cx="1566690" cy="24153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Happiest Man on Earth: The Beautiful Life of an Auschwitz Survivor – A  New York Times Bestseller with Timeless Lessons on Gratitude and Hope:  Jaku, Eddie: 9780063097681: Amazon.com: Books">
            <a:extLst>
              <a:ext uri="{FF2B5EF4-FFF2-40B4-BE49-F238E27FC236}">
                <a16:creationId xmlns:a16="http://schemas.microsoft.com/office/drawing/2014/main" id="{B9BB80DA-1B35-A58D-37E0-2FAED3639DF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917"/>
          <a:stretch/>
        </p:blipFill>
        <p:spPr bwMode="auto">
          <a:xfrm>
            <a:off x="1839542" y="0"/>
            <a:ext cx="2008312" cy="32243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umbling on Happiness (Vintage): Gilbert, Daniel: 8601401171256:  Amazon.com: Books">
            <a:extLst>
              <a:ext uri="{FF2B5EF4-FFF2-40B4-BE49-F238E27FC236}">
                <a16:creationId xmlns:a16="http://schemas.microsoft.com/office/drawing/2014/main" id="{DCCBDAA6-D36F-4F76-D507-B51E8E724A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7730" y="3134"/>
            <a:ext cx="2116140" cy="322118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lourish | Book by Martin E. P. Seligman | Official Publisher Page | Simon  &amp; Schuster">
            <a:extLst>
              <a:ext uri="{FF2B5EF4-FFF2-40B4-BE49-F238E27FC236}">
                <a16:creationId xmlns:a16="http://schemas.microsoft.com/office/drawing/2014/main" id="{0C10932D-33FF-1F9F-B1B8-06529306AFA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59794" y="4572000"/>
            <a:ext cx="1815888" cy="275347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appiness Hypothesis: Finding Modern Truth in Ancient Wisdom: Haidt,  Jonathan: 9780465028023: Amazon.com: Books">
            <a:extLst>
              <a:ext uri="{FF2B5EF4-FFF2-40B4-BE49-F238E27FC236}">
                <a16:creationId xmlns:a16="http://schemas.microsoft.com/office/drawing/2014/main" id="{92285B3F-74C3-0DEB-3CB1-39617FD931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81800" y="3257390"/>
            <a:ext cx="2407838" cy="361552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olve for Happy: Engineering Your Path to Joy">
            <a:extLst>
              <a:ext uri="{FF2B5EF4-FFF2-40B4-BE49-F238E27FC236}">
                <a16:creationId xmlns:a16="http://schemas.microsoft.com/office/drawing/2014/main" id="{F9A48A87-B025-216D-D2EF-DFD0A159F67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254" y="3224320"/>
            <a:ext cx="2353831" cy="357669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The Anxious Generation: How the Great Rewiring of Childhood Is Causing an  Epidemic of Mental Illness: Haidt, Jonathan: 9780593655030: Amazon.com:  Books">
            <a:extLst>
              <a:ext uri="{FF2B5EF4-FFF2-40B4-BE49-F238E27FC236}">
                <a16:creationId xmlns:a16="http://schemas.microsoft.com/office/drawing/2014/main" id="{FE9EC780-C28E-02CA-976C-42F56EB3923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7164" y="3237555"/>
            <a:ext cx="2385261" cy="3624455"/>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10% Happier: How I Tamed the Voice in My Head, Reduced Stress Without  Losing My Edge, and Found Self-Help That Actually Works - A True Story: Dan  Harris: 9781410473080: Amazon.com: Books">
            <a:extLst>
              <a:ext uri="{FF2B5EF4-FFF2-40B4-BE49-F238E27FC236}">
                <a16:creationId xmlns:a16="http://schemas.microsoft.com/office/drawing/2014/main" id="{F20EE44E-6DCB-A0AC-5CC9-3D5AB2A7847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82105" y="3226651"/>
            <a:ext cx="2262028" cy="363134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B727590-E7A2-9F49-C90F-C376E3F4CDE9}"/>
              </a:ext>
            </a:extLst>
          </p:cNvPr>
          <p:cNvPicPr>
            <a:picLocks noChangeAspect="1"/>
          </p:cNvPicPr>
          <p:nvPr/>
        </p:nvPicPr>
        <p:blipFill>
          <a:blip r:embed="rId14"/>
          <a:stretch>
            <a:fillRect/>
          </a:stretch>
        </p:blipFill>
        <p:spPr>
          <a:xfrm>
            <a:off x="761999" y="2057400"/>
            <a:ext cx="8481625" cy="676383"/>
          </a:xfrm>
          <a:prstGeom prst="rect">
            <a:avLst/>
          </a:prstGeom>
        </p:spPr>
      </p:pic>
      <p:pic>
        <p:nvPicPr>
          <p:cNvPr id="7" name="Picture 6">
            <a:extLst>
              <a:ext uri="{FF2B5EF4-FFF2-40B4-BE49-F238E27FC236}">
                <a16:creationId xmlns:a16="http://schemas.microsoft.com/office/drawing/2014/main" id="{FADB0613-DEE8-52D9-403C-B9135C16C0DB}"/>
              </a:ext>
            </a:extLst>
          </p:cNvPr>
          <p:cNvPicPr>
            <a:picLocks noChangeAspect="1"/>
          </p:cNvPicPr>
          <p:nvPr/>
        </p:nvPicPr>
        <p:blipFill>
          <a:blip r:embed="rId15"/>
          <a:stretch>
            <a:fillRect/>
          </a:stretch>
        </p:blipFill>
        <p:spPr>
          <a:xfrm>
            <a:off x="348558" y="609600"/>
            <a:ext cx="6998591" cy="1126300"/>
          </a:xfrm>
          <a:prstGeom prst="rect">
            <a:avLst/>
          </a:prstGeom>
        </p:spPr>
      </p:pic>
      <p:pic>
        <p:nvPicPr>
          <p:cNvPr id="8" name="Picture 7">
            <a:extLst>
              <a:ext uri="{FF2B5EF4-FFF2-40B4-BE49-F238E27FC236}">
                <a16:creationId xmlns:a16="http://schemas.microsoft.com/office/drawing/2014/main" id="{D9E319FE-77E9-91F7-5C14-881EEFF8AB78}"/>
              </a:ext>
            </a:extLst>
          </p:cNvPr>
          <p:cNvPicPr>
            <a:picLocks noChangeAspect="1"/>
          </p:cNvPicPr>
          <p:nvPr/>
        </p:nvPicPr>
        <p:blipFill>
          <a:blip r:embed="rId16"/>
          <a:stretch>
            <a:fillRect/>
          </a:stretch>
        </p:blipFill>
        <p:spPr>
          <a:xfrm>
            <a:off x="252672" y="3048000"/>
            <a:ext cx="6250310" cy="1454321"/>
          </a:xfrm>
          <a:prstGeom prst="rect">
            <a:avLst/>
          </a:prstGeom>
        </p:spPr>
      </p:pic>
      <p:pic>
        <p:nvPicPr>
          <p:cNvPr id="9" name="Picture 8">
            <a:extLst>
              <a:ext uri="{FF2B5EF4-FFF2-40B4-BE49-F238E27FC236}">
                <a16:creationId xmlns:a16="http://schemas.microsoft.com/office/drawing/2014/main" id="{37D88065-626D-9126-34FF-8B25216182ED}"/>
              </a:ext>
            </a:extLst>
          </p:cNvPr>
          <p:cNvPicPr>
            <a:picLocks noChangeAspect="1"/>
          </p:cNvPicPr>
          <p:nvPr/>
        </p:nvPicPr>
        <p:blipFill>
          <a:blip r:embed="rId17"/>
          <a:stretch>
            <a:fillRect/>
          </a:stretch>
        </p:blipFill>
        <p:spPr>
          <a:xfrm>
            <a:off x="2362201" y="4888399"/>
            <a:ext cx="6522191" cy="1477356"/>
          </a:xfrm>
          <a:prstGeom prst="rect">
            <a:avLst/>
          </a:prstGeom>
        </p:spPr>
      </p:pic>
    </p:spTree>
    <p:extLst>
      <p:ext uri="{BB962C8B-B14F-4D97-AF65-F5344CB8AC3E}">
        <p14:creationId xmlns:p14="http://schemas.microsoft.com/office/powerpoint/2010/main" val="3718475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4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4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3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e Happiness Project: Rubin, Gretchen Craft: 9781554682805: Amazon.com:  Books">
            <a:extLst>
              <a:ext uri="{FF2B5EF4-FFF2-40B4-BE49-F238E27FC236}">
                <a16:creationId xmlns:a16="http://schemas.microsoft.com/office/drawing/2014/main" id="{2EF4B600-AA0B-22DA-2A64-4060B5EDA6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0"/>
            <a:ext cx="2205524" cy="3224319"/>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The Art of Happiness - Wikipedia">
            <a:extLst>
              <a:ext uri="{FF2B5EF4-FFF2-40B4-BE49-F238E27FC236}">
                <a16:creationId xmlns:a16="http://schemas.microsoft.com/office/drawing/2014/main" id="{D9F881B2-995E-3402-7FEE-3EB3E8F6C7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0" y="0"/>
            <a:ext cx="2064658" cy="325739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Happier: Learn the Secrets to Daily Joy and Lasting Fulfillment: Ben-Shahar,  Tal: 8600007224496: Amazon.com: Books">
            <a:extLst>
              <a:ext uri="{FF2B5EF4-FFF2-40B4-BE49-F238E27FC236}">
                <a16:creationId xmlns:a16="http://schemas.microsoft.com/office/drawing/2014/main" id="{96C24311-4F35-138A-67EA-53C01DB56D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8146" y="-1"/>
            <a:ext cx="2205524" cy="325739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How of Happiness: A New Approach to Getting the Life You Want: Lyubomirsky, Sonja: 8601406516991: Amazon.com: Books">
            <a:extLst>
              <a:ext uri="{FF2B5EF4-FFF2-40B4-BE49-F238E27FC236}">
                <a16:creationId xmlns:a16="http://schemas.microsoft.com/office/drawing/2014/main" id="{A3E2DC0A-3827-AE32-46D9-6D2BAC4DF60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7459" y="2971800"/>
            <a:ext cx="1566690" cy="24153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he Happiest Man on Earth: The Beautiful Life of an Auschwitz Survivor – A  New York Times Bestseller with Timeless Lessons on Gratitude and Hope:  Jaku, Eddie: 9780063097681: Amazon.com: Books">
            <a:extLst>
              <a:ext uri="{FF2B5EF4-FFF2-40B4-BE49-F238E27FC236}">
                <a16:creationId xmlns:a16="http://schemas.microsoft.com/office/drawing/2014/main" id="{B9BB80DA-1B35-A58D-37E0-2FAED3639D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13235" y="0"/>
            <a:ext cx="2134619" cy="322431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umbling on Happiness (Vintage): Gilbert, Daniel: 8601401171256:  Amazon.com: Books">
            <a:extLst>
              <a:ext uri="{FF2B5EF4-FFF2-40B4-BE49-F238E27FC236}">
                <a16:creationId xmlns:a16="http://schemas.microsoft.com/office/drawing/2014/main" id="{DCCBDAA6-D36F-4F76-D507-B51E8E724AC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7730" y="3134"/>
            <a:ext cx="2116140" cy="322118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lourish | Book by Martin E. P. Seligman | Official Publisher Page | Simon  &amp; Schuster">
            <a:extLst>
              <a:ext uri="{FF2B5EF4-FFF2-40B4-BE49-F238E27FC236}">
                <a16:creationId xmlns:a16="http://schemas.microsoft.com/office/drawing/2014/main" id="{0C10932D-33FF-1F9F-B1B8-06529306AFA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59794" y="4572000"/>
            <a:ext cx="1815888" cy="2753471"/>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appiness Hypothesis: Finding Modern Truth in Ancient Wisdom: Haidt,  Jonathan: 9780465028023: Amazon.com: Books">
            <a:extLst>
              <a:ext uri="{FF2B5EF4-FFF2-40B4-BE49-F238E27FC236}">
                <a16:creationId xmlns:a16="http://schemas.microsoft.com/office/drawing/2014/main" id="{92285B3F-74C3-0DEB-3CB1-39617FD931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81800" y="3257390"/>
            <a:ext cx="2407838" cy="361552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Solve for Happy: Engineering Your Path to Joy">
            <a:extLst>
              <a:ext uri="{FF2B5EF4-FFF2-40B4-BE49-F238E27FC236}">
                <a16:creationId xmlns:a16="http://schemas.microsoft.com/office/drawing/2014/main" id="{F9A48A87-B025-216D-D2EF-DFD0A159F67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254" y="3224320"/>
            <a:ext cx="2353831" cy="357669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The Anxious Generation: How the Great Rewiring of Childhood Is Causing an  Epidemic of Mental Illness: Haidt, Jonathan: 9780593655030: Amazon.com:  Books">
            <a:extLst>
              <a:ext uri="{FF2B5EF4-FFF2-40B4-BE49-F238E27FC236}">
                <a16:creationId xmlns:a16="http://schemas.microsoft.com/office/drawing/2014/main" id="{FE9EC780-C28E-02CA-976C-42F56EB3923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7164" y="3237555"/>
            <a:ext cx="2385261" cy="3624455"/>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10% Happier: How I Tamed the Voice in My Head, Reduced Stress Without  Losing My Edge, and Found Self-Help That Actually Works - A True Story: Dan  Harris: 9781410473080: Amazon.com: Books">
            <a:extLst>
              <a:ext uri="{FF2B5EF4-FFF2-40B4-BE49-F238E27FC236}">
                <a16:creationId xmlns:a16="http://schemas.microsoft.com/office/drawing/2014/main" id="{F20EE44E-6DCB-A0AC-5CC9-3D5AB2A7847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82105" y="3226651"/>
            <a:ext cx="2262028" cy="363134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7B727590-E7A2-9F49-C90F-C376E3F4CDE9}"/>
              </a:ext>
            </a:extLst>
          </p:cNvPr>
          <p:cNvPicPr>
            <a:picLocks noChangeAspect="1"/>
          </p:cNvPicPr>
          <p:nvPr/>
        </p:nvPicPr>
        <p:blipFill>
          <a:blip r:embed="rId14"/>
          <a:stretch>
            <a:fillRect/>
          </a:stretch>
        </p:blipFill>
        <p:spPr>
          <a:xfrm>
            <a:off x="761999" y="2057400"/>
            <a:ext cx="8481625" cy="676383"/>
          </a:xfrm>
          <a:prstGeom prst="rect">
            <a:avLst/>
          </a:prstGeom>
        </p:spPr>
      </p:pic>
      <p:pic>
        <p:nvPicPr>
          <p:cNvPr id="7" name="Picture 6">
            <a:extLst>
              <a:ext uri="{FF2B5EF4-FFF2-40B4-BE49-F238E27FC236}">
                <a16:creationId xmlns:a16="http://schemas.microsoft.com/office/drawing/2014/main" id="{FADB0613-DEE8-52D9-403C-B9135C16C0DB}"/>
              </a:ext>
            </a:extLst>
          </p:cNvPr>
          <p:cNvPicPr>
            <a:picLocks noChangeAspect="1"/>
          </p:cNvPicPr>
          <p:nvPr/>
        </p:nvPicPr>
        <p:blipFill>
          <a:blip r:embed="rId15"/>
          <a:stretch>
            <a:fillRect/>
          </a:stretch>
        </p:blipFill>
        <p:spPr>
          <a:xfrm>
            <a:off x="348558" y="609600"/>
            <a:ext cx="6998591" cy="1126300"/>
          </a:xfrm>
          <a:prstGeom prst="rect">
            <a:avLst/>
          </a:prstGeom>
        </p:spPr>
      </p:pic>
      <p:pic>
        <p:nvPicPr>
          <p:cNvPr id="8" name="Picture 7">
            <a:extLst>
              <a:ext uri="{FF2B5EF4-FFF2-40B4-BE49-F238E27FC236}">
                <a16:creationId xmlns:a16="http://schemas.microsoft.com/office/drawing/2014/main" id="{D9E319FE-77E9-91F7-5C14-881EEFF8AB78}"/>
              </a:ext>
            </a:extLst>
          </p:cNvPr>
          <p:cNvPicPr>
            <a:picLocks noChangeAspect="1"/>
          </p:cNvPicPr>
          <p:nvPr/>
        </p:nvPicPr>
        <p:blipFill>
          <a:blip r:embed="rId16"/>
          <a:stretch>
            <a:fillRect/>
          </a:stretch>
        </p:blipFill>
        <p:spPr>
          <a:xfrm>
            <a:off x="252672" y="3048000"/>
            <a:ext cx="6250310" cy="1454321"/>
          </a:xfrm>
          <a:prstGeom prst="rect">
            <a:avLst/>
          </a:prstGeom>
        </p:spPr>
      </p:pic>
      <p:pic>
        <p:nvPicPr>
          <p:cNvPr id="9" name="Picture 8">
            <a:extLst>
              <a:ext uri="{FF2B5EF4-FFF2-40B4-BE49-F238E27FC236}">
                <a16:creationId xmlns:a16="http://schemas.microsoft.com/office/drawing/2014/main" id="{37D88065-626D-9126-34FF-8B25216182ED}"/>
              </a:ext>
            </a:extLst>
          </p:cNvPr>
          <p:cNvPicPr>
            <a:picLocks noChangeAspect="1"/>
          </p:cNvPicPr>
          <p:nvPr/>
        </p:nvPicPr>
        <p:blipFill>
          <a:blip r:embed="rId17"/>
          <a:stretch>
            <a:fillRect/>
          </a:stretch>
        </p:blipFill>
        <p:spPr>
          <a:xfrm>
            <a:off x="2362201" y="4888399"/>
            <a:ext cx="6522191" cy="1477356"/>
          </a:xfrm>
          <a:prstGeom prst="rect">
            <a:avLst/>
          </a:prstGeom>
        </p:spPr>
      </p:pic>
    </p:spTree>
    <p:extLst>
      <p:ext uri="{BB962C8B-B14F-4D97-AF65-F5344CB8AC3E}">
        <p14:creationId xmlns:p14="http://schemas.microsoft.com/office/powerpoint/2010/main" val="192456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Do People Know Who’s Happy?</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4136517"/>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Biased Beliefs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Large research literature in economics showing that people’s beliefs can be biased (</a:t>
            </a:r>
            <a:r>
              <a:rPr lang="en-US" dirty="0" err="1">
                <a:latin typeface="Cambria" pitchFamily="18" charset="0"/>
                <a:ea typeface="ＭＳ Ｐゴシック" pitchFamily="34" charset="-128"/>
              </a:rPr>
              <a:t>Brunnermeier</a:t>
            </a:r>
            <a:r>
              <a:rPr lang="en-US" dirty="0">
                <a:latin typeface="Cambria" pitchFamily="18" charset="0"/>
                <a:ea typeface="ＭＳ Ｐゴシック" pitchFamily="34" charset="-128"/>
              </a:rPr>
              <a:t> &amp; Parker 2005; </a:t>
            </a:r>
            <a:r>
              <a:rPr lang="en-US" dirty="0" err="1">
                <a:latin typeface="Cambria" pitchFamily="18" charset="0"/>
                <a:ea typeface="ＭＳ Ｐゴシック" pitchFamily="34" charset="-128"/>
              </a:rPr>
              <a:t>Bordalo</a:t>
            </a:r>
            <a:r>
              <a:rPr lang="en-US" dirty="0">
                <a:latin typeface="Cambria" pitchFamily="18" charset="0"/>
                <a:ea typeface="ＭＳ Ｐゴシック" pitchFamily="34" charset="-128"/>
              </a:rPr>
              <a:t> et al. 2016; </a:t>
            </a:r>
            <a:r>
              <a:rPr lang="en-US" dirty="0" err="1">
                <a:latin typeface="Cambria" pitchFamily="18" charset="0"/>
                <a:ea typeface="ＭＳ Ｐゴシック" pitchFamily="34" charset="-128"/>
              </a:rPr>
              <a:t>Bénabou</a:t>
            </a:r>
            <a:r>
              <a:rPr lang="en-US" dirty="0">
                <a:latin typeface="Cambria" pitchFamily="18" charset="0"/>
                <a:ea typeface="ＭＳ Ｐゴシック" pitchFamily="34" charset="-128"/>
              </a:rPr>
              <a:t> &amp; </a:t>
            </a:r>
            <a:r>
              <a:rPr lang="en-US" dirty="0" err="1">
                <a:latin typeface="Cambria" pitchFamily="18" charset="0"/>
                <a:ea typeface="ＭＳ Ｐゴシック" pitchFamily="34" charset="-128"/>
              </a:rPr>
              <a:t>Tirole</a:t>
            </a:r>
            <a:r>
              <a:rPr lang="en-US" dirty="0">
                <a:latin typeface="Cambria" pitchFamily="18" charset="0"/>
                <a:ea typeface="ＭＳ Ｐゴシック" pitchFamily="34" charset="-128"/>
              </a:rPr>
              <a:t> 2016; </a:t>
            </a:r>
            <a:r>
              <a:rPr lang="en-US" dirty="0" err="1">
                <a:latin typeface="Cambria" pitchFamily="18" charset="0"/>
                <a:ea typeface="ＭＳ Ｐゴシック" pitchFamily="34" charset="-128"/>
              </a:rPr>
              <a:t>Bursztyn</a:t>
            </a:r>
            <a:r>
              <a:rPr lang="en-US" dirty="0">
                <a:latin typeface="Cambria" pitchFamily="18" charset="0"/>
                <a:ea typeface="ＭＳ Ｐゴシック" pitchFamily="34" charset="-128"/>
              </a:rPr>
              <a:t> &amp; Yang 2022)</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People might make choices based on inaccurate beliefs from stereotypes and projection rather than observation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Those beliefs feed into major life choices and into public narratives about who is thriving or struggling that shape policy and voting behavior</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Biased in a systematic way?</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“Grass is Greener”: other’s lives look better than they are</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Motivated Reasoning: my own group looks better than it is</a:t>
            </a:r>
          </a:p>
        </p:txBody>
      </p:sp>
      <p:sp>
        <p:nvSpPr>
          <p:cNvPr id="4" name="TextBox 3">
            <a:extLst>
              <a:ext uri="{FF2B5EF4-FFF2-40B4-BE49-F238E27FC236}">
                <a16:creationId xmlns:a16="http://schemas.microsoft.com/office/drawing/2014/main" id="{BF31394B-84BC-6218-0A0B-FB338929E9A6}"/>
              </a:ext>
            </a:extLst>
          </p:cNvPr>
          <p:cNvSpPr txBox="1"/>
          <p:nvPr/>
        </p:nvSpPr>
        <p:spPr>
          <a:xfrm>
            <a:off x="533400" y="7086600"/>
            <a:ext cx="6797842" cy="369332"/>
          </a:xfrm>
          <a:prstGeom prst="rect">
            <a:avLst/>
          </a:prstGeom>
          <a:noFill/>
        </p:spPr>
        <p:txBody>
          <a:bodyPr wrap="square">
            <a:spAutoFit/>
          </a:bodyPr>
          <a:lstStyle/>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Stereotyping: right direction, exaggerated gaps</a:t>
            </a:r>
          </a:p>
        </p:txBody>
      </p:sp>
    </p:spTree>
    <p:extLst>
      <p:ext uri="{BB962C8B-B14F-4D97-AF65-F5344CB8AC3E}">
        <p14:creationId xmlns:p14="http://schemas.microsoft.com/office/powerpoint/2010/main" val="233816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Ground Truth</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4247317"/>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General Social Survey </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2004 – 2024</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Sample size = 28,889</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Weighted using GSS survey weights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Happiness question: Taken all together, how would you say things are these days -- would you say that you are very happy, pretty happy, or not too happy?</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1 = not too happy; 2 = pretty happy; 3 = very happy</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National average = 2.11</a:t>
            </a: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249358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Ground truth - Groups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685800" y="1447800"/>
            <a:ext cx="7620000" cy="1311128"/>
          </a:xfrm>
          <a:prstGeom prst="rect">
            <a:avLst/>
          </a:prstGeom>
          <a:noFill/>
          <a:ln w="9525">
            <a:noFill/>
            <a:miter lim="800000"/>
            <a:headEnd/>
            <a:tailEnd/>
          </a:ln>
        </p:spPr>
        <p:txBody>
          <a:bodyPr wrap="square">
            <a:spAutoFit/>
          </a:bodyPr>
          <a:lstStyle/>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 chose 14 characteristics to study. </a:t>
            </a:r>
          </a:p>
          <a:p>
            <a:pPr marL="742950" lvl="1"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General demographic questions + items often discussed in the happiness literature</a:t>
            </a:r>
          </a:p>
          <a:p>
            <a:pPr marL="742950" lvl="1"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Available in GSS</a:t>
            </a:r>
          </a:p>
        </p:txBody>
      </p:sp>
      <p:grpSp>
        <p:nvGrpSpPr>
          <p:cNvPr id="10" name="Group 9">
            <a:extLst>
              <a:ext uri="{FF2B5EF4-FFF2-40B4-BE49-F238E27FC236}">
                <a16:creationId xmlns:a16="http://schemas.microsoft.com/office/drawing/2014/main" id="{2E4DFBAD-45B6-CD56-C95D-9AE7DE3D4243}"/>
              </a:ext>
            </a:extLst>
          </p:cNvPr>
          <p:cNvGrpSpPr/>
          <p:nvPr/>
        </p:nvGrpSpPr>
        <p:grpSpPr>
          <a:xfrm>
            <a:off x="457200" y="3352800"/>
            <a:ext cx="7543800" cy="1698927"/>
            <a:chOff x="457200" y="3635073"/>
            <a:chExt cx="7543800" cy="1698927"/>
          </a:xfrm>
        </p:grpSpPr>
        <p:sp>
          <p:nvSpPr>
            <p:cNvPr id="3" name="Rectangle 4">
              <a:extLst>
                <a:ext uri="{FF2B5EF4-FFF2-40B4-BE49-F238E27FC236}">
                  <a16:creationId xmlns:a16="http://schemas.microsoft.com/office/drawing/2014/main" id="{6793B9A6-0DB2-3A23-A9D6-65114916C980}"/>
                </a:ext>
              </a:extLst>
            </p:cNvPr>
            <p:cNvSpPr txBox="1">
              <a:spLocks noChangeArrowheads="1"/>
            </p:cNvSpPr>
            <p:nvPr/>
          </p:nvSpPr>
          <p:spPr bwMode="auto">
            <a:xfrm>
              <a:off x="457200" y="3635073"/>
              <a:ext cx="1828800" cy="1698927"/>
            </a:xfrm>
            <a:prstGeom prst="rect">
              <a:avLst/>
            </a:prstGeom>
            <a:noFill/>
            <a:ln w="9525">
              <a:noFill/>
              <a:miter lim="800000"/>
              <a:headEnd/>
              <a:tailEnd/>
            </a:ln>
          </p:spPr>
          <p:txBody>
            <a:bodyPr wrap="square" numCol="1">
              <a:spAutoFit/>
            </a:bodyPr>
            <a:lstStyle/>
            <a:p>
              <a:pPr>
                <a:spcBef>
                  <a:spcPct val="20000"/>
                </a:spcBef>
                <a:defRPr/>
              </a:pPr>
              <a:r>
                <a:rPr lang="en-US" dirty="0">
                  <a:latin typeface="Cambria" pitchFamily="18" charset="0"/>
                  <a:ea typeface="ＭＳ Ｐゴシック" pitchFamily="34" charset="-128"/>
                </a:rPr>
                <a:t>Sex</a:t>
              </a:r>
            </a:p>
            <a:p>
              <a:pPr>
                <a:spcBef>
                  <a:spcPct val="20000"/>
                </a:spcBef>
                <a:defRPr/>
              </a:pPr>
              <a:r>
                <a:rPr lang="en-US" dirty="0">
                  <a:latin typeface="Cambria" pitchFamily="18" charset="0"/>
                  <a:ea typeface="ＭＳ Ｐゴシック" pitchFamily="34" charset="-128"/>
                </a:rPr>
                <a:t>Age</a:t>
              </a:r>
            </a:p>
            <a:p>
              <a:pPr>
                <a:spcBef>
                  <a:spcPct val="20000"/>
                </a:spcBef>
                <a:defRPr/>
              </a:pPr>
              <a:r>
                <a:rPr lang="en-US" dirty="0">
                  <a:latin typeface="Cambria" pitchFamily="18" charset="0"/>
                  <a:ea typeface="ＭＳ Ｐゴシック" pitchFamily="34" charset="-128"/>
                </a:rPr>
                <a:t>Race</a:t>
              </a:r>
            </a:p>
            <a:p>
              <a:pPr>
                <a:spcBef>
                  <a:spcPct val="20000"/>
                </a:spcBef>
                <a:defRPr/>
              </a:pPr>
              <a:r>
                <a:rPr lang="en-US" dirty="0">
                  <a:latin typeface="Cambria" pitchFamily="18" charset="0"/>
                  <a:ea typeface="ＭＳ Ｐゴシック" pitchFamily="34" charset="-128"/>
                </a:rPr>
                <a:t>Education</a:t>
              </a:r>
            </a:p>
            <a:p>
              <a:pPr>
                <a:spcBef>
                  <a:spcPct val="20000"/>
                </a:spcBef>
                <a:defRPr/>
              </a:pPr>
              <a:r>
                <a:rPr lang="en-US" dirty="0">
                  <a:latin typeface="Cambria" pitchFamily="18" charset="0"/>
                  <a:ea typeface="ＭＳ Ｐゴシック" pitchFamily="34" charset="-128"/>
                </a:rPr>
                <a:t>Income</a:t>
              </a:r>
            </a:p>
          </p:txBody>
        </p:sp>
        <p:sp>
          <p:nvSpPr>
            <p:cNvPr id="6" name="TextBox 5">
              <a:extLst>
                <a:ext uri="{FF2B5EF4-FFF2-40B4-BE49-F238E27FC236}">
                  <a16:creationId xmlns:a16="http://schemas.microsoft.com/office/drawing/2014/main" id="{FDD627B2-1B4E-FC83-6EA2-369A35238B64}"/>
                </a:ext>
              </a:extLst>
            </p:cNvPr>
            <p:cNvSpPr txBox="1"/>
            <p:nvPr/>
          </p:nvSpPr>
          <p:spPr>
            <a:xfrm>
              <a:off x="2590800" y="3635073"/>
              <a:ext cx="2590800" cy="1698927"/>
            </a:xfrm>
            <a:prstGeom prst="rect">
              <a:avLst/>
            </a:prstGeom>
            <a:noFill/>
          </p:spPr>
          <p:txBody>
            <a:bodyPr wrap="square">
              <a:spAutoFit/>
            </a:bodyPr>
            <a:lstStyle/>
            <a:p>
              <a:pPr>
                <a:spcBef>
                  <a:spcPct val="20000"/>
                </a:spcBef>
                <a:defRPr/>
              </a:pPr>
              <a:r>
                <a:rPr lang="en-US" dirty="0">
                  <a:latin typeface="Cambria" pitchFamily="18" charset="0"/>
                  <a:ea typeface="ＭＳ Ｐゴシック" pitchFamily="34" charset="-128"/>
                </a:rPr>
                <a:t>Marital status</a:t>
              </a:r>
            </a:p>
            <a:p>
              <a:pPr>
                <a:spcBef>
                  <a:spcPct val="20000"/>
                </a:spcBef>
                <a:defRPr/>
              </a:pPr>
              <a:r>
                <a:rPr lang="en-US" dirty="0">
                  <a:latin typeface="Cambria" pitchFamily="18" charset="0"/>
                  <a:ea typeface="ＭＳ Ｐゴシック" pitchFamily="34" charset="-128"/>
                </a:rPr>
                <a:t>Children ever born</a:t>
              </a:r>
            </a:p>
            <a:p>
              <a:pPr>
                <a:spcBef>
                  <a:spcPct val="20000"/>
                </a:spcBef>
                <a:defRPr/>
              </a:pPr>
              <a:r>
                <a:rPr lang="en-US" dirty="0">
                  <a:latin typeface="Cambria" pitchFamily="18" charset="0"/>
                  <a:ea typeface="ＭＳ Ｐゴシック" pitchFamily="34" charset="-128"/>
                </a:rPr>
                <a:t>Religious attendance</a:t>
              </a:r>
            </a:p>
            <a:p>
              <a:pPr>
                <a:spcBef>
                  <a:spcPct val="20000"/>
                </a:spcBef>
                <a:defRPr/>
              </a:pPr>
              <a:r>
                <a:rPr lang="en-US" dirty="0">
                  <a:latin typeface="Cambria" pitchFamily="18" charset="0"/>
                  <a:ea typeface="ＭＳ Ｐゴシック" pitchFamily="34" charset="-128"/>
                </a:rPr>
                <a:t>Political party</a:t>
              </a:r>
            </a:p>
            <a:p>
              <a:pPr>
                <a:spcBef>
                  <a:spcPct val="20000"/>
                </a:spcBef>
                <a:defRPr/>
              </a:pPr>
              <a:r>
                <a:rPr lang="en-US" dirty="0">
                  <a:latin typeface="Cambria" pitchFamily="18" charset="0"/>
                  <a:ea typeface="ＭＳ Ｐゴシック" pitchFamily="34" charset="-128"/>
                </a:rPr>
                <a:t>Town type</a:t>
              </a:r>
            </a:p>
          </p:txBody>
        </p:sp>
        <p:sp>
          <p:nvSpPr>
            <p:cNvPr id="8" name="TextBox 7">
              <a:extLst>
                <a:ext uri="{FF2B5EF4-FFF2-40B4-BE49-F238E27FC236}">
                  <a16:creationId xmlns:a16="http://schemas.microsoft.com/office/drawing/2014/main" id="{5B220F29-DA8F-422A-5773-98A11CD1F4D6}"/>
                </a:ext>
              </a:extLst>
            </p:cNvPr>
            <p:cNvSpPr txBox="1"/>
            <p:nvPr/>
          </p:nvSpPr>
          <p:spPr>
            <a:xfrm>
              <a:off x="5486400" y="3635073"/>
              <a:ext cx="2514600" cy="1366528"/>
            </a:xfrm>
            <a:prstGeom prst="rect">
              <a:avLst/>
            </a:prstGeom>
            <a:noFill/>
          </p:spPr>
          <p:txBody>
            <a:bodyPr wrap="square">
              <a:spAutoFit/>
            </a:bodyPr>
            <a:lstStyle/>
            <a:p>
              <a:pPr>
                <a:spcBef>
                  <a:spcPct val="20000"/>
                </a:spcBef>
                <a:defRPr/>
              </a:pPr>
              <a:r>
                <a:rPr lang="en-US" dirty="0">
                  <a:latin typeface="Cambria" pitchFamily="18" charset="0"/>
                  <a:ea typeface="ＭＳ Ｐゴシック" pitchFamily="34" charset="-128"/>
                </a:rPr>
                <a:t>Physical health</a:t>
              </a:r>
            </a:p>
            <a:p>
              <a:pPr>
                <a:spcBef>
                  <a:spcPct val="20000"/>
                </a:spcBef>
                <a:defRPr/>
              </a:pPr>
              <a:r>
                <a:rPr lang="en-US" dirty="0">
                  <a:latin typeface="Cambria" pitchFamily="18" charset="0"/>
                  <a:ea typeface="ＭＳ Ｐゴシック" pitchFamily="34" charset="-128"/>
                </a:rPr>
                <a:t>Socialization</a:t>
              </a:r>
            </a:p>
            <a:p>
              <a:pPr>
                <a:spcBef>
                  <a:spcPct val="20000"/>
                </a:spcBef>
                <a:defRPr/>
              </a:pPr>
              <a:r>
                <a:rPr lang="en-US" dirty="0">
                  <a:latin typeface="Cambria" pitchFamily="18" charset="0"/>
                  <a:ea typeface="ＭＳ Ｐゴシック" pitchFamily="34" charset="-128"/>
                </a:rPr>
                <a:t>Sexual orientation</a:t>
              </a:r>
            </a:p>
            <a:p>
              <a:pPr>
                <a:spcBef>
                  <a:spcPct val="20000"/>
                </a:spcBef>
                <a:defRPr/>
              </a:pPr>
              <a:r>
                <a:rPr lang="en-US" dirty="0">
                  <a:latin typeface="Cambria" pitchFamily="18" charset="0"/>
                  <a:ea typeface="ＭＳ Ｐゴシック" pitchFamily="34" charset="-128"/>
                </a:rPr>
                <a:t>Region of U.S.</a:t>
              </a:r>
            </a:p>
          </p:txBody>
        </p:sp>
      </p:grpSp>
    </p:spTree>
    <p:extLst>
      <p:ext uri="{BB962C8B-B14F-4D97-AF65-F5344CB8AC3E}">
        <p14:creationId xmlns:p14="http://schemas.microsoft.com/office/powerpoint/2010/main" val="23493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Prediction Survey</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685800" y="1447800"/>
            <a:ext cx="7620000" cy="4413516"/>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Prolific</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Sample size = 1,944 (dropped 53 due to failed attention checks)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Asked respondents to not look up the answer: </a:t>
            </a:r>
          </a:p>
          <a:p>
            <a:pPr marL="742950" lvl="1"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Important</a:t>
            </a:r>
            <a:r>
              <a:rPr lang="en-US" dirty="0">
                <a:latin typeface="Cambria" pitchFamily="18" charset="0"/>
                <a:ea typeface="ＭＳ Ｐゴシック" pitchFamily="34" charset="-128"/>
              </a:rPr>
              <a:t>: Happiness levels for different groups are available in public data, and AI tools could also generate these estimates. We're not testing your ability to look up the right answer — we want to know what you intuitively think. Please answer using your </a:t>
            </a:r>
            <a:r>
              <a:rPr lang="en-US" b="1" dirty="0">
                <a:latin typeface="Cambria" pitchFamily="18" charset="0"/>
                <a:ea typeface="ＭＳ Ｐゴシック" pitchFamily="34" charset="-128"/>
              </a:rPr>
              <a:t>own knowledge and best guess</a:t>
            </a:r>
            <a:r>
              <a:rPr lang="en-US" dirty="0">
                <a:latin typeface="Cambria" pitchFamily="18" charset="0"/>
                <a:ea typeface="ＭＳ Ｐゴシック" pitchFamily="34" charset="-128"/>
              </a:rPr>
              <a:t>, without searching the internet or using AI tools.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Survey has 3 parts:</a:t>
            </a:r>
          </a:p>
          <a:p>
            <a:pPr marL="342900" indent="-342900">
              <a:spcBef>
                <a:spcPct val="20000"/>
              </a:spcBef>
              <a:buAutoNum type="arabicPeriod"/>
              <a:defRPr/>
            </a:pPr>
            <a:r>
              <a:rPr lang="en-US" dirty="0">
                <a:latin typeface="Cambria" pitchFamily="18" charset="0"/>
                <a:ea typeface="ＭＳ Ｐゴシック" pitchFamily="34" charset="-128"/>
              </a:rPr>
              <a:t>Own happiness: exact GSS question, 3-point scale</a:t>
            </a:r>
          </a:p>
          <a:p>
            <a:pPr marL="342900" indent="-342900">
              <a:spcBef>
                <a:spcPct val="20000"/>
              </a:spcBef>
              <a:buAutoNum type="arabicPeriod"/>
              <a:defRPr/>
            </a:pPr>
            <a:r>
              <a:rPr lang="en-US" dirty="0">
                <a:latin typeface="Cambria" pitchFamily="18" charset="0"/>
                <a:ea typeface="ＭＳ Ｐゴシック" pitchFamily="34" charset="-128"/>
              </a:rPr>
              <a:t>Predict the average happiness for 44 subgroups across 14 dimensions</a:t>
            </a:r>
          </a:p>
          <a:p>
            <a:pPr marL="342900" indent="-342900">
              <a:spcBef>
                <a:spcPct val="20000"/>
              </a:spcBef>
              <a:buAutoNum type="arabicPeriod"/>
              <a:defRPr/>
            </a:pPr>
            <a:r>
              <a:rPr lang="en-US" dirty="0">
                <a:latin typeface="Cambria" pitchFamily="18" charset="0"/>
                <a:ea typeface="ＭＳ Ｐゴシック" pitchFamily="34" charset="-128"/>
              </a:rPr>
              <a:t>14 demographic questions, matching the GSS variables</a:t>
            </a:r>
          </a:p>
        </p:txBody>
      </p:sp>
    </p:spTree>
    <p:extLst>
      <p:ext uri="{BB962C8B-B14F-4D97-AF65-F5344CB8AC3E}">
        <p14:creationId xmlns:p14="http://schemas.microsoft.com/office/powerpoint/2010/main" val="4232820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5FFDE59-3EF9-D335-BBE8-5835746553CF}"/>
              </a:ext>
            </a:extLst>
          </p:cNvPr>
          <p:cNvPicPr>
            <a:picLocks noChangeAspect="1"/>
          </p:cNvPicPr>
          <p:nvPr/>
        </p:nvPicPr>
        <p:blipFill>
          <a:blip r:embed="rId2"/>
          <a:stretch>
            <a:fillRect/>
          </a:stretch>
        </p:blipFill>
        <p:spPr>
          <a:xfrm>
            <a:off x="0" y="2134149"/>
            <a:ext cx="9144000" cy="2589702"/>
          </a:xfrm>
          <a:prstGeom prst="rect">
            <a:avLst/>
          </a:prstGeom>
        </p:spPr>
      </p:pic>
    </p:spTree>
    <p:extLst>
      <p:ext uri="{BB962C8B-B14F-4D97-AF65-F5344CB8AC3E}">
        <p14:creationId xmlns:p14="http://schemas.microsoft.com/office/powerpoint/2010/main" val="20635006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0F82115-1DEC-F6C1-E948-FA57777A478A}"/>
              </a:ext>
            </a:extLst>
          </p:cNvPr>
          <p:cNvPicPr>
            <a:picLocks noChangeAspect="1"/>
          </p:cNvPicPr>
          <p:nvPr/>
        </p:nvPicPr>
        <p:blipFill>
          <a:blip r:embed="rId2"/>
          <a:stretch>
            <a:fillRect/>
          </a:stretch>
        </p:blipFill>
        <p:spPr>
          <a:xfrm>
            <a:off x="18414" y="1561839"/>
            <a:ext cx="9107171" cy="3734321"/>
          </a:xfrm>
          <a:prstGeom prst="rect">
            <a:avLst/>
          </a:prstGeom>
        </p:spPr>
      </p:pic>
    </p:spTree>
    <p:extLst>
      <p:ext uri="{BB962C8B-B14F-4D97-AF65-F5344CB8AC3E}">
        <p14:creationId xmlns:p14="http://schemas.microsoft.com/office/powerpoint/2010/main" val="3106082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E5C5E5-76D0-024B-EEA5-23DB0194C891}"/>
              </a:ext>
            </a:extLst>
          </p:cNvPr>
          <p:cNvPicPr>
            <a:picLocks noChangeAspect="1"/>
          </p:cNvPicPr>
          <p:nvPr/>
        </p:nvPicPr>
        <p:blipFill>
          <a:blip r:embed="rId2"/>
          <a:stretch>
            <a:fillRect/>
          </a:stretch>
        </p:blipFill>
        <p:spPr>
          <a:xfrm>
            <a:off x="0" y="1887664"/>
            <a:ext cx="9144000" cy="3082672"/>
          </a:xfrm>
          <a:prstGeom prst="rect">
            <a:avLst/>
          </a:prstGeom>
        </p:spPr>
      </p:pic>
    </p:spTree>
    <p:extLst>
      <p:ext uri="{BB962C8B-B14F-4D97-AF65-F5344CB8AC3E}">
        <p14:creationId xmlns:p14="http://schemas.microsoft.com/office/powerpoint/2010/main" val="5946049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22A654-684F-2BBC-3B41-7554DD1517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625"/>
            <a:ext cx="9144000" cy="5736749"/>
          </a:xfrm>
          <a:prstGeom prst="rect">
            <a:avLst/>
          </a:prstGeom>
        </p:spPr>
      </p:pic>
      <p:sp>
        <p:nvSpPr>
          <p:cNvPr id="2" name="Star: 5 Points 1">
            <a:extLst>
              <a:ext uri="{FF2B5EF4-FFF2-40B4-BE49-F238E27FC236}">
                <a16:creationId xmlns:a16="http://schemas.microsoft.com/office/drawing/2014/main" id="{D355BBE6-307B-4CC9-2000-3C1F50F21A7D}"/>
              </a:ext>
            </a:extLst>
          </p:cNvPr>
          <p:cNvSpPr/>
          <p:nvPr/>
        </p:nvSpPr>
        <p:spPr>
          <a:xfrm>
            <a:off x="152400" y="1752600"/>
            <a:ext cx="152400" cy="152400"/>
          </a:xfrm>
          <a:prstGeom prst="star5">
            <a:avLst/>
          </a:prstGeom>
          <a:solidFill>
            <a:srgbClr val="FFCC00"/>
          </a:solidFill>
          <a:ln>
            <a:solidFill>
              <a:srgbClr val="FF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0977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543AA-B39B-435E-A969-67E51610B013}"/>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4E87EFB3-043F-48F7-9A2B-7CA017252BA4}"/>
              </a:ext>
            </a:extLst>
          </p:cNvPr>
          <p:cNvSpPr>
            <a:spLocks noGrp="1"/>
          </p:cNvSpPr>
          <p:nvPr>
            <p:ph type="body" idx="1"/>
          </p:nvPr>
        </p:nvSpPr>
        <p:spPr/>
        <p:txBody>
          <a:bodyPr/>
          <a:lstStyle/>
          <a:p>
            <a:r>
              <a:rPr lang="en-US"/>
              <a:t>Ground Truth</a:t>
            </a:r>
          </a:p>
        </p:txBody>
      </p:sp>
      <p:pic>
        <p:nvPicPr>
          <p:cNvPr id="5" name="Picture 4">
            <a:extLst>
              <a:ext uri="{FF2B5EF4-FFF2-40B4-BE49-F238E27FC236}">
                <a16:creationId xmlns:a16="http://schemas.microsoft.com/office/drawing/2014/main" id="{6024589C-3D97-828F-6BEF-840DA60E8A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625"/>
            <a:ext cx="9144000" cy="5736749"/>
          </a:xfrm>
          <a:prstGeom prst="rect">
            <a:avLst/>
          </a:prstGeom>
        </p:spPr>
      </p:pic>
      <p:sp>
        <p:nvSpPr>
          <p:cNvPr id="4" name="Star: 5 Points 3">
            <a:extLst>
              <a:ext uri="{FF2B5EF4-FFF2-40B4-BE49-F238E27FC236}">
                <a16:creationId xmlns:a16="http://schemas.microsoft.com/office/drawing/2014/main" id="{E181E13A-228D-48BD-1FD0-F785B5BF8745}"/>
              </a:ext>
            </a:extLst>
          </p:cNvPr>
          <p:cNvSpPr/>
          <p:nvPr/>
        </p:nvSpPr>
        <p:spPr>
          <a:xfrm>
            <a:off x="152400" y="685800"/>
            <a:ext cx="152400" cy="152400"/>
          </a:xfrm>
          <a:prstGeom prst="star5">
            <a:avLst/>
          </a:prstGeom>
          <a:solidFill>
            <a:srgbClr val="FFCC00"/>
          </a:solidFill>
          <a:ln>
            <a:solidFill>
              <a:srgbClr val="FF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tar: 5 Points 5">
            <a:extLst>
              <a:ext uri="{FF2B5EF4-FFF2-40B4-BE49-F238E27FC236}">
                <a16:creationId xmlns:a16="http://schemas.microsoft.com/office/drawing/2014/main" id="{F293A61A-6629-FAF1-FA43-1407481C0573}"/>
              </a:ext>
            </a:extLst>
          </p:cNvPr>
          <p:cNvSpPr/>
          <p:nvPr/>
        </p:nvSpPr>
        <p:spPr>
          <a:xfrm>
            <a:off x="152400" y="2819400"/>
            <a:ext cx="152400" cy="152400"/>
          </a:xfrm>
          <a:prstGeom prst="star5">
            <a:avLst/>
          </a:prstGeom>
          <a:solidFill>
            <a:srgbClr val="FFCC00"/>
          </a:solidFill>
          <a:ln>
            <a:solidFill>
              <a:srgbClr val="FFCC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634795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6E3403-0699-B7E3-7FFF-A828E988F3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2864"/>
            <a:ext cx="9144000" cy="5432271"/>
          </a:xfrm>
          <a:prstGeom prst="rect">
            <a:avLst/>
          </a:prstGeom>
        </p:spPr>
      </p:pic>
    </p:spTree>
    <p:extLst>
      <p:ext uri="{BB962C8B-B14F-4D97-AF65-F5344CB8AC3E}">
        <p14:creationId xmlns:p14="http://schemas.microsoft.com/office/powerpoint/2010/main" val="3739938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A34569F-1465-22AC-3A2F-4E29156FD6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625"/>
            <a:ext cx="9144000" cy="5736749"/>
          </a:xfrm>
          <a:prstGeom prst="rect">
            <a:avLst/>
          </a:prstGeom>
        </p:spPr>
      </p:pic>
    </p:spTree>
    <p:extLst>
      <p:ext uri="{BB962C8B-B14F-4D97-AF65-F5344CB8AC3E}">
        <p14:creationId xmlns:p14="http://schemas.microsoft.com/office/powerpoint/2010/main" val="16938519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5565DD-97CB-2387-7D5C-836CFCE1F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625"/>
            <a:ext cx="9144000" cy="5736749"/>
          </a:xfrm>
          <a:prstGeom prst="rect">
            <a:avLst/>
          </a:prstGeom>
        </p:spPr>
      </p:pic>
    </p:spTree>
    <p:extLst>
      <p:ext uri="{BB962C8B-B14F-4D97-AF65-F5344CB8AC3E}">
        <p14:creationId xmlns:p14="http://schemas.microsoft.com/office/powerpoint/2010/main" val="12625507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7F475C3-640E-B268-4E49-F80491B50A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2864"/>
            <a:ext cx="9144000" cy="5432271"/>
          </a:xfrm>
          <a:prstGeom prst="rect">
            <a:avLst/>
          </a:prstGeom>
        </p:spPr>
      </p:pic>
    </p:spTree>
    <p:extLst>
      <p:ext uri="{BB962C8B-B14F-4D97-AF65-F5344CB8AC3E}">
        <p14:creationId xmlns:p14="http://schemas.microsoft.com/office/powerpoint/2010/main" val="32303921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C2DDC1EF-5156-93D3-F1A8-BB522E43C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60153"/>
            <a:ext cx="9144000" cy="2337693"/>
          </a:xfrm>
          <a:prstGeom prst="rect">
            <a:avLst/>
          </a:prstGeom>
        </p:spPr>
      </p:pic>
    </p:spTree>
    <p:extLst>
      <p:ext uri="{BB962C8B-B14F-4D97-AF65-F5344CB8AC3E}">
        <p14:creationId xmlns:p14="http://schemas.microsoft.com/office/powerpoint/2010/main" val="37305581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F01C9B-27F9-D7D4-2A6C-C12B514D0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60153"/>
            <a:ext cx="9144000" cy="2337693"/>
          </a:xfrm>
          <a:prstGeom prst="rect">
            <a:avLst/>
          </a:prstGeom>
        </p:spPr>
      </p:pic>
    </p:spTree>
    <p:extLst>
      <p:ext uri="{BB962C8B-B14F-4D97-AF65-F5344CB8AC3E}">
        <p14:creationId xmlns:p14="http://schemas.microsoft.com/office/powerpoint/2010/main" val="40648794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46DFCE-1C00-1DB7-FE93-05FF45CEB7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60153"/>
            <a:ext cx="9144000" cy="2337693"/>
          </a:xfrm>
          <a:prstGeom prst="rect">
            <a:avLst/>
          </a:prstGeom>
        </p:spPr>
      </p:pic>
    </p:spTree>
    <p:extLst>
      <p:ext uri="{BB962C8B-B14F-4D97-AF65-F5344CB8AC3E}">
        <p14:creationId xmlns:p14="http://schemas.microsoft.com/office/powerpoint/2010/main" val="372266980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60287A-2956-BFDB-CEC9-B6E76C6675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60153"/>
            <a:ext cx="9144000" cy="2337693"/>
          </a:xfrm>
          <a:prstGeom prst="rect">
            <a:avLst/>
          </a:prstGeom>
        </p:spPr>
      </p:pic>
    </p:spTree>
    <p:extLst>
      <p:ext uri="{BB962C8B-B14F-4D97-AF65-F5344CB8AC3E}">
        <p14:creationId xmlns:p14="http://schemas.microsoft.com/office/powerpoint/2010/main" val="3343062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F7EA53-A104-4F77-E730-C3E275A45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56840"/>
            <a:ext cx="9144000" cy="2344320"/>
          </a:xfrm>
          <a:prstGeom prst="rect">
            <a:avLst/>
          </a:prstGeom>
        </p:spPr>
      </p:pic>
    </p:spTree>
    <p:extLst>
      <p:ext uri="{BB962C8B-B14F-4D97-AF65-F5344CB8AC3E}">
        <p14:creationId xmlns:p14="http://schemas.microsoft.com/office/powerpoint/2010/main" val="21288110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7A22DE-A721-04C3-49A4-A94D577F60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60153"/>
            <a:ext cx="9144000" cy="2337693"/>
          </a:xfrm>
          <a:prstGeom prst="rect">
            <a:avLst/>
          </a:prstGeom>
        </p:spPr>
      </p:pic>
    </p:spTree>
    <p:extLst>
      <p:ext uri="{BB962C8B-B14F-4D97-AF65-F5344CB8AC3E}">
        <p14:creationId xmlns:p14="http://schemas.microsoft.com/office/powerpoint/2010/main" val="28287041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Conclusion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2" name="Rectangle 4">
            <a:extLst>
              <a:ext uri="{FF2B5EF4-FFF2-40B4-BE49-F238E27FC236}">
                <a16:creationId xmlns:a16="http://schemas.microsoft.com/office/drawing/2014/main" id="{51C41EC1-5E5B-4DDD-5A52-F8BBB434C608}"/>
              </a:ext>
            </a:extLst>
          </p:cNvPr>
          <p:cNvSpPr txBox="1">
            <a:spLocks noChangeArrowheads="1"/>
          </p:cNvSpPr>
          <p:nvPr/>
        </p:nvSpPr>
        <p:spPr bwMode="auto">
          <a:xfrm>
            <a:off x="762000" y="1520444"/>
            <a:ext cx="7620000" cy="3194721"/>
          </a:xfrm>
          <a:prstGeom prst="rect">
            <a:avLst/>
          </a:prstGeom>
          <a:noFill/>
          <a:ln w="9525">
            <a:noFill/>
            <a:miter lim="800000"/>
            <a:headEnd/>
            <a:tailEnd/>
          </a:ln>
        </p:spPr>
        <p:txBody>
          <a:bodyPr wrap="square">
            <a:spAutoFit/>
          </a:bodyPr>
          <a:lstStyle/>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People believe their choices are the happy ones. </a:t>
            </a:r>
          </a:p>
          <a:p>
            <a:pPr marL="742950" lvl="1"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Chosen characteristics (marriage, kids, religion) tend to be biased by motivated reasoning</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Innate characteristics (ex. Sex, age, race) tend to result in a “grass is greener” effect, rating the other group as happier</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Next steps: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Does accuracy differ between happier and less happy respondents?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Is the own-group perception effect moderated by respondent’s own happiness? </a:t>
            </a:r>
          </a:p>
        </p:txBody>
      </p:sp>
    </p:spTree>
    <p:extLst>
      <p:ext uri="{BB962C8B-B14F-4D97-AF65-F5344CB8AC3E}">
        <p14:creationId xmlns:p14="http://schemas.microsoft.com/office/powerpoint/2010/main" val="363613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2438400"/>
            <a:ext cx="9144000" cy="1143000"/>
          </a:xfrm>
          <a:noFill/>
        </p:spPr>
        <p:txBody>
          <a:bodyPr/>
          <a:lstStyle/>
          <a:p>
            <a:pPr eaLnBrk="1" hangingPunct="1"/>
            <a:r>
              <a:rPr lang="en-US" altLang="en-US" sz="3600" dirty="0">
                <a:solidFill>
                  <a:srgbClr val="000000"/>
                </a:solidFill>
                <a:latin typeface="Georgia" panose="02040502050405020303" pitchFamily="18" charset="0"/>
              </a:rPr>
              <a:t>Thank You!</a:t>
            </a:r>
          </a:p>
        </p:txBody>
      </p:sp>
    </p:spTree>
    <p:extLst>
      <p:ext uri="{BB962C8B-B14F-4D97-AF65-F5344CB8AC3E}">
        <p14:creationId xmlns:p14="http://schemas.microsoft.com/office/powerpoint/2010/main" val="29001319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Happiness - Appendix</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45452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5086-96E4-B9C1-C9F8-903E80E85A30}"/>
              </a:ext>
            </a:extLst>
          </p:cNvPr>
          <p:cNvSpPr>
            <a:spLocks noGrp="1"/>
          </p:cNvSpPr>
          <p:nvPr>
            <p:ph type="title"/>
          </p:nvPr>
        </p:nvSpPr>
        <p:spPr/>
        <p:txBody>
          <a:bodyPr/>
          <a:lstStyle/>
          <a:p>
            <a:r>
              <a:rPr lang="en-US" dirty="0"/>
              <a:t>Betas plot</a:t>
            </a:r>
          </a:p>
        </p:txBody>
      </p:sp>
      <p:sp>
        <p:nvSpPr>
          <p:cNvPr id="3" name="Text Placeholder 2">
            <a:extLst>
              <a:ext uri="{FF2B5EF4-FFF2-40B4-BE49-F238E27FC236}">
                <a16:creationId xmlns:a16="http://schemas.microsoft.com/office/drawing/2014/main" id="{18C64A6F-53FE-13DD-C257-52FBE79D6B8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9491778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93347B-A8FA-C02B-7A93-1FAC747CF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0709"/>
            <a:ext cx="9144000" cy="5276581"/>
          </a:xfrm>
          <a:prstGeom prst="rect">
            <a:avLst/>
          </a:prstGeom>
        </p:spPr>
      </p:pic>
    </p:spTree>
    <p:extLst>
      <p:ext uri="{BB962C8B-B14F-4D97-AF65-F5344CB8AC3E}">
        <p14:creationId xmlns:p14="http://schemas.microsoft.com/office/powerpoint/2010/main" val="13551058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01C8FB-993C-7699-3FD4-674C1F31FE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90709"/>
            <a:ext cx="9144000" cy="5276581"/>
          </a:xfrm>
          <a:prstGeom prst="rect">
            <a:avLst/>
          </a:prstGeom>
        </p:spPr>
      </p:pic>
    </p:spTree>
    <p:extLst>
      <p:ext uri="{BB962C8B-B14F-4D97-AF65-F5344CB8AC3E}">
        <p14:creationId xmlns:p14="http://schemas.microsoft.com/office/powerpoint/2010/main" val="13647148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A297B9-11D1-F9C5-66D9-BE7EDFD469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10655"/>
            <a:ext cx="9144000" cy="5836690"/>
          </a:xfrm>
          <a:prstGeom prst="rect">
            <a:avLst/>
          </a:prstGeom>
        </p:spPr>
      </p:pic>
    </p:spTree>
    <p:extLst>
      <p:ext uri="{BB962C8B-B14F-4D97-AF65-F5344CB8AC3E}">
        <p14:creationId xmlns:p14="http://schemas.microsoft.com/office/powerpoint/2010/main" val="16496925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FDB8E-A1AC-1E43-B128-9C688EE279E7}"/>
              </a:ext>
            </a:extLst>
          </p:cNvPr>
          <p:cNvSpPr>
            <a:spLocks noGrp="1"/>
          </p:cNvSpPr>
          <p:nvPr>
            <p:ph type="title"/>
          </p:nvPr>
        </p:nvSpPr>
        <p:spPr/>
        <p:txBody>
          <a:bodyPr/>
          <a:lstStyle/>
          <a:p>
            <a:r>
              <a:rPr lang="en-US" dirty="0"/>
              <a:t>Happy vs unhappy predictions</a:t>
            </a:r>
          </a:p>
        </p:txBody>
      </p:sp>
      <p:sp>
        <p:nvSpPr>
          <p:cNvPr id="3" name="Text Placeholder 2">
            <a:extLst>
              <a:ext uri="{FF2B5EF4-FFF2-40B4-BE49-F238E27FC236}">
                <a16:creationId xmlns:a16="http://schemas.microsoft.com/office/drawing/2014/main" id="{17B53A6A-3873-0D3A-0C28-2203D5D3B2D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92988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104077-8CC8-09FF-8D6F-A5CE855D9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0128"/>
            <a:ext cx="9144000" cy="4577744"/>
          </a:xfrm>
          <a:prstGeom prst="rect">
            <a:avLst/>
          </a:prstGeom>
        </p:spPr>
      </p:pic>
    </p:spTree>
    <p:extLst>
      <p:ext uri="{BB962C8B-B14F-4D97-AF65-F5344CB8AC3E}">
        <p14:creationId xmlns:p14="http://schemas.microsoft.com/office/powerpoint/2010/main" val="1777894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B028BB-CEE9-A75C-20B0-CE81C6A6B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0128"/>
            <a:ext cx="9144000" cy="4577744"/>
          </a:xfrm>
          <a:prstGeom prst="rect">
            <a:avLst/>
          </a:prstGeom>
        </p:spPr>
      </p:pic>
    </p:spTree>
    <p:extLst>
      <p:ext uri="{BB962C8B-B14F-4D97-AF65-F5344CB8AC3E}">
        <p14:creationId xmlns:p14="http://schemas.microsoft.com/office/powerpoint/2010/main" val="24520131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D9997C-30A6-F4D0-0CA6-E12473FAA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0128"/>
            <a:ext cx="9144000" cy="4577744"/>
          </a:xfrm>
          <a:prstGeom prst="rect">
            <a:avLst/>
          </a:prstGeom>
        </p:spPr>
      </p:pic>
    </p:spTree>
    <p:extLst>
      <p:ext uri="{BB962C8B-B14F-4D97-AF65-F5344CB8AC3E}">
        <p14:creationId xmlns:p14="http://schemas.microsoft.com/office/powerpoint/2010/main" val="6046752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4FDE8F-542C-C114-184E-2AB5A504DB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0128"/>
            <a:ext cx="9144000" cy="4577744"/>
          </a:xfrm>
          <a:prstGeom prst="rect">
            <a:avLst/>
          </a:prstGeom>
        </p:spPr>
      </p:pic>
    </p:spTree>
    <p:extLst>
      <p:ext uri="{BB962C8B-B14F-4D97-AF65-F5344CB8AC3E}">
        <p14:creationId xmlns:p14="http://schemas.microsoft.com/office/powerpoint/2010/main" val="8596785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654E33-8C4E-4040-B969-9EF6198F22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34362"/>
            <a:ext cx="9144000" cy="4589275"/>
          </a:xfrm>
          <a:prstGeom prst="rect">
            <a:avLst/>
          </a:prstGeom>
        </p:spPr>
      </p:pic>
    </p:spTree>
    <p:extLst>
      <p:ext uri="{BB962C8B-B14F-4D97-AF65-F5344CB8AC3E}">
        <p14:creationId xmlns:p14="http://schemas.microsoft.com/office/powerpoint/2010/main" val="38986890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4BDE19-D751-1317-4733-D2C71CC87E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0128"/>
            <a:ext cx="9144000" cy="4577744"/>
          </a:xfrm>
          <a:prstGeom prst="rect">
            <a:avLst/>
          </a:prstGeom>
        </p:spPr>
      </p:pic>
    </p:spTree>
    <p:extLst>
      <p:ext uri="{BB962C8B-B14F-4D97-AF65-F5344CB8AC3E}">
        <p14:creationId xmlns:p14="http://schemas.microsoft.com/office/powerpoint/2010/main" val="42113117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7B3CC-E702-805D-3537-CA0F62750CD6}"/>
              </a:ext>
            </a:extLst>
          </p:cNvPr>
          <p:cNvSpPr>
            <a:spLocks noGrp="1"/>
          </p:cNvSpPr>
          <p:nvPr>
            <p:ph type="title"/>
          </p:nvPr>
        </p:nvSpPr>
        <p:spPr/>
        <p:txBody>
          <a:bodyPr/>
          <a:lstStyle/>
          <a:p>
            <a:r>
              <a:rPr lang="en-US" dirty="0"/>
              <a:t>Respondent vs GSS Average Happiness</a:t>
            </a:r>
          </a:p>
        </p:txBody>
      </p:sp>
      <p:sp>
        <p:nvSpPr>
          <p:cNvPr id="3" name="Text Placeholder 2">
            <a:extLst>
              <a:ext uri="{FF2B5EF4-FFF2-40B4-BE49-F238E27FC236}">
                <a16:creationId xmlns:a16="http://schemas.microsoft.com/office/drawing/2014/main" id="{1A37622B-EFDF-CA5F-F5CB-591E517B0DD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3095159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FDD50E-2B35-6D21-33D7-0A67F11A94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625"/>
            <a:ext cx="9144000" cy="5736749"/>
          </a:xfrm>
          <a:prstGeom prst="rect">
            <a:avLst/>
          </a:prstGeom>
        </p:spPr>
      </p:pic>
    </p:spTree>
    <p:extLst>
      <p:ext uri="{BB962C8B-B14F-4D97-AF65-F5344CB8AC3E}">
        <p14:creationId xmlns:p14="http://schemas.microsoft.com/office/powerpoint/2010/main" val="20757224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292E831-142C-C159-3420-08A638889E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60625"/>
            <a:ext cx="9144000" cy="5736749"/>
          </a:xfrm>
          <a:prstGeom prst="rect">
            <a:avLst/>
          </a:prstGeom>
        </p:spPr>
      </p:pic>
    </p:spTree>
    <p:extLst>
      <p:ext uri="{BB962C8B-B14F-4D97-AF65-F5344CB8AC3E}">
        <p14:creationId xmlns:p14="http://schemas.microsoft.com/office/powerpoint/2010/main" val="40854149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A760E1-6897-D0AF-52A8-3A816403D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2864"/>
            <a:ext cx="9144000" cy="5432271"/>
          </a:xfrm>
          <a:prstGeom prst="rect">
            <a:avLst/>
          </a:prstGeom>
        </p:spPr>
      </p:pic>
    </p:spTree>
    <p:extLst>
      <p:ext uri="{BB962C8B-B14F-4D97-AF65-F5344CB8AC3E}">
        <p14:creationId xmlns:p14="http://schemas.microsoft.com/office/powerpoint/2010/main" val="19167911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694C6-F165-22A0-B1A4-3C180A8BB560}"/>
              </a:ext>
            </a:extLst>
          </p:cNvPr>
          <p:cNvSpPr>
            <a:spLocks noGrp="1"/>
          </p:cNvSpPr>
          <p:nvPr>
            <p:ph type="title"/>
          </p:nvPr>
        </p:nvSpPr>
        <p:spPr/>
        <p:txBody>
          <a:bodyPr/>
          <a:lstStyle/>
          <a:p>
            <a:r>
              <a:rPr lang="en-US" sz="3800" dirty="0"/>
              <a:t>Survey descriptives &amp; Respondent Demographics</a:t>
            </a:r>
          </a:p>
        </p:txBody>
      </p:sp>
      <p:sp>
        <p:nvSpPr>
          <p:cNvPr id="3" name="Text Placeholder 2">
            <a:extLst>
              <a:ext uri="{FF2B5EF4-FFF2-40B4-BE49-F238E27FC236}">
                <a16:creationId xmlns:a16="http://schemas.microsoft.com/office/drawing/2014/main" id="{3A1452CD-98EF-78DA-140F-0EE41368D8F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381068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16ABC7-494A-C162-DA1D-F821BFA99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564965"/>
            <a:ext cx="6934200" cy="5728070"/>
          </a:xfrm>
          <a:prstGeom prst="rect">
            <a:avLst/>
          </a:prstGeom>
        </p:spPr>
      </p:pic>
    </p:spTree>
    <p:extLst>
      <p:ext uri="{BB962C8B-B14F-4D97-AF65-F5344CB8AC3E}">
        <p14:creationId xmlns:p14="http://schemas.microsoft.com/office/powerpoint/2010/main" val="39372948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94C07E0-55E6-FFD6-AA01-4057A9B616EB}"/>
              </a:ext>
            </a:extLst>
          </p:cNvPr>
          <p:cNvPicPr>
            <a:picLocks noChangeAspect="1"/>
          </p:cNvPicPr>
          <p:nvPr/>
        </p:nvPicPr>
        <p:blipFill>
          <a:blip r:embed="rId2">
            <a:extLst>
              <a:ext uri="{28A0092B-C50C-407E-A947-70E740481C1C}">
                <a14:useLocalDpi xmlns:a14="http://schemas.microsoft.com/office/drawing/2010/main" val="0"/>
              </a:ext>
            </a:extLst>
          </a:blip>
          <a:srcRect t="5703" r="51667"/>
          <a:stretch/>
        </p:blipFill>
        <p:spPr>
          <a:xfrm>
            <a:off x="685800" y="148419"/>
            <a:ext cx="7772400" cy="6561161"/>
          </a:xfrm>
          <a:prstGeom prst="rect">
            <a:avLst/>
          </a:prstGeom>
        </p:spPr>
      </p:pic>
    </p:spTree>
    <p:extLst>
      <p:ext uri="{BB962C8B-B14F-4D97-AF65-F5344CB8AC3E}">
        <p14:creationId xmlns:p14="http://schemas.microsoft.com/office/powerpoint/2010/main" val="40255702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CB6E9C-3363-7367-662D-7A9B62510176}"/>
              </a:ext>
            </a:extLst>
          </p:cNvPr>
          <p:cNvPicPr>
            <a:picLocks noChangeAspect="1"/>
          </p:cNvPicPr>
          <p:nvPr/>
        </p:nvPicPr>
        <p:blipFill>
          <a:blip r:embed="rId2">
            <a:extLst>
              <a:ext uri="{28A0092B-C50C-407E-A947-70E740481C1C}">
                <a14:useLocalDpi xmlns:a14="http://schemas.microsoft.com/office/drawing/2010/main" val="0"/>
              </a:ext>
            </a:extLst>
          </a:blip>
          <a:srcRect l="47500" t="5703"/>
          <a:stretch/>
        </p:blipFill>
        <p:spPr>
          <a:xfrm>
            <a:off x="381000" y="171902"/>
            <a:ext cx="8382000" cy="6514195"/>
          </a:xfrm>
          <a:prstGeom prst="rect">
            <a:avLst/>
          </a:prstGeom>
        </p:spPr>
      </p:pic>
    </p:spTree>
    <p:extLst>
      <p:ext uri="{BB962C8B-B14F-4D97-AF65-F5344CB8AC3E}">
        <p14:creationId xmlns:p14="http://schemas.microsoft.com/office/powerpoint/2010/main" val="293291551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2789941-95F0-9CE6-4336-78D266CAC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5657" y="486886"/>
            <a:ext cx="8192686" cy="5884227"/>
          </a:xfrm>
          <a:prstGeom prst="rect">
            <a:avLst/>
          </a:prstGeom>
        </p:spPr>
      </p:pic>
    </p:spTree>
    <p:extLst>
      <p:ext uri="{BB962C8B-B14F-4D97-AF65-F5344CB8AC3E}">
        <p14:creationId xmlns:p14="http://schemas.microsoft.com/office/powerpoint/2010/main" val="64432801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88083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86593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898066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Online Regulation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4358116"/>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Examples of online regulation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China’s broad censorship regime</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Platform restrictions (</a:t>
            </a:r>
            <a:r>
              <a:rPr lang="en-US" dirty="0" err="1">
                <a:latin typeface="Cambria" pitchFamily="18" charset="0"/>
                <a:ea typeface="ＭＳ Ｐゴシック" pitchFamily="34" charset="-128"/>
              </a:rPr>
              <a:t>Tiktok</a:t>
            </a:r>
            <a:r>
              <a:rPr lang="en-US" dirty="0">
                <a:latin typeface="Cambria" pitchFamily="18" charset="0"/>
                <a:ea typeface="ＭＳ Ｐゴシック" pitchFamily="34" charset="-128"/>
              </a:rPr>
              <a:t> in India, Twitter/X in Brazil, etc.)</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Social media restrictions for kids in Australia</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Sports gambling across U.S. States</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Challenges of online regulation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Noncompliance by firms (e.g. Off-shore companies)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Circumvention by consumers (e.g. Virtual Private Networks)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Substitution from compliant to noncompliant platforms</a:t>
            </a: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3113801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Regulation of Adult Websites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5466112"/>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Huge online adult website industry</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4 of the top 20 most visited websites worldwide are adult websites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The top 5 adult websites generated 8.9B visits (more than any other individual website except Google and </a:t>
            </a:r>
            <a:r>
              <a:rPr lang="en-US" dirty="0" err="1">
                <a:latin typeface="Cambria" pitchFamily="18" charset="0"/>
                <a:ea typeface="ＭＳ Ｐゴシック" pitchFamily="34" charset="-128"/>
              </a:rPr>
              <a:t>Youtube</a:t>
            </a:r>
            <a:r>
              <a:rPr lang="en-US" dirty="0">
                <a:latin typeface="Cambria" pitchFamily="18" charset="0"/>
                <a:ea typeface="ＭＳ Ｐゴシック" pitchFamily="34" charset="-128"/>
              </a:rPr>
              <a:t>)</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Single men on average self-report spending 2+ hours on adult sites per week.</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More than 50% of children under the age of 13 have viewed online pornography</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Age verification laws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Started with Louisiana in January 2023 (25 additional states since)</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In response, Pornhub (largest online adult website) chose to shutdown in 25 states (for both adults and children)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Alternative large sites (e.g. XNXX, </a:t>
            </a:r>
            <a:r>
              <a:rPr lang="en-US" dirty="0" err="1">
                <a:latin typeface="Cambria" pitchFamily="18" charset="0"/>
                <a:ea typeface="ＭＳ Ｐゴシック" pitchFamily="34" charset="-128"/>
              </a:rPr>
              <a:t>Xvideos</a:t>
            </a:r>
            <a:r>
              <a:rPr lang="en-US" dirty="0">
                <a:latin typeface="Cambria" pitchFamily="18" charset="0"/>
                <a:ea typeface="ＭＳ Ｐゴシック" pitchFamily="34" charset="-128"/>
              </a:rPr>
              <a:t>) did not comply with the law</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Consumers can circumvent law by using VPNs</a:t>
            </a: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3051859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30C067-4EF9-4416-AF93-79CB88205568}"/>
              </a:ext>
            </a:extLst>
          </p:cNvPr>
          <p:cNvPicPr>
            <a:picLocks noChangeAspect="1"/>
          </p:cNvPicPr>
          <p:nvPr/>
        </p:nvPicPr>
        <p:blipFill>
          <a:blip r:embed="rId2"/>
          <a:stretch>
            <a:fillRect/>
          </a:stretch>
        </p:blipFill>
        <p:spPr>
          <a:xfrm>
            <a:off x="1686102" y="152400"/>
            <a:ext cx="5643533" cy="6705600"/>
          </a:xfrm>
          <a:prstGeom prst="rect">
            <a:avLst/>
          </a:prstGeom>
        </p:spPr>
      </p:pic>
    </p:spTree>
    <p:extLst>
      <p:ext uri="{BB962C8B-B14F-4D97-AF65-F5344CB8AC3E}">
        <p14:creationId xmlns:p14="http://schemas.microsoft.com/office/powerpoint/2010/main" val="223863829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Research Question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3250121"/>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What are the behavioral responses to age-verification laws?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For every 100 hours spent on adult websites prior to a state passing an age verification law, what happens to those hours post law:</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Noncompliance: </a:t>
            </a:r>
            <a:r>
              <a:rPr lang="en-US" dirty="0">
                <a:latin typeface="Cambria" pitchFamily="18" charset="0"/>
                <a:ea typeface="ＭＳ Ｐゴシック" pitchFamily="34" charset="-128"/>
              </a:rPr>
              <a:t>hours that continue unabated because website did not comply</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Circumvention: </a:t>
            </a:r>
            <a:r>
              <a:rPr lang="en-US" dirty="0">
                <a:latin typeface="Cambria" pitchFamily="18" charset="0"/>
                <a:ea typeface="ＭＳ Ｐゴシック" pitchFamily="34" charset="-128"/>
              </a:rPr>
              <a:t>hours spent on a compliant website due to VPN use</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Substitution:</a:t>
            </a:r>
            <a:r>
              <a:rPr lang="en-US" dirty="0">
                <a:latin typeface="Cambria" pitchFamily="18" charset="0"/>
                <a:ea typeface="ＭＳ Ｐゴシック" pitchFamily="34" charset="-128"/>
              </a:rPr>
              <a:t> hours that shifted from compliant to noncompliant sites</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Cessation:</a:t>
            </a:r>
            <a:r>
              <a:rPr lang="en-US" dirty="0">
                <a:latin typeface="Cambria" pitchFamily="18" charset="0"/>
                <a:ea typeface="ＭＳ Ｐゴシック" pitchFamily="34" charset="-128"/>
              </a:rPr>
              <a:t> hours that disappear from adult websites</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3127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Data</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3582519"/>
          </a:xfrm>
          <a:prstGeom prst="rect">
            <a:avLst/>
          </a:prstGeom>
          <a:noFill/>
          <a:ln w="9525">
            <a:noFill/>
            <a:miter lim="800000"/>
            <a:headEnd/>
            <a:tailEnd/>
          </a:ln>
        </p:spPr>
        <p:txBody>
          <a:bodyPr wrap="square">
            <a:spAutoFit/>
          </a:bodyPr>
          <a:lstStyle/>
          <a:p>
            <a:pPr>
              <a:spcBef>
                <a:spcPct val="20000"/>
              </a:spcBef>
              <a:defRPr/>
            </a:pPr>
            <a:r>
              <a:rPr lang="en-US" dirty="0" err="1">
                <a:latin typeface="Cambria" pitchFamily="18" charset="0"/>
                <a:ea typeface="ＭＳ Ｐゴシック" pitchFamily="34" charset="-128"/>
              </a:rPr>
              <a:t>Comscore</a:t>
            </a:r>
            <a:endParaRPr lang="en-US" dirty="0">
              <a:latin typeface="Cambria" pitchFamily="18" charset="0"/>
              <a:ea typeface="ＭＳ Ｐゴシック" pitchFamily="34" charset="-128"/>
            </a:endParaRP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Individual-level online activity data for a rotating sample of ~550,000</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Includes mobile and desktop devices for Jan 2022 to Dec 2024</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Stable geographic identifier (allows us to assign browsing to the machine’s location even when VPN is being used)</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 do NOT track incognito or private browser activity</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 are tracking adults (not kids)</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Primary outcome variable</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Weekly minutes spent on Pornhub, alternative sites, and all XXX sites combined</a:t>
            </a:r>
          </a:p>
        </p:txBody>
      </p:sp>
    </p:spTree>
    <p:extLst>
      <p:ext uri="{BB962C8B-B14F-4D97-AF65-F5344CB8AC3E}">
        <p14:creationId xmlns:p14="http://schemas.microsoft.com/office/powerpoint/2010/main" val="1848394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Time spent in the pre-treatment period</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6858000" cy="4025717"/>
          </a:xfrm>
          <a:prstGeom prst="rect">
            <a:avLst/>
          </a:prstGeom>
          <a:noFill/>
          <a:ln w="9525">
            <a:noFill/>
            <a:miter lim="800000"/>
            <a:headEnd/>
            <a:tailEnd/>
          </a:ln>
        </p:spPr>
        <p:txBody>
          <a:bodyPr wrap="square">
            <a:spAutoFit/>
          </a:bodyPr>
          <a:lstStyle/>
          <a:p>
            <a:pPr>
              <a:spcBef>
                <a:spcPct val="20000"/>
              </a:spcBef>
              <a:defRPr/>
            </a:pPr>
            <a:r>
              <a:rPr lang="en-US" b="1" dirty="0">
                <a:latin typeface="Cambria" pitchFamily="18" charset="0"/>
                <a:ea typeface="ＭＳ Ｐゴシック" pitchFamily="34" charset="-128"/>
              </a:rPr>
              <a:t>All XXX: 6.3 minutes weekly minutes/device</a:t>
            </a:r>
          </a:p>
          <a:p>
            <a:pPr>
              <a:spcBef>
                <a:spcPct val="20000"/>
              </a:spcBef>
              <a:defRPr/>
            </a:pPr>
            <a:endParaRPr lang="en-US" dirty="0">
              <a:latin typeface="Cambria" pitchFamily="18" charset="0"/>
              <a:ea typeface="ＭＳ Ｐゴシック" pitchFamily="34" charset="-128"/>
            </a:endParaRPr>
          </a:p>
          <a:p>
            <a:pPr>
              <a:spcBef>
                <a:spcPct val="20000"/>
              </a:spcBef>
              <a:defRPr/>
            </a:pPr>
            <a:r>
              <a:rPr lang="en-US" b="1" u="sng" dirty="0">
                <a:latin typeface="Cambria" pitchFamily="18" charset="0"/>
                <a:ea typeface="ＭＳ Ｐゴシック" pitchFamily="34" charset="-128"/>
              </a:rPr>
              <a:t>Compliant sites</a:t>
            </a:r>
          </a:p>
          <a:p>
            <a:pPr>
              <a:spcBef>
                <a:spcPct val="20000"/>
              </a:spcBef>
              <a:defRPr/>
            </a:pPr>
            <a:r>
              <a:rPr lang="en-US" dirty="0">
                <a:latin typeface="Cambria" pitchFamily="18" charset="0"/>
                <a:ea typeface="ＭＳ Ｐゴシック" pitchFamily="34" charset="-128"/>
              </a:rPr>
              <a:t>Pornhub: 1.4 minutes</a:t>
            </a:r>
          </a:p>
          <a:p>
            <a:pPr>
              <a:spcBef>
                <a:spcPct val="20000"/>
              </a:spcBef>
              <a:defRPr/>
            </a:pPr>
            <a:r>
              <a:rPr lang="en-US" dirty="0" err="1">
                <a:latin typeface="Cambria" pitchFamily="18" charset="0"/>
                <a:ea typeface="ＭＳ Ｐゴシック" pitchFamily="34" charset="-128"/>
              </a:rPr>
              <a:t>Chaterbate</a:t>
            </a:r>
            <a:r>
              <a:rPr lang="en-US" dirty="0">
                <a:latin typeface="Cambria" pitchFamily="18" charset="0"/>
                <a:ea typeface="ＭＳ Ｐゴシック" pitchFamily="34" charset="-128"/>
              </a:rPr>
              <a:t>: .3 minutes</a:t>
            </a:r>
          </a:p>
          <a:p>
            <a:pPr>
              <a:spcBef>
                <a:spcPct val="20000"/>
              </a:spcBef>
              <a:defRPr/>
            </a:pPr>
            <a:r>
              <a:rPr lang="en-US" dirty="0" err="1">
                <a:latin typeface="Cambria" pitchFamily="18" charset="0"/>
                <a:ea typeface="ＭＳ Ｐゴシック" pitchFamily="34" charset="-128"/>
              </a:rPr>
              <a:t>Xhamster</a:t>
            </a:r>
            <a:r>
              <a:rPr lang="en-US" dirty="0">
                <a:latin typeface="Cambria" pitchFamily="18" charset="0"/>
                <a:ea typeface="ＭＳ Ｐゴシック" pitchFamily="34" charset="-128"/>
              </a:rPr>
              <a:t>: .3 min</a:t>
            </a:r>
          </a:p>
          <a:p>
            <a:pPr>
              <a:spcBef>
                <a:spcPct val="20000"/>
              </a:spcBef>
              <a:defRPr/>
            </a:pPr>
            <a:r>
              <a:rPr lang="en-US" dirty="0" err="1">
                <a:latin typeface="Cambria" pitchFamily="18" charset="0"/>
                <a:ea typeface="ＭＳ Ｐゴシック" pitchFamily="34" charset="-128"/>
              </a:rPr>
              <a:t>RedTube</a:t>
            </a:r>
            <a:r>
              <a:rPr lang="en-US" dirty="0">
                <a:latin typeface="Cambria" pitchFamily="18" charset="0"/>
                <a:ea typeface="ＭＳ Ｐゴシック" pitchFamily="34" charset="-128"/>
              </a:rPr>
              <a:t>: .1 min</a:t>
            </a:r>
          </a:p>
          <a:p>
            <a:pPr>
              <a:spcBef>
                <a:spcPct val="20000"/>
              </a:spcBef>
              <a:defRPr/>
            </a:pPr>
            <a:r>
              <a:rPr lang="en-US" dirty="0" err="1">
                <a:latin typeface="Cambria" pitchFamily="18" charset="0"/>
                <a:ea typeface="ＭＳ Ｐゴシック" pitchFamily="34" charset="-128"/>
              </a:rPr>
              <a:t>YouPorn</a:t>
            </a:r>
            <a:r>
              <a:rPr lang="en-US" dirty="0">
                <a:latin typeface="Cambria" pitchFamily="18" charset="0"/>
                <a:ea typeface="ＭＳ Ｐゴシック" pitchFamily="34" charset="-128"/>
              </a:rPr>
              <a:t>: .1 min</a:t>
            </a:r>
          </a:p>
          <a:p>
            <a:pPr>
              <a:spcBef>
                <a:spcPct val="20000"/>
              </a:spcBef>
              <a:defRPr/>
            </a:pPr>
            <a:r>
              <a:rPr lang="en-US" dirty="0" err="1">
                <a:latin typeface="Cambria" pitchFamily="18" charset="0"/>
                <a:ea typeface="ＭＳ Ｐゴシック" pitchFamily="34" charset="-128"/>
              </a:rPr>
              <a:t>Spankbang</a:t>
            </a:r>
            <a:r>
              <a:rPr lang="en-US" dirty="0">
                <a:latin typeface="Cambria" pitchFamily="18" charset="0"/>
                <a:ea typeface="ＭＳ Ｐゴシック" pitchFamily="34" charset="-128"/>
              </a:rPr>
              <a:t>: .1 min</a:t>
            </a:r>
          </a:p>
          <a:p>
            <a:pPr>
              <a:spcBef>
                <a:spcPct val="20000"/>
              </a:spcBef>
              <a:defRPr/>
            </a:pPr>
            <a:r>
              <a:rPr lang="en-US" dirty="0" err="1">
                <a:latin typeface="Cambria" pitchFamily="18" charset="0"/>
                <a:ea typeface="ＭＳ Ｐゴシック" pitchFamily="34" charset="-128"/>
              </a:rPr>
              <a:t>Camsoda</a:t>
            </a:r>
            <a:r>
              <a:rPr lang="en-US" dirty="0">
                <a:latin typeface="Cambria" pitchFamily="18" charset="0"/>
                <a:ea typeface="ＭＳ Ｐゴシック" pitchFamily="34" charset="-128"/>
              </a:rPr>
              <a:t>: .1 min</a:t>
            </a: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
        <p:nvSpPr>
          <p:cNvPr id="6" name="Rectangle 4">
            <a:extLst>
              <a:ext uri="{FF2B5EF4-FFF2-40B4-BE49-F238E27FC236}">
                <a16:creationId xmlns:a16="http://schemas.microsoft.com/office/drawing/2014/main" id="{F4D62FA9-8D6C-426C-8A02-C9E5E7494176}"/>
              </a:ext>
            </a:extLst>
          </p:cNvPr>
          <p:cNvSpPr txBox="1">
            <a:spLocks noChangeArrowheads="1"/>
          </p:cNvSpPr>
          <p:nvPr/>
        </p:nvSpPr>
        <p:spPr bwMode="auto">
          <a:xfrm>
            <a:off x="4191000" y="1520846"/>
            <a:ext cx="3124200" cy="2363724"/>
          </a:xfrm>
          <a:prstGeom prst="rect">
            <a:avLst/>
          </a:prstGeom>
          <a:noFill/>
          <a:ln w="9525">
            <a:noFill/>
            <a:miter lim="800000"/>
            <a:headEnd/>
            <a:tailEnd/>
          </a:ln>
        </p:spPr>
        <p:txBody>
          <a:bodyPr wrap="square">
            <a:spAutoFit/>
          </a:bodyPr>
          <a:lstStyle/>
          <a:p>
            <a:pPr>
              <a:spcBef>
                <a:spcPct val="20000"/>
              </a:spcBef>
              <a:defRPr/>
            </a:pPr>
            <a:endParaRPr lang="en-US" b="1"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r>
              <a:rPr lang="en-US" b="1" u="sng" dirty="0">
                <a:latin typeface="Cambria" pitchFamily="18" charset="0"/>
                <a:ea typeface="ＭＳ Ｐゴシック" pitchFamily="34" charset="-128"/>
              </a:rPr>
              <a:t>Non-Compliant sites</a:t>
            </a:r>
          </a:p>
          <a:p>
            <a:pPr>
              <a:spcBef>
                <a:spcPct val="20000"/>
              </a:spcBef>
              <a:defRPr/>
            </a:pPr>
            <a:r>
              <a:rPr lang="en-US" dirty="0" err="1">
                <a:latin typeface="Cambria" pitchFamily="18" charset="0"/>
                <a:ea typeface="ＭＳ Ｐゴシック" pitchFamily="34" charset="-128"/>
              </a:rPr>
              <a:t>XVideos</a:t>
            </a:r>
            <a:r>
              <a:rPr lang="en-US" dirty="0">
                <a:latin typeface="Cambria" pitchFamily="18" charset="0"/>
                <a:ea typeface="ＭＳ Ｐゴシック" pitchFamily="34" charset="-128"/>
              </a:rPr>
              <a:t>: 1.0 minutes</a:t>
            </a:r>
          </a:p>
          <a:p>
            <a:pPr>
              <a:spcBef>
                <a:spcPct val="20000"/>
              </a:spcBef>
              <a:defRPr/>
            </a:pPr>
            <a:r>
              <a:rPr lang="en-US" dirty="0">
                <a:latin typeface="Cambria" pitchFamily="18" charset="0"/>
                <a:ea typeface="ＭＳ Ｐゴシック" pitchFamily="34" charset="-128"/>
              </a:rPr>
              <a:t>XNXX: 0.8 minutes</a:t>
            </a:r>
          </a:p>
          <a:p>
            <a:pPr>
              <a:spcBef>
                <a:spcPct val="20000"/>
              </a:spcBef>
              <a:defRPr/>
            </a:pPr>
            <a:r>
              <a:rPr lang="en-US" dirty="0">
                <a:latin typeface="Cambria" pitchFamily="18" charset="0"/>
                <a:ea typeface="ＭＳ Ｐゴシック" pitchFamily="34" charset="-128"/>
              </a:rPr>
              <a:t>200k+ more: 2.1 minutes</a:t>
            </a: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599639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8426DA-85FB-4539-BB51-810A121A24B9}"/>
              </a:ext>
            </a:extLst>
          </p:cNvPr>
          <p:cNvPicPr>
            <a:picLocks noChangeAspect="1"/>
          </p:cNvPicPr>
          <p:nvPr/>
        </p:nvPicPr>
        <p:blipFill>
          <a:blip r:embed="rId2"/>
          <a:stretch>
            <a:fillRect/>
          </a:stretch>
        </p:blipFill>
        <p:spPr>
          <a:xfrm>
            <a:off x="0" y="43158"/>
            <a:ext cx="9202278" cy="6814842"/>
          </a:xfrm>
          <a:prstGeom prst="rect">
            <a:avLst/>
          </a:prstGeom>
        </p:spPr>
      </p:pic>
    </p:spTree>
    <p:extLst>
      <p:ext uri="{BB962C8B-B14F-4D97-AF65-F5344CB8AC3E}">
        <p14:creationId xmlns:p14="http://schemas.microsoft.com/office/powerpoint/2010/main" val="107701352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D0E2E2-D512-4678-B8B3-0DC4AF9AD834}"/>
              </a:ext>
            </a:extLst>
          </p:cNvPr>
          <p:cNvPicPr>
            <a:picLocks noChangeAspect="1"/>
          </p:cNvPicPr>
          <p:nvPr/>
        </p:nvPicPr>
        <p:blipFill>
          <a:blip r:embed="rId2"/>
          <a:stretch>
            <a:fillRect/>
          </a:stretch>
        </p:blipFill>
        <p:spPr>
          <a:xfrm>
            <a:off x="-56620" y="838200"/>
            <a:ext cx="9200620" cy="4953000"/>
          </a:xfrm>
          <a:prstGeom prst="rect">
            <a:avLst/>
          </a:prstGeom>
        </p:spPr>
      </p:pic>
    </p:spTree>
    <p:extLst>
      <p:ext uri="{BB962C8B-B14F-4D97-AF65-F5344CB8AC3E}">
        <p14:creationId xmlns:p14="http://schemas.microsoft.com/office/powerpoint/2010/main" val="30074036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0D4116-E1AA-495A-B0F5-2487E0AC9DC1}"/>
              </a:ext>
            </a:extLst>
          </p:cNvPr>
          <p:cNvPicPr>
            <a:picLocks noChangeAspect="1"/>
          </p:cNvPicPr>
          <p:nvPr/>
        </p:nvPicPr>
        <p:blipFill rotWithShape="1">
          <a:blip r:embed="rId2"/>
          <a:srcRect l="3333"/>
          <a:stretch/>
        </p:blipFill>
        <p:spPr>
          <a:xfrm>
            <a:off x="0" y="515895"/>
            <a:ext cx="9144000" cy="5638268"/>
          </a:xfrm>
          <a:prstGeom prst="rect">
            <a:avLst/>
          </a:prstGeom>
        </p:spPr>
      </p:pic>
    </p:spTree>
    <p:extLst>
      <p:ext uri="{BB962C8B-B14F-4D97-AF65-F5344CB8AC3E}">
        <p14:creationId xmlns:p14="http://schemas.microsoft.com/office/powerpoint/2010/main" val="456834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169C91F-E071-4D34-B29C-E8412D18CA66}"/>
              </a:ext>
            </a:extLst>
          </p:cNvPr>
          <p:cNvPicPr>
            <a:picLocks noChangeAspect="1"/>
          </p:cNvPicPr>
          <p:nvPr/>
        </p:nvPicPr>
        <p:blipFill>
          <a:blip r:embed="rId2"/>
          <a:stretch>
            <a:fillRect/>
          </a:stretch>
        </p:blipFill>
        <p:spPr>
          <a:xfrm>
            <a:off x="0" y="808892"/>
            <a:ext cx="9144000" cy="5240215"/>
          </a:xfrm>
          <a:prstGeom prst="rect">
            <a:avLst/>
          </a:prstGeom>
        </p:spPr>
      </p:pic>
    </p:spTree>
    <p:extLst>
      <p:ext uri="{BB962C8B-B14F-4D97-AF65-F5344CB8AC3E}">
        <p14:creationId xmlns:p14="http://schemas.microsoft.com/office/powerpoint/2010/main" val="330247868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33404AC-AD9B-4218-B4BE-A2EE328A2644}"/>
              </a:ext>
            </a:extLst>
          </p:cNvPr>
          <p:cNvPicPr>
            <a:picLocks noChangeAspect="1"/>
          </p:cNvPicPr>
          <p:nvPr/>
        </p:nvPicPr>
        <p:blipFill>
          <a:blip r:embed="rId2"/>
          <a:stretch>
            <a:fillRect/>
          </a:stretch>
        </p:blipFill>
        <p:spPr>
          <a:xfrm>
            <a:off x="0" y="882618"/>
            <a:ext cx="9144000" cy="5092764"/>
          </a:xfrm>
          <a:prstGeom prst="rect">
            <a:avLst/>
          </a:prstGeom>
        </p:spPr>
      </p:pic>
    </p:spTree>
    <p:extLst>
      <p:ext uri="{BB962C8B-B14F-4D97-AF65-F5344CB8AC3E}">
        <p14:creationId xmlns:p14="http://schemas.microsoft.com/office/powerpoint/2010/main" val="403857303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img-90b8d931-d536-4e0b-9c3c-b86fc006b69e">
            <a:extLst>
              <a:ext uri="{FF2B5EF4-FFF2-40B4-BE49-F238E27FC236}">
                <a16:creationId xmlns:a16="http://schemas.microsoft.com/office/drawing/2014/main" id="{D08B3C5B-574C-4051-B378-3E20DF4BE25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36096"/>
            <a:ext cx="7277102" cy="689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155714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A0E259-AAA7-4980-88C3-2FA0C7CA24E1}"/>
              </a:ext>
            </a:extLst>
          </p:cNvPr>
          <p:cNvPicPr>
            <a:picLocks noChangeAspect="1"/>
          </p:cNvPicPr>
          <p:nvPr/>
        </p:nvPicPr>
        <p:blipFill>
          <a:blip r:embed="rId2"/>
          <a:stretch>
            <a:fillRect/>
          </a:stretch>
        </p:blipFill>
        <p:spPr>
          <a:xfrm>
            <a:off x="0" y="990600"/>
            <a:ext cx="9079999" cy="4297491"/>
          </a:xfrm>
          <a:prstGeom prst="rect">
            <a:avLst/>
          </a:prstGeom>
        </p:spPr>
      </p:pic>
    </p:spTree>
    <p:extLst>
      <p:ext uri="{BB962C8B-B14F-4D97-AF65-F5344CB8AC3E}">
        <p14:creationId xmlns:p14="http://schemas.microsoft.com/office/powerpoint/2010/main" val="11797754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Summary of Results</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3582519"/>
          </a:xfrm>
          <a:prstGeom prst="rect">
            <a:avLst/>
          </a:prstGeom>
          <a:noFill/>
          <a:ln w="9525">
            <a:noFill/>
            <a:miter lim="800000"/>
            <a:headEnd/>
            <a:tailEnd/>
          </a:ln>
        </p:spPr>
        <p:txBody>
          <a:bodyPr wrap="square">
            <a:spAutoFit/>
          </a:bodyPr>
          <a:lstStyle/>
          <a:p>
            <a:pPr>
              <a:spcBef>
                <a:spcPct val="20000"/>
              </a:spcBef>
              <a:defRPr/>
            </a:pPr>
            <a:r>
              <a:rPr lang="en-US" dirty="0">
                <a:latin typeface="Cambria" pitchFamily="18" charset="0"/>
                <a:ea typeface="ＭＳ Ｐゴシック" pitchFamily="34" charset="-128"/>
              </a:rPr>
              <a:t>For every 100 hours spent on adult websites prior to a state passing an age verification law, what happens to those hours post law:</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Noncompliance: </a:t>
            </a:r>
            <a:r>
              <a:rPr lang="en-US" dirty="0">
                <a:latin typeface="Cambria" pitchFamily="18" charset="0"/>
                <a:ea typeface="ＭＳ Ｐゴシック" pitchFamily="34" charset="-128"/>
              </a:rPr>
              <a:t>65 hours</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Circumvention: </a:t>
            </a:r>
            <a:r>
              <a:rPr lang="en-US" dirty="0">
                <a:latin typeface="Cambria" pitchFamily="18" charset="0"/>
                <a:ea typeface="ＭＳ Ｐゴシック" pitchFamily="34" charset="-128"/>
              </a:rPr>
              <a:t>19 hours</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Substitution:</a:t>
            </a:r>
            <a:r>
              <a:rPr lang="en-US" dirty="0">
                <a:latin typeface="Cambria" pitchFamily="18" charset="0"/>
                <a:ea typeface="ＭＳ Ｐゴシック" pitchFamily="34" charset="-128"/>
              </a:rPr>
              <a:t> 8 hours</a:t>
            </a:r>
          </a:p>
          <a:p>
            <a:pPr marL="285750" indent="-285750">
              <a:spcBef>
                <a:spcPct val="20000"/>
              </a:spcBef>
              <a:buFont typeface="Arial" panose="020B0604020202020204" pitchFamily="34" charset="0"/>
              <a:buChar char="•"/>
              <a:defRPr/>
            </a:pPr>
            <a:r>
              <a:rPr lang="en-US" b="1" dirty="0">
                <a:latin typeface="Cambria" pitchFamily="18" charset="0"/>
                <a:ea typeface="ＭＳ Ｐゴシック" pitchFamily="34" charset="-128"/>
              </a:rPr>
              <a:t>Cessation:</a:t>
            </a:r>
            <a:r>
              <a:rPr lang="en-US" dirty="0">
                <a:latin typeface="Cambria" pitchFamily="18" charset="0"/>
                <a:ea typeface="ＭＳ Ｐゴシック" pitchFamily="34" charset="-128"/>
              </a:rPr>
              <a:t> 8 hours</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r>
              <a:rPr lang="en-US" dirty="0">
                <a:latin typeface="Cambria" pitchFamily="18" charset="0"/>
                <a:ea typeface="ＭＳ Ｐゴシック" pitchFamily="34" charset="-128"/>
              </a:rPr>
              <a:t>Policymakers should be interested in the breakdown above when thinking about how to make regulations more impactful</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3032843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610600" cy="1143000"/>
          </a:xfrm>
        </p:spPr>
        <p:txBody>
          <a:bodyPr/>
          <a:lstStyle/>
          <a:p>
            <a:pPr algn="l" eaLnBrk="1" hangingPunct="1">
              <a:defRPr/>
            </a:pPr>
            <a:r>
              <a:rPr lang="en-US" altLang="en-US" sz="3000" b="1" dirty="0">
                <a:solidFill>
                  <a:schemeClr val="accent4">
                    <a:lumMod val="95000"/>
                    <a:lumOff val="5000"/>
                  </a:schemeClr>
                </a:solidFill>
                <a:latin typeface="Helvetica" panose="020B0604020202020204" pitchFamily="34" charset="0"/>
              </a:rPr>
              <a:t>Conclusion</a:t>
            </a:r>
          </a:p>
        </p:txBody>
      </p:sp>
      <p:cxnSp>
        <p:nvCxnSpPr>
          <p:cNvPr id="5" name="Straight Connector 4"/>
          <p:cNvCxnSpPr/>
          <p:nvPr/>
        </p:nvCxnSpPr>
        <p:spPr>
          <a:xfrm>
            <a:off x="457200" y="1066800"/>
            <a:ext cx="8229600" cy="1588"/>
          </a:xfrm>
          <a:prstGeom prst="line">
            <a:avLst/>
          </a:prstGeom>
          <a:ln w="25400">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4"/>
          <p:cNvSpPr txBox="1">
            <a:spLocks noChangeArrowheads="1"/>
          </p:cNvSpPr>
          <p:nvPr/>
        </p:nvSpPr>
        <p:spPr bwMode="auto">
          <a:xfrm>
            <a:off x="762000" y="1520444"/>
            <a:ext cx="7620000" cy="3194721"/>
          </a:xfrm>
          <a:prstGeom prst="rect">
            <a:avLst/>
          </a:prstGeom>
          <a:noFill/>
          <a:ln w="9525">
            <a:noFill/>
            <a:miter lim="800000"/>
            <a:headEnd/>
            <a:tailEnd/>
          </a:ln>
        </p:spPr>
        <p:txBody>
          <a:bodyPr wrap="square">
            <a:spAutoFit/>
          </a:bodyPr>
          <a:lstStyle/>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Online regulation can be difficult due to noncompliance and circumvention</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We provide evidence of how firms and consumers respond to age verification laws for adult websites</a:t>
            </a:r>
          </a:p>
          <a:p>
            <a:pPr marL="285750" indent="-285750">
              <a:spcBef>
                <a:spcPct val="20000"/>
              </a:spcBef>
              <a:buFont typeface="Arial" panose="020B0604020202020204" pitchFamily="34" charset="0"/>
              <a:buChar char="•"/>
              <a:defRPr/>
            </a:pPr>
            <a:r>
              <a:rPr lang="en-US" dirty="0">
                <a:latin typeface="Cambria" pitchFamily="18" charset="0"/>
                <a:ea typeface="ＭＳ Ｐゴシック" pitchFamily="34" charset="-128"/>
              </a:rPr>
              <a:t>The majority of time spent on adult websites continues unabated due to compliance, circumvention, and substitution. 8% of viewing disappears.</a:t>
            </a: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marL="285750" indent="-285750">
              <a:spcBef>
                <a:spcPct val="20000"/>
              </a:spcBef>
              <a:buFont typeface="Arial" panose="020B0604020202020204" pitchFamily="34" charset="0"/>
              <a:buChar char="•"/>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a:p>
            <a:pPr>
              <a:spcBef>
                <a:spcPct val="20000"/>
              </a:spcBef>
              <a:defRPr/>
            </a:pPr>
            <a:endParaRPr lang="en-US" dirty="0">
              <a:latin typeface="Cambria" pitchFamily="18" charset="0"/>
              <a:ea typeface="ＭＳ Ｐゴシック" pitchFamily="34" charset="-128"/>
            </a:endParaRPr>
          </a:p>
        </p:txBody>
      </p:sp>
    </p:spTree>
    <p:extLst>
      <p:ext uri="{BB962C8B-B14F-4D97-AF65-F5344CB8AC3E}">
        <p14:creationId xmlns:p14="http://schemas.microsoft.com/office/powerpoint/2010/main" val="47844625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0" y="2438400"/>
            <a:ext cx="9144000" cy="1143000"/>
          </a:xfrm>
          <a:noFill/>
        </p:spPr>
        <p:txBody>
          <a:bodyPr/>
          <a:lstStyle/>
          <a:p>
            <a:pPr eaLnBrk="1" hangingPunct="1"/>
            <a:r>
              <a:rPr lang="en-US" altLang="en-US" sz="3600" dirty="0">
                <a:solidFill>
                  <a:srgbClr val="000000"/>
                </a:solidFill>
                <a:latin typeface="Georgia" panose="02040502050405020303" pitchFamily="18" charset="0"/>
              </a:rPr>
              <a:t>Thank You!</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19313</TotalTime>
  <Words>3848</Words>
  <Application>Microsoft Office PowerPoint</Application>
  <PresentationFormat>On-screen Show (4:3)</PresentationFormat>
  <Paragraphs>481</Paragraphs>
  <Slides>113</Slides>
  <Notes>70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113</vt:i4>
      </vt:variant>
    </vt:vector>
  </HeadingPairs>
  <TitlesOfParts>
    <vt:vector size="123" baseType="lpstr">
      <vt:lpstr>AGaramond</vt:lpstr>
      <vt:lpstr>Aptos</vt:lpstr>
      <vt:lpstr>Arial</vt:lpstr>
      <vt:lpstr>Calibri</vt:lpstr>
      <vt:lpstr>Cambria</vt:lpstr>
      <vt:lpstr>Cascadia Mono</vt:lpstr>
      <vt:lpstr>Georgia</vt:lpstr>
      <vt:lpstr>Helvetica</vt:lpstr>
      <vt:lpstr>Wingdings</vt:lpstr>
      <vt:lpstr>Default Design</vt:lpstr>
      <vt:lpstr>PowerPoint Presentation</vt:lpstr>
      <vt:lpstr>Does parenthood change us?</vt:lpstr>
      <vt:lpstr>An understudied topic?</vt:lpstr>
      <vt:lpstr>An understudied topic? Cont.</vt:lpstr>
      <vt:lpstr>Rose &amp; Massenkoff (2024) – Mother’s (first birth)</vt:lpstr>
      <vt:lpstr>Rose &amp; Massenkoff (2024) – Father’s (first birth)</vt:lpstr>
      <vt:lpstr>Rose &amp; Massenkoff (2024) – Father’s (first birth)</vt:lpstr>
      <vt:lpstr>Social media as a source of data</vt:lpstr>
      <vt:lpstr>Outline of talk</vt:lpstr>
      <vt:lpstr>Twitter data collection</vt:lpstr>
      <vt:lpstr>Examples of birth announcements on Twitter</vt:lpstr>
      <vt:lpstr>Examples of birth announcements on Reddit</vt:lpstr>
      <vt:lpstr>Gender and Race Distributions</vt:lpstr>
      <vt:lpstr>Birth Dates Distribution</vt:lpstr>
      <vt:lpstr>Days From Birth Distribution</vt:lpstr>
      <vt:lpstr>Distribution of Twitter Account Creation Dates</vt:lpstr>
      <vt:lpstr>Distribution of Twitter Account Creation Dates</vt:lpstr>
      <vt:lpstr>Account-Level Features</vt:lpstr>
      <vt:lpstr>Outline of talk</vt:lpstr>
      <vt:lpstr>Distribution of original + quote</vt:lpstr>
      <vt:lpstr>Distribution of original + quote – pre/post</vt:lpstr>
      <vt:lpstr>Log original tweet frequency</vt:lpstr>
      <vt:lpstr>Log original tweet frequency – by gender</vt:lpstr>
      <vt:lpstr>Extensive Margin – by gender</vt:lpstr>
      <vt:lpstr>Outline of talk</vt:lpstr>
      <vt:lpstr>Topic Analysis</vt:lpstr>
      <vt:lpstr>Topic Category Shares</vt:lpstr>
      <vt:lpstr>Topic Shares (by account per month)</vt:lpstr>
      <vt:lpstr>Change in tweet topics </vt:lpstr>
      <vt:lpstr>Probability of family tweet – by gender (FEs)</vt:lpstr>
      <vt:lpstr>Outline of talk</vt:lpstr>
      <vt:lpstr>Sentiment Analysis</vt:lpstr>
      <vt:lpstr>Positive Tweets</vt:lpstr>
      <vt:lpstr>Negative Tweets</vt:lpstr>
      <vt:lpstr>Neutral Tweets</vt:lpstr>
      <vt:lpstr>Distribution of average tweet sentiment</vt:lpstr>
      <vt:lpstr>Tweet positivity – by gender (author FE)</vt:lpstr>
      <vt:lpstr>Tweet negativity – by gender (author FE)</vt:lpstr>
      <vt:lpstr>Outline of talk</vt:lpstr>
      <vt:lpstr>Reddit data collection</vt:lpstr>
      <vt:lpstr>Gender Distributions</vt:lpstr>
      <vt:lpstr>Top Birth Subreddits</vt:lpstr>
      <vt:lpstr>Birth Dates Distribution</vt:lpstr>
      <vt:lpstr>Days from Birth Distribution</vt:lpstr>
      <vt:lpstr>Distribution of Reddit Posts</vt:lpstr>
      <vt:lpstr>Distribution of Reddit Posts – pre/post birth</vt:lpstr>
      <vt:lpstr>Log posting frequency</vt:lpstr>
      <vt:lpstr>Log posting frequency – by gender</vt:lpstr>
      <vt:lpstr>Conclusion</vt:lpstr>
      <vt:lpstr>PowerPoint Presentation</vt:lpstr>
      <vt:lpstr>PowerPoint Presentation</vt:lpstr>
      <vt:lpstr>PowerPoint Presentation</vt:lpstr>
      <vt:lpstr>Do People Know Who’s Happy?</vt:lpstr>
      <vt:lpstr>Ground Truth</vt:lpstr>
      <vt:lpstr>Ground truth - Groups</vt:lpstr>
      <vt:lpstr>Prediction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lpstr>Happiness - Appendix</vt:lpstr>
      <vt:lpstr>Betas plot</vt:lpstr>
      <vt:lpstr>PowerPoint Presentation</vt:lpstr>
      <vt:lpstr>PowerPoint Presentation</vt:lpstr>
      <vt:lpstr>PowerPoint Presentation</vt:lpstr>
      <vt:lpstr>Happy vs unhappy predictions</vt:lpstr>
      <vt:lpstr>PowerPoint Presentation</vt:lpstr>
      <vt:lpstr>PowerPoint Presentation</vt:lpstr>
      <vt:lpstr>PowerPoint Presentation</vt:lpstr>
      <vt:lpstr>PowerPoint Presentation</vt:lpstr>
      <vt:lpstr>PowerPoint Presentation</vt:lpstr>
      <vt:lpstr>PowerPoint Presentation</vt:lpstr>
      <vt:lpstr>Respondent vs GSS Average Happiness</vt:lpstr>
      <vt:lpstr>PowerPoint Presentation</vt:lpstr>
      <vt:lpstr>PowerPoint Presentation</vt:lpstr>
      <vt:lpstr>PowerPoint Presentation</vt:lpstr>
      <vt:lpstr>Survey descriptives &amp; Respondent Demographics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Online Regulation</vt:lpstr>
      <vt:lpstr>Regulation of Adult Websites</vt:lpstr>
      <vt:lpstr>PowerPoint Presentation</vt:lpstr>
      <vt:lpstr>Research Question</vt:lpstr>
      <vt:lpstr>Data</vt:lpstr>
      <vt:lpstr>Time spent in the pre-treatment period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of Results</vt:lpstr>
      <vt:lpstr>Conclusion</vt:lpstr>
      <vt:lpstr>Thank You!</vt:lpstr>
    </vt:vector>
  </TitlesOfParts>
  <Company>Department of Economics, University of California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16107718</dc:creator>
  <cp:lastModifiedBy>Hannah Lybbert</cp:lastModifiedBy>
  <cp:revision>640</cp:revision>
  <dcterms:created xsi:type="dcterms:W3CDTF">2006-12-04T23:15:17Z</dcterms:created>
  <dcterms:modified xsi:type="dcterms:W3CDTF">2026-09-16T18:36:19Z</dcterms:modified>
</cp:coreProperties>
</file>